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8B3ED9-834F-40C6-A834-140838E874C4}" type="datetimeFigureOut">
              <a:rPr lang="en-US" smtClean="0"/>
              <a:t>10/24/2026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D2870D-6746-43DF-B3B2-498BD60A0CB4}" type="slidenum">
              <a:rPr lang="en-US" smtClean="0"/>
              <a:t>‹#›</a:t>
            </a:fld>
            <a:endParaRPr lang="en-US"/>
          </a:p>
        </p:txBody>
      </p:sp>
    </p:spTree>
    <p:extLst>
      <p:ext uri="{BB962C8B-B14F-4D97-AF65-F5344CB8AC3E}">
        <p14:creationId xmlns:p14="http://schemas.microsoft.com/office/powerpoint/2010/main" val="730513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MCPA / SiteTrace as the existing construction equipment accountability and inventory application reviewed in this repository. The audience includes management, system evaluators, administrators and field personnel. The central operational question is which equipment exists, where it is assigned, who holds it and which recorded action moved it.</a:t>
            </a:r>
          </a:p>
          <a:p>
            <a:endParaRPr lang="en-US"/>
          </a:p>
          <a:p>
            <a:r>
              <a:rPr lang="en-US"/>
              <a:t>The implemented architecture is a plain HTML, CSS and JavaScript frontend with Supabase Auth, PostgreSQL functions, row-level policies and optional private Storage. Both portals use shared movement code. This presentation draws on source inspection, fresh isolated database tests and genuine running-application captures. It does not certify a live production installation. All application values and names shown later come from disposable local test records, with Auth and Storage transport modeled by the repository harness. External HTTPS was blocked. No production account, inventory or transaction was used.</a:t>
            </a:r>
          </a:p>
          <a:p>
            <a:endParaRPr lang="en-US"/>
          </a:p>
          <a:p>
            <a:r>
              <a:rPr lang="en-US"/>
              <a:t>Use the four editable labels at the bottom to frame the system. Spend the greatest attention on Movement. The top-right MCPA mark is the actual repository favicon (images/favicon.svg), rasterized unchanged for PowerPoint compatibility. The system title is editable text; no invented logo or construction photograph is used.</a:t>
            </a:r>
          </a:p>
          <a:p>
            <a:endParaRPr lang="en-US"/>
          </a:p>
          <a:p>
            <a:r>
              <a:rPr lang="en-US"/>
              <a:t>Evidence: index.html; 1-admin/index.html; 2-engr/index.html; js/auth.js; js/movement-cloud.js; supabase/migrations/202610040001_authenticated_access.sql. PRODUCT.md and the old movement README contain historical prototype statements, so current executable code takes priority.</a:t>
            </a:r>
          </a:p>
        </p:txBody>
      </p:sp>
      <p:sp>
        <p:nvSpPr>
          <p:cNvPr id="4" name="Slide Number Placeholder 3"/>
          <p:cNvSpPr>
            <a:spLocks noGrp="1"/>
          </p:cNvSpPr>
          <p:nvPr>
            <p:ph type="sldNum" sz="quarter" idx="5"/>
          </p:nvPr>
        </p:nvSpPr>
        <p:spPr/>
        <p:txBody>
          <a:bodyPr/>
          <a:lstStyle/>
          <a:p>
            <a:fld id="{4ED2870D-6746-43DF-B3B2-498BD60A0CB4}" type="slidenum">
              <a:rPr lang="en-US" smtClean="0"/>
              <a:t>1</a:t>
            </a:fld>
            <a:endParaRPr lang="en-US"/>
          </a:p>
        </p:txBody>
      </p:sp>
    </p:spTree>
    <p:extLst>
      <p:ext uri="{BB962C8B-B14F-4D97-AF65-F5344CB8AC3E}">
        <p14:creationId xmlns:p14="http://schemas.microsoft.com/office/powerpoint/2010/main" val="2533829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Describe these as common operational questions in construction, rather than claiming an observed failure at a specific company. Walk across each row from a question to an implemented capability and then its practical use. The application maintains shared equipment records, profile/project references, movement records and consumable balances. The benefits are supported ways of working, not quantified outcomes.</a:t>
            </a:r>
          </a:p>
          <a:p>
            <a:endParaRPr lang="en-US"/>
          </a:p>
          <a:p>
            <a:r>
              <a:rPr lang="en-US"/>
              <a:t>For custody, emphasize that a pending handover is different from confirmed receipt. The named Engineer or Architect must record an inspection and physical-test confirmation. The same stored movement records feed the equipment detail and activity views. Project links provide recorded deployment visibility; they do not supply GPS or automatically establish physical location. Consumable thresholds produce low-stock labels from the saved balance and minimum.</a:t>
            </a:r>
          </a:p>
          <a:p>
            <a:endParaRPr lang="en-US"/>
          </a:p>
          <a:p>
            <a:r>
              <a:rPr lang="en-US"/>
              <a:t>The capability mapping is backed by the current frontend, movement SQL, project modules and consumable modules, with local execution evidence. Do not infer financial savings, productivity gains, reduced losses or complete coverage of historical records. No before/after business measurements were available.</a:t>
            </a:r>
          </a:p>
          <a:p>
            <a:endParaRPr lang="en-US"/>
          </a:p>
          <a:p>
            <a:r>
              <a:rPr lang="en-US"/>
              <a:t>Presenter action: trace the unclear-responsibility row, then preview the custody-change point on Slide 5. Evidence: js/movement-ui.js; js/movement-overview.js; 1-admin/modules/movements/setup.sql; 1-admin/modules/sites/sites.js; 1-admin/modules/consumables/consumables.js; evidence/demonstration-transaction.json.</a:t>
            </a:r>
          </a:p>
        </p:txBody>
      </p:sp>
      <p:sp>
        <p:nvSpPr>
          <p:cNvPr id="4" name="Slide Number Placeholder 3"/>
          <p:cNvSpPr>
            <a:spLocks noGrp="1"/>
          </p:cNvSpPr>
          <p:nvPr>
            <p:ph type="sldNum" sz="quarter" idx="5"/>
          </p:nvPr>
        </p:nvSpPr>
        <p:spPr/>
        <p:txBody>
          <a:bodyPr/>
          <a:lstStyle/>
          <a:p>
            <a:fld id="{4ED2870D-6746-43DF-B3B2-498BD60A0CB4}" type="slidenum">
              <a:rPr lang="en-US" smtClean="0"/>
              <a:t>2</a:t>
            </a:fld>
            <a:endParaRPr lang="en-US"/>
          </a:p>
        </p:txBody>
      </p:sp>
    </p:spTree>
    <p:extLst>
      <p:ext uri="{BB962C8B-B14F-4D97-AF65-F5344CB8AC3E}">
        <p14:creationId xmlns:p14="http://schemas.microsoft.com/office/powerpoint/2010/main" val="362243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the actual Admin Movement overview on the left. Its saved-record summaries include total equipment quantity, available equipment, deployed equipment, active projects and low-stock consumables. Review queues include tool requests, transfers in progress, repair cases and missing cases. The charts shown are genuine application components using synthetic fixture values. They are not production metrics or invented presentation graphics.</a:t>
            </a:r>
          </a:p>
          <a:p>
            <a:endParaRPr lang="en-US"/>
          </a:p>
          <a:p>
            <a:r>
              <a:rPr lang="en-US"/>
              <a:t>Explain the five roles exactly as found in permissions.js and the authenticated migrations: Admin, Engineer, Architect, Secretary and Tool Handler. Engineer and Architect share operational permissions, but remain separate roles. Admin reviews and releases requests and resolves repairs/recovery. Field users request equipment for assigned active projects and receive only a handover naming their stable profile ID. The Tool Handler monitors company equipment and can dispatch eligible unheld stock; the current holder must transfer equipment already in custody. Secretary navigation is limited to consumables, purchases and settings.</a:t>
            </a:r>
          </a:p>
          <a:p>
            <a:endParaRPr lang="en-US"/>
          </a:p>
          <a:p>
            <a:r>
              <a:rPr lang="en-US"/>
              <a:t>UI route checks mirror the database; they are not the only access control. Current SQL resolves the actor from the authenticated profile and tests cover unauthorized actions and row scope. Older prototype documentation is superseded for this description. These protections were verified locally with modeled Auth transport; deployed Auth configuration and all live policy fingerprints were not inspected.</a:t>
            </a:r>
          </a:p>
          <a:p>
            <a:endParaRPr lang="en-US"/>
          </a:p>
          <a:p>
            <a:r>
              <a:rPr lang="en-US"/>
              <a:t>Presenter action: point to summary cards, project allocation and review queues, then compare the four role groups on the right. Screenshot: evidence/dashboard.png, cropped without altering content. Evidence: js/permissions.js; js/auth.js; 202610040001_authenticated_access.sql; 202610100001_engineer_portal.sql; tests/auth-database.test.cjs.</a:t>
            </a:r>
          </a:p>
        </p:txBody>
      </p:sp>
      <p:sp>
        <p:nvSpPr>
          <p:cNvPr id="4" name="Slide Number Placeholder 3"/>
          <p:cNvSpPr>
            <a:spLocks noGrp="1"/>
          </p:cNvSpPr>
          <p:nvPr>
            <p:ph type="sldNum" sz="quarter" idx="5"/>
          </p:nvPr>
        </p:nvSpPr>
        <p:spPr/>
        <p:txBody>
          <a:bodyPr/>
          <a:lstStyle/>
          <a:p>
            <a:fld id="{4ED2870D-6746-43DF-B3B2-498BD60A0CB4}" type="slidenum">
              <a:rPr lang="en-US" smtClean="0"/>
              <a:t>3</a:t>
            </a:fld>
            <a:endParaRPr lang="en-US"/>
          </a:p>
        </p:txBody>
      </p:sp>
    </p:spTree>
    <p:extLst>
      <p:ext uri="{BB962C8B-B14F-4D97-AF65-F5344CB8AC3E}">
        <p14:creationId xmlns:p14="http://schemas.microsoft.com/office/powerpoint/2010/main" val="2355075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left screenshot is the Admin Equipment Tracking register. It includes asset identity, quantity, project, holder, recorded status and new-request availability. The right screenshot is the top of the same demonstration equipment's detail after a completed local receipt. Point to DEMO-EQ-001, Demo Engineer and Demonstration Project A. These values were written by the tested receipt, not manually painted onto a screen.</a:t>
            </a:r>
          </a:p>
          <a:p>
            <a:endParaRPr lang="en-US"/>
          </a:p>
          <a:p>
            <a:r>
              <a:rPr lang="en-US"/>
              <a:t>Registration supports identifiers and descriptive fields including category, brand, model, serial number, tracking type, unit, quantity and recorded condition. The equipment page has add/edit behavior, and local tests cover the configured Office default for new records. Office configuration must be installed and verified in the target environment.</a:t>
            </a:r>
          </a:p>
          <a:p>
            <a:endParaRPr lang="en-US"/>
          </a:p>
          <a:p>
            <a:r>
              <a:rPr lang="en-US"/>
              <a:t>Separate three concepts: registration condition metadata, operational status and request eligibility. Movement receipts save per-item inspection outcomes and update operational status/custody. The movement routine does not prove that the free-text equipment.condition field is continuously synchronized with every inspection. Do not call it a live condition sensor or automatically maintained physical condition. Project/site is a recorded database association; it is not GPS.</a:t>
            </a:r>
          </a:p>
          <a:p>
            <a:endParaRPr lang="en-US"/>
          </a:p>
          <a:p>
            <a:r>
              <a:rPr lang="en-US"/>
              <a:t>Reservations and in-use status can prevent a new request even if a viewer sees the item in an inventory list. The current holder must transfer or return a held asset. Movement history is retained under the authorized detail view; the full after-receipt history appears on Slide 9.</a:t>
            </a:r>
          </a:p>
          <a:p>
            <a:endParaRPr lang="en-US"/>
          </a:p>
          <a:p>
            <a:r>
              <a:rPr lang="en-US"/>
              <a:t>Two fresh legacy availability-installation tests failed because the migration guard rejected the legacy-scoped-reader and v1-metadata lifecycle fingerprints. Other modern request/custody cases and the displayed transaction passed. Legacy installation compatibility therefore remains unresolved; do not claim every upgrade path works.</a:t>
            </a:r>
          </a:p>
          <a:p>
            <a:endParaRPr lang="en-US"/>
          </a:p>
          <a:p>
            <a:r>
              <a:rPr lang="en-US"/>
              <a:t>Presenter action: point first to asset identity, then current holder/project, then availability. Evidence: js/equipment-tracking.js; 1-admin/modules/masterlist/masterlist.js; js/movement-ui.js; 202610120004_equipment_office_default.sql; 202610150001_inventory_availability.sql; 202610200001_verified_request_inventory.sql; evidence/demonstration-transaction.json.</a:t>
            </a:r>
          </a:p>
        </p:txBody>
      </p:sp>
      <p:sp>
        <p:nvSpPr>
          <p:cNvPr id="4" name="Slide Number Placeholder 3"/>
          <p:cNvSpPr>
            <a:spLocks noGrp="1"/>
          </p:cNvSpPr>
          <p:nvPr>
            <p:ph type="sldNum" sz="quarter" idx="5"/>
          </p:nvPr>
        </p:nvSpPr>
        <p:spPr/>
        <p:txBody>
          <a:bodyPr/>
          <a:lstStyle/>
          <a:p>
            <a:fld id="{4ED2870D-6746-43DF-B3B2-498BD60A0CB4}" type="slidenum">
              <a:rPr lang="en-US" smtClean="0"/>
              <a:t>4</a:t>
            </a:fld>
            <a:endParaRPr lang="en-US"/>
          </a:p>
        </p:txBody>
      </p:sp>
    </p:spTree>
    <p:extLst>
      <p:ext uri="{BB962C8B-B14F-4D97-AF65-F5344CB8AC3E}">
        <p14:creationId xmlns:p14="http://schemas.microsoft.com/office/powerpoint/2010/main" val="1704386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primary workflow slide. Allow about three minutes. All stage boxes and connectors are editable PowerPoint shapes. They represent the implemented authenticated workflow, verified in disposable local PostgreSQL and through a running UI transaction. They are not proof that the same migrations are installed in production.</a:t>
            </a:r>
          </a:p>
          <a:p>
            <a:endParaRPr lang="en-US"/>
          </a:p>
          <a:p>
            <a:r>
              <a:rPr lang="en-US"/>
              <a:t>1. REQUEST — The signed-in Engineer or Architect selects one or more eligible whole equipment records and an active project assigned to that profile. Purpose is optional under migration 202610120003; a supplied purpose is bounded. Needed-until is optional and must be a valid nonpast Manila date when provided. Request creation saves the requester, named receiver profile ID, asset IDs, destination, purpose, due date and timestamps in a mcpa_movements request record, with linked asset/site references. The status is pending. No equipment custody is changed. Eligibility is checked server-side; a visible asset button alone does not prove it can be requested.</a:t>
            </a:r>
          </a:p>
          <a:p>
            <a:endParaRPr lang="en-US"/>
          </a:p>
          <a:p>
            <a:r>
              <a:rPr lang="en-US"/>
              <a:t>2. REVIEW — Only Admin can approve or reject. Approval requires a pending request and eligible unassigned stock. It changes request status to approved and inserts mcpa_movement_reservations, preventing competing allocations. It does not set current_holder_id or site_id. Rejection changes status to rejected and requires a recorded reason. The reviewed actor and timestamp are retained. A requester's own withdrawal/cancellation controls are separate branches supported by migration 202610100004; they are not additional approval stages.</a:t>
            </a:r>
          </a:p>
          <a:p>
            <a:endParaRPr lang="en-US"/>
          </a:p>
          <a:p>
            <a:r>
              <a:rPr lang="en-US"/>
              <a:t>3. RELEASE — Admin releases an approved request. The transaction checks the reservation and active receiving account. It creates a transfer record with status pending, a TRF reference/manual handover code, sender, named receiver, destination and a per-asset source snapshot of holder, site, recorded status and quantity. The request becomes released and links to that transfer. Reservation ownership moves to the transfer. Equipment remains in its prior recorded custody/location until receipt. No transport carrier, departure time or signature is invented. Notification creation, when its migration is installed, does not itself receive equipment.</a:t>
            </a:r>
          </a:p>
          <a:p>
            <a:endParaRPr lang="en-US"/>
          </a:p>
          <a:p>
            <a:r>
              <a:rPr lang="en-US"/>
              <a:t>4. INSPECT AND RECEIVE — Only the named active Engineer or Architect can confirm the transfer. A caller-supplied name or receiver ID cannot impersonate that person. The server rechecks the original holder, site, status and whole-record quantity to catch stale dispatches. Every asset requires an inspection. Nonmissing items require tested:true; accepted damage requires an explicit accepted disposition and notes. On success the transfer and linked request both become received, inspection evidence is retained and reservations are cleared. Good items set current_holder_id to the receiver, site_id to the destination and status to IN_USE. Accepted damaged items take the same receiver/destination, become REPAIR and open a linked repair case. A missing/lost item becomes MISSING, opens a missing case and retains the prior holder and last recorded site. A received transfer therefore does not imply that every included item physically arrived.</a:t>
            </a:r>
          </a:p>
          <a:p>
            <a:endParaRPr lang="en-US"/>
          </a:p>
          <a:p>
            <a:r>
              <a:rPr lang="en-US"/>
              <a:t>This tested receipt is the explicit custody-change point for accepted incoming equipment. The local scenario asserts custody is null after request, approval and release, then equals the receiver's stable profile ID only after good tested receipt. mcpa_movements, mcpa_movement_assets, mcpa_movement_sites, reservations and immutable mcpa_movement_operations capture the transaction and activity. Writes are atomic, and operation IDs protect retries. This supports recorded traceability; it is not a guarantee that every legacy or out-of-system action is audited.</a:t>
            </a:r>
          </a:p>
          <a:p>
            <a:endParaRPr lang="en-US"/>
          </a:p>
          <a:p>
            <a:r>
              <a:rPr lang="en-US"/>
              <a:t>5. TRANSFER OR RETURN — These are later alternatives, not mandatory sequential stages. A current Engineer/Architect holder can directly transfer in-use equipment, creating another pending transfer. The recipient must repeat the inspection/receipt step before custody changes. Tool Handler can dispatch available unheld stock but cannot take over another person's held tools. Admin has initial request release, not general field-transfer/receipt authority in current authenticated permissions. A field holder can instead submit an inspected return to the pinned company Office. The current Office wrapper clears personal custody for good returns (AVAILABLE) and physically returned damaged items (REPAIR). Missing items keep prior accountability. Return creates a return record immediately; there is no verified second Office receiving-approval stage. Do not draw one.</a:t>
            </a:r>
          </a:p>
          <a:p>
            <a:endParaRPr lang="en-US"/>
          </a:p>
          <a:p>
            <a:r>
              <a:rPr lang="en-US"/>
              <a:t>Damage refusal holds an eligible pending handover as refused without custody change. Only the named receiver may refuse with required evidence; sender/requester cancellation eligibility and sender reopening are state/ownership checked. Admin and Tool Handler do not gain those field interruption controls. Whole set/bulk records move together; partial equipment splitting is unsupported.</a:t>
            </a:r>
          </a:p>
          <a:p>
            <a:endParaRPr lang="en-US"/>
          </a:p>
          <a:p>
            <a:r>
              <a:rPr lang="en-US"/>
              <a:t>Evidence: 1-admin/modules/movements/setup.sql (base transaction engine); 202610040001_authenticated_access.sql (authenticated actor, role and tested receipt); 202610060002_recipient_identity.sql (stable IDs); 202610100004_movement_cancellation.sql; 202610120002_office_returns.sql; js/permissions.js; js/movement-ui.js; tests/request-turnover.database.test.cjs; tests/office-return.database.test.cjs; evidence/demonstration-transaction.json.</a:t>
            </a:r>
          </a:p>
        </p:txBody>
      </p:sp>
      <p:sp>
        <p:nvSpPr>
          <p:cNvPr id="4" name="Slide Number Placeholder 3"/>
          <p:cNvSpPr>
            <a:spLocks noGrp="1"/>
          </p:cNvSpPr>
          <p:nvPr>
            <p:ph type="sldNum" sz="quarter" idx="5"/>
          </p:nvPr>
        </p:nvSpPr>
        <p:spPr/>
        <p:txBody>
          <a:bodyPr/>
          <a:lstStyle/>
          <a:p>
            <a:fld id="{4ED2870D-6746-43DF-B3B2-498BD60A0CB4}" type="slidenum">
              <a:rPr lang="en-US" smtClean="0"/>
              <a:t>5</a:t>
            </a:fld>
            <a:endParaRPr lang="en-US"/>
          </a:p>
        </p:txBody>
      </p:sp>
    </p:spTree>
    <p:extLst>
      <p:ext uri="{BB962C8B-B14F-4D97-AF65-F5344CB8AC3E}">
        <p14:creationId xmlns:p14="http://schemas.microsoft.com/office/powerpoint/2010/main" val="1527730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the actual Demonstration Project A detail at left. It shows the accountable Engineer/Architect, equipment at the project, recorded inventory-check and last-movement information, and the equipment table. Project identity, location, assignments and archive state are managed by Admin. Engineer/Architect views are scoped to assigned projects; Tool Handler retains monitoring visibility. Editing project metadata does not move equipment or change custody.</a:t>
            </a:r>
          </a:p>
          <a:p>
            <a:endParaRPr lang="en-US"/>
          </a:p>
          <a:p>
            <a:r>
              <a:rPr lang="en-US"/>
              <a:t>The small lower-right capture is the real project editor's Construction Completion component. The current repository implements a six-area construction model: Structural, Mechanical, Electrical, Plumbing, Fire Safety and Architectural / Finishing Stage. Each configured area has completion, weight, applicability and notes. Applicable weights must total exactly 100%; an N/A area must have zero weight. The server computes round(sum(completion × weight / 100), 2). The fixture shown uses completions 100,40,60,0,0,0 and weights 30,15,15,10,10,20, producing 45%. This is a synthetic calculation example, not a real project percentage. Fresh database tests cover the formula, rounding, invalid configurations and per-project weights.</a:t>
            </a:r>
          </a:p>
          <a:p>
            <a:endParaRPr lang="en-US"/>
          </a:p>
          <a:p>
            <a:r>
              <a:rPr lang="en-US"/>
              <a:t>Project stage and current work area are distinct. Stage options are Planning/Designing, Permitting, Groundbreaking, Construction Phase and Turnover. Weighted completion does not automatically change stage. Legacy progress/phase values remain preserved and are not silently converted. Project History records future old/new values, actors when available, reasons, updates and linked corrections; it cannot reconstruct missing past history. There is no automatic schedule forecasting claim.</a:t>
            </a:r>
          </a:p>
          <a:p>
            <a:endParaRPr lang="en-US"/>
          </a:p>
          <a:p>
            <a:r>
              <a:rPr lang="en-US"/>
              <a:t>The October 23 construction upgrade is documented as prepared locally and not applied to production. Its local calculation is demonstrably working, so it is included with that explicit limitation. Presenter action: point from accountable profile to linked equipment, then explain the local weighted example briefly. Evidence: 1-admin/modules/sites/sites.js; 1-admin/modules/sites/README.md; 202610230002_project_construction.sql; tests/project-construction.test.cjs; evidence/project-editor.png.</a:t>
            </a:r>
          </a:p>
        </p:txBody>
      </p:sp>
      <p:sp>
        <p:nvSpPr>
          <p:cNvPr id="4" name="Slide Number Placeholder 3"/>
          <p:cNvSpPr>
            <a:spLocks noGrp="1"/>
          </p:cNvSpPr>
          <p:nvPr>
            <p:ph type="sldNum" sz="quarter" idx="5"/>
          </p:nvPr>
        </p:nvSpPr>
        <p:spPr/>
        <p:txBody>
          <a:bodyPr/>
          <a:lstStyle/>
          <a:p>
            <a:fld id="{4ED2870D-6746-43DF-B3B2-498BD60A0CB4}" type="slidenum">
              <a:rPr lang="en-US" smtClean="0"/>
              <a:t>6</a:t>
            </a:fld>
            <a:endParaRPr lang="en-US"/>
          </a:p>
        </p:txBody>
      </p:sp>
    </p:spTree>
    <p:extLst>
      <p:ext uri="{BB962C8B-B14F-4D97-AF65-F5344CB8AC3E}">
        <p14:creationId xmlns:p14="http://schemas.microsoft.com/office/powerpoint/2010/main" val="1035107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screenshot shows the actual consumables screen with three explicitly synthetic SKU records. Point to code/specification, current stock, minimum level and low-stock label. The red panel is a legitimate restocking alert, not a database error. The three on-screen records are local fixture values and must not be described as the organization's catalog size.</a:t>
            </a:r>
          </a:p>
          <a:p>
            <a:endParaRPr lang="en-US"/>
          </a:p>
          <a:p>
            <a:r>
              <a:rPr lang="en-US"/>
              <a:t>The current implementation supports categories, distinct SKU specifications, item codes, search, category/status filtering, stock quantities, threshold-derived status, opening balances, restock, usage and adjustments. Database RPCs validate quantities, version checks and operation IDs and preserve stock-movement history. Admin and Secretary manage this module. Purchase requests can be created and received partially or fully; confirmed receipt updates the balance and retains a movement record. Purchase-ledger entry alone does not increase stock. Archived SKUs retain historical references.</a:t>
            </a:r>
          </a:p>
          <a:p>
            <a:endParaRPr lang="en-US"/>
          </a:p>
          <a:p>
            <a:r>
              <a:rPr lang="en-US"/>
              <a:t>The code library and local seed tests contain 126 variants across 12 categories, but no current authoritative live application data was queried. Those provisional global figures are intentionally omitted from the slides. They can appear only after a stakeholder provides an authoritative current production catalog query and clarifies active versus archived counts. Do not treat a seed script or a passing seed test as proof of production totals.</a:t>
            </a:r>
          </a:p>
          <a:p>
            <a:endParaRPr lang="en-US"/>
          </a:p>
          <a:p>
            <a:r>
              <a:rPr lang="en-US"/>
              <a:t>Presenter action: compare an OK record with a low-stock record, then describe Update Stock and History as implemented actions supported by local SQL tests. They were not executed as a business demonstration in this presentation capture. Evidence: js/consumables-catalog.js; 1-admin/modules/consumables/consumables.js; 202610220000_consumable_categories.sql; 202610220001_consumables_skus.sql; 202610220002_consumables_archive.sql; tests/consumables-upgrade.test.cjs; tests/purchase-ledger.test.cjs.</a:t>
            </a:r>
          </a:p>
        </p:txBody>
      </p:sp>
      <p:sp>
        <p:nvSpPr>
          <p:cNvPr id="4" name="Slide Number Placeholder 3"/>
          <p:cNvSpPr>
            <a:spLocks noGrp="1"/>
          </p:cNvSpPr>
          <p:nvPr>
            <p:ph type="sldNum" sz="quarter" idx="5"/>
          </p:nvPr>
        </p:nvSpPr>
        <p:spPr/>
        <p:txBody>
          <a:bodyPr/>
          <a:lstStyle/>
          <a:p>
            <a:fld id="{4ED2870D-6746-43DF-B3B2-498BD60A0CB4}" type="slidenum">
              <a:rPr lang="en-US" smtClean="0"/>
              <a:t>7</a:t>
            </a:fld>
            <a:endParaRPr lang="en-US"/>
          </a:p>
        </p:txBody>
      </p:sp>
    </p:spTree>
    <p:extLst>
      <p:ext uri="{BB962C8B-B14F-4D97-AF65-F5344CB8AC3E}">
        <p14:creationId xmlns:p14="http://schemas.microsoft.com/office/powerpoint/2010/main" val="1402884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three real UI captures: purchasing ledger at upper left, current inventory report below it, and recorded movement activity at upper right. All data is synthetic. The activity log includes the locally executed createRequest, approveRequest, releaseRequest and receiveTransfer events. It supports inspection of linked records rather than proving universal coverage of every application action.</a:t>
            </a:r>
          </a:p>
          <a:p>
            <a:endParaRPr lang="en-US"/>
          </a:p>
          <a:p>
            <a:r>
              <a:rPr lang="en-US"/>
              <a:t>Purchases are available to Admin and Secretary. Records include supplier/reference/date, line items, server-calculated totals, optional linked material request and private receipt reference. History preserves before/after records and actor data; optimistic versions and retry IDs prevent silent stale overwrites and duplicate retries. Private receipt upload/read policies and signed URLs are implemented and locally tested with modeled Storage. No actual external Storage upload, email or live file-access test was performed here. The displayed synthetic purchase has no attached receipt, so do not imply that this screenshot demonstrates an attachment opening.</a:t>
            </a:r>
          </a:p>
          <a:p>
            <a:endParaRPr lang="en-US"/>
          </a:p>
          <a:p>
            <a:r>
              <a:rPr lang="en-US"/>
              <a:t>Reports include current inventory, dated movement activity and captured inventory snapshots, with export support. The captured screen is Current inventory. A historical snapshot is a saved observation at its actual capture time, not a reconstructed past inventory. A backend scheduler for regular captures/reminders is not deployed by this repository task. The deck therefore makes no claim that automated historical collection or email/push reminders are operational. CSV and PDF capabilities have source/local test evidence; the screenshots were not used to claim every export path was executed in this session.</a:t>
            </a:r>
          </a:p>
          <a:p>
            <a:endParaRPr lang="en-US"/>
          </a:p>
          <a:p>
            <a:r>
              <a:rPr lang="en-US"/>
              <a:t>Access is enforced in current SQL through authenticated profile identity, role checks, scoped reads and row-level policies. These controls were tested locally. They do not by themselves certify production security. Managed equipment photos, purchasing history and recorded movement operations have specific enforcement; unrelated metadata edits and all legacy history are not assumed to share complete audit coverage.</a:t>
            </a:r>
          </a:p>
          <a:p>
            <a:endParaRPr lang="en-US"/>
          </a:p>
          <a:p>
            <a:r>
              <a:rPr lang="en-US"/>
              <a:t>Presenter action: connect the movement reference to the actor/time evidence. Explain what is retained and the limits of the claim. Evidence: 1-admin/modules/purchases/purchases.js; 1-admin/modules/reports/reports.js; js/movement-ui.js; 202610100005_purchase_ledger.sql; 202610100006_monitoring.sql; 202610230001_purchase_receipts_compatibility.sql; tests/purchase-ledger.test.cjs; tests/purchase-receipts-compatibility.test.cjs; tests/monitoring-database.test.cjs; tests/pdf-reports.test.cjs.</a:t>
            </a:r>
          </a:p>
        </p:txBody>
      </p:sp>
      <p:sp>
        <p:nvSpPr>
          <p:cNvPr id="4" name="Slide Number Placeholder 3"/>
          <p:cNvSpPr>
            <a:spLocks noGrp="1"/>
          </p:cNvSpPr>
          <p:nvPr>
            <p:ph type="sldNum" sz="quarter" idx="5"/>
          </p:nvPr>
        </p:nvSpPr>
        <p:spPr/>
        <p:txBody>
          <a:bodyPr/>
          <a:lstStyle/>
          <a:p>
            <a:fld id="{4ED2870D-6746-43DF-B3B2-498BD60A0CB4}" type="slidenum">
              <a:rPr lang="en-US" smtClean="0"/>
              <a:t>8</a:t>
            </a:fld>
            <a:endParaRPr lang="en-US"/>
          </a:p>
        </p:txBody>
      </p:sp>
    </p:spTree>
    <p:extLst>
      <p:ext uri="{BB962C8B-B14F-4D97-AF65-F5344CB8AC3E}">
        <p14:creationId xmlns:p14="http://schemas.microsoft.com/office/powerpoint/2010/main" val="30658623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Narrate this as an executed local demonstration, not an illustrative transaction or a production record. The presentation capture runner served the unmodified repository UI with disposable PGlite SQL and modeled Auth/Storage transport, while external HTTPS was blocked. The runner used actual application controls to submit, approve, release, inspect and confirm receipt. It queried the local SQL snapshot between stages and asserted request/transfer statuses and stable custody IDs. Evidence is saved in demonstration-transaction.json and capture.log. The local record uses REQ-00001 and TRF-00002; these IDs belong only to the disposable fixture and must not be confused with any protected live record bearing the same label.</a:t>
            </a:r>
          </a:p>
          <a:p>
            <a:endParaRPr lang="en-US"/>
          </a:p>
          <a:p>
            <a:r>
              <a:rPr lang="en-US"/>
              <a:t>BEFORE — Training concrete vibrator, asset DEMO-EQ-001, is AVAILABLE at the configured local Main Office with no holder. Demo Engineer has an active Engineer profile assigned to Demonstration Project A. On Request tools the user selects the eligible asset and that assigned project and enters the demonstration purpose. Submission creates a pending request. Point to the left screenshot, which is the actual Admin review of this same pending request. The saved receiver is Demo Engineer. Admin can approve or reject; the demonstration approves. The request becomes approved, a reservation is created, and current_holder_id remains null.</a:t>
            </a:r>
          </a:p>
          <a:p>
            <a:endParaRPr lang="en-US"/>
          </a:p>
          <a:p>
            <a:r>
              <a:rPr lang="en-US"/>
              <a:t>ACTION — Admin chooses Release tools &amp; create transfer. The request becomes released and transfer TRF-00002 becomes pending. Its source snapshot retains the prior Office/null-holder/AVAILABLE state. A manual code identifies the handover. The capture runner asserts that release still has not assigned custody. Demo Engineer signs in, opens Receive Transfer, enters the transfer code and inspects the equipment. Point to the center capture: the actual lower receipt form shows Good, the physical-test confirmation and the receipt action. The good condition and tested:true are submitted through the UI. Do not say a barcode scan, a physical signature or transport event was demonstrated.</a:t>
            </a:r>
          </a:p>
          <a:p>
            <a:endParaRPr lang="en-US"/>
          </a:p>
          <a:p>
            <a:r>
              <a:rPr lang="en-US"/>
              <a:t>AFTER — Both the request and transfer become received. DEMO-EQ-001 now has current_holder_id equal to Demo Engineer's stable profile ID, site_id equal to Demonstration Project A and recorded database status IN_USE. Its reservation is removed. Point to the right capture: the same equipment detail now shows the named holder/project and the recorded sequence receiveTransfer, releaseRequest, approveRequest and createRequest, with actors, timestamps and references. These are saved application records, not presentation annotations pretending to be a transaction. The detailed screenshot remains embedded at full source resolution and is also supplied separately for zooming.</a:t>
            </a:r>
          </a:p>
          <a:p>
            <a:endParaRPr lang="en-US"/>
          </a:p>
          <a:p>
            <a:r>
              <a:rPr lang="en-US"/>
              <a:t>The return form was captured later but not submitted in this demonstration, so do not claim this same asset was returned. Separate passing database tests establish Office return, damage, missing-item, rollback, unauthorized-recipient and retry behavior. Accepted damage would create repair accountability; a lost item would retain its prior holder/site. Those are verified alternative paths, not outcomes of the displayed good receipt.</a:t>
            </a:r>
          </a:p>
          <a:p>
            <a:endParaRPr lang="en-US"/>
          </a:p>
          <a:p>
            <a:r>
              <a:rPr lang="en-US"/>
              <a:t>Presenter actions: compare the unassigned pre-release state in the transaction evidence with the named holder at right; pause on the required physical-test checkbox; finish by following the linked history references. This explains how movement controls add accountability beyond basic record editing. The broader existing --flows-only browser suite failed a later synchronization watcher-count assertion (workspace-ui-checks.cjs:214, 1 versus expected 2); it must not be described as a complete browser regression pass. The dedicated capture/transaction sequence completed with no uncaught browser errors.</a:t>
            </a:r>
          </a:p>
        </p:txBody>
      </p:sp>
      <p:sp>
        <p:nvSpPr>
          <p:cNvPr id="4" name="Slide Number Placeholder 3"/>
          <p:cNvSpPr>
            <a:spLocks noGrp="1"/>
          </p:cNvSpPr>
          <p:nvPr>
            <p:ph type="sldNum" sz="quarter" idx="5"/>
          </p:nvPr>
        </p:nvSpPr>
        <p:spPr/>
        <p:txBody>
          <a:bodyPr/>
          <a:lstStyle/>
          <a:p>
            <a:fld id="{4ED2870D-6746-43DF-B3B2-498BD60A0CB4}" type="slidenum">
              <a:rPr lang="en-US" smtClean="0"/>
              <a:t>9</a:t>
            </a:fld>
            <a:endParaRPr lang="en-US"/>
          </a:p>
        </p:txBody>
      </p:sp>
    </p:spTree>
    <p:extLst>
      <p:ext uri="{BB962C8B-B14F-4D97-AF65-F5344CB8AC3E}">
        <p14:creationId xmlns:p14="http://schemas.microsoft.com/office/powerpoint/2010/main" val="2799982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on the five supported capabilities. Equipment identity and descriptive records are centralized. Named holders and projects expose recorded responsibility. Requests, reservations, releases, tested receipts, onward transfers and Office returns provide a reviewable sequence when users perform them through the implemented workflow. Consumable stock has distinct SKU identities, thresholds and movement history. These are capabilities verified in source and local execution, not claims of measured cost savings or complete real-world asset coverage.</a:t>
            </a:r>
          </a:p>
          <a:p>
            <a:endParaRPr lang="en-US"/>
          </a:p>
          <a:p>
            <a:r>
              <a:rPr lang="en-US"/>
              <a:t>Repeat the most important operational boundary: approval and release do not themselves transfer custody. The named receiver's successful tested inspection changes accountability for accepted equipment. Missing-item and damage exceptions retain evidence and route into follow-up cases. Project metadata changes do not bypass the movement process.</a:t>
            </a:r>
          </a:p>
          <a:p>
            <a:endParaRPr lang="en-US"/>
          </a:p>
          <a:p>
            <a:r>
              <a:rPr lang="en-US"/>
              <a:t>Read the closing statement as a system vision. It is not a certification that every asset is registered, every historic movement has been backfilled or every edit is audited. Production migration/configuration, real Auth/Storage behavior and the remaining browser synchronization check need final review. The October 23 construction tracking upgrade is locally validated but not established in production. Live consumable counts remain unconfirmed. No screenshot placeholders are needed because genuine local application captures were available.</a:t>
            </a:r>
          </a:p>
          <a:p>
            <a:endParaRPr lang="en-US"/>
          </a:p>
          <a:p>
            <a:r>
              <a:rPr lang="en-US"/>
              <a:t>Presenter action: finish by returning to the four-stage workflow and the demonstration history if asked for evidence. Use SITETRACE_FEATURE_VERIFICATION.md for per-feature sources and limitations and SITETRACE_PRESENTATION_CHECKLIST.md for stakeholder review. Do not promise GPS, predictive analytics, automated logistics, email/push delivery, financial improvement or blanket database security; none is established by this presentation.</a:t>
            </a:r>
          </a:p>
        </p:txBody>
      </p:sp>
      <p:sp>
        <p:nvSpPr>
          <p:cNvPr id="4" name="Slide Number Placeholder 3"/>
          <p:cNvSpPr>
            <a:spLocks noGrp="1"/>
          </p:cNvSpPr>
          <p:nvPr>
            <p:ph type="sldNum" sz="quarter" idx="5"/>
          </p:nvPr>
        </p:nvSpPr>
        <p:spPr/>
        <p:txBody>
          <a:bodyPr/>
          <a:lstStyle/>
          <a:p>
            <a:fld id="{4ED2870D-6746-43DF-B3B2-498BD60A0CB4}" type="slidenum">
              <a:rPr lang="en-US" smtClean="0"/>
              <a:t>10</a:t>
            </a:fld>
            <a:endParaRPr lang="en-US"/>
          </a:p>
        </p:txBody>
      </p:sp>
    </p:spTree>
    <p:extLst>
      <p:ext uri="{BB962C8B-B14F-4D97-AF65-F5344CB8AC3E}">
        <p14:creationId xmlns:p14="http://schemas.microsoft.com/office/powerpoint/2010/main" val="1998878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D4D63-BD36-781C-6166-3E3E44068A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CE692B-F6DA-7F83-210A-C349294CBC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48C9CF-CFB7-6408-80AA-42300D8C2C7A}"/>
              </a:ext>
            </a:extLst>
          </p:cNvPr>
          <p:cNvSpPr>
            <a:spLocks noGrp="1"/>
          </p:cNvSpPr>
          <p:nvPr>
            <p:ph type="dt" sz="half" idx="10"/>
          </p:nvPr>
        </p:nvSpPr>
        <p:spPr/>
        <p:txBody>
          <a:bodyPr/>
          <a:lstStyle/>
          <a:p>
            <a:fld id="{8C0C3D01-DB33-44E3-86FE-7D1CD8B1B316}" type="datetimeFigureOut">
              <a:rPr lang="en-US" smtClean="0"/>
              <a:t>10/24/2026</a:t>
            </a:fld>
            <a:endParaRPr lang="en-US"/>
          </a:p>
        </p:txBody>
      </p:sp>
      <p:sp>
        <p:nvSpPr>
          <p:cNvPr id="5" name="Footer Placeholder 4">
            <a:extLst>
              <a:ext uri="{FF2B5EF4-FFF2-40B4-BE49-F238E27FC236}">
                <a16:creationId xmlns:a16="http://schemas.microsoft.com/office/drawing/2014/main" id="{3277662E-F1B2-E6FD-8A38-7D8F469184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9613E1-FD94-1AE2-1EFB-58AB49BA7416}"/>
              </a:ext>
            </a:extLst>
          </p:cNvPr>
          <p:cNvSpPr>
            <a:spLocks noGrp="1"/>
          </p:cNvSpPr>
          <p:nvPr>
            <p:ph type="sldNum" sz="quarter" idx="12"/>
          </p:nvPr>
        </p:nvSpPr>
        <p:spPr/>
        <p:txBody>
          <a:bodyPr/>
          <a:lstStyle/>
          <a:p>
            <a:fld id="{8109A0BB-26DD-425A-9B46-0F93E1D36E2F}" type="slidenum">
              <a:rPr lang="en-US" smtClean="0"/>
              <a:t>‹#›</a:t>
            </a:fld>
            <a:endParaRPr lang="en-US"/>
          </a:p>
        </p:txBody>
      </p:sp>
    </p:spTree>
    <p:extLst>
      <p:ext uri="{BB962C8B-B14F-4D97-AF65-F5344CB8AC3E}">
        <p14:creationId xmlns:p14="http://schemas.microsoft.com/office/powerpoint/2010/main" val="2102893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29BB7-EF52-0A4A-5699-82CCD564AA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61BEEB-61E5-6D62-97C2-1737E0F519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E82FCC-AF2B-8A53-F6D8-D0DA906EFDE1}"/>
              </a:ext>
            </a:extLst>
          </p:cNvPr>
          <p:cNvSpPr>
            <a:spLocks noGrp="1"/>
          </p:cNvSpPr>
          <p:nvPr>
            <p:ph type="dt" sz="half" idx="10"/>
          </p:nvPr>
        </p:nvSpPr>
        <p:spPr/>
        <p:txBody>
          <a:bodyPr/>
          <a:lstStyle/>
          <a:p>
            <a:fld id="{8C0C3D01-DB33-44E3-86FE-7D1CD8B1B316}" type="datetimeFigureOut">
              <a:rPr lang="en-US" smtClean="0"/>
              <a:t>10/24/2026</a:t>
            </a:fld>
            <a:endParaRPr lang="en-US"/>
          </a:p>
        </p:txBody>
      </p:sp>
      <p:sp>
        <p:nvSpPr>
          <p:cNvPr id="5" name="Footer Placeholder 4">
            <a:extLst>
              <a:ext uri="{FF2B5EF4-FFF2-40B4-BE49-F238E27FC236}">
                <a16:creationId xmlns:a16="http://schemas.microsoft.com/office/drawing/2014/main" id="{4B7614DF-B510-CE67-494B-010803F741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60F1CC-0865-8BC1-CC6C-135BC50DF67E}"/>
              </a:ext>
            </a:extLst>
          </p:cNvPr>
          <p:cNvSpPr>
            <a:spLocks noGrp="1"/>
          </p:cNvSpPr>
          <p:nvPr>
            <p:ph type="sldNum" sz="quarter" idx="12"/>
          </p:nvPr>
        </p:nvSpPr>
        <p:spPr/>
        <p:txBody>
          <a:bodyPr/>
          <a:lstStyle/>
          <a:p>
            <a:fld id="{8109A0BB-26DD-425A-9B46-0F93E1D36E2F}" type="slidenum">
              <a:rPr lang="en-US" smtClean="0"/>
              <a:t>‹#›</a:t>
            </a:fld>
            <a:endParaRPr lang="en-US"/>
          </a:p>
        </p:txBody>
      </p:sp>
    </p:spTree>
    <p:extLst>
      <p:ext uri="{BB962C8B-B14F-4D97-AF65-F5344CB8AC3E}">
        <p14:creationId xmlns:p14="http://schemas.microsoft.com/office/powerpoint/2010/main" val="747740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402D-4165-6102-96A3-C3CEF1692F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FFD170-CC4B-5446-94A6-015EA7A76D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1D6C5A-FF72-39C1-C658-A27699CDA132}"/>
              </a:ext>
            </a:extLst>
          </p:cNvPr>
          <p:cNvSpPr>
            <a:spLocks noGrp="1"/>
          </p:cNvSpPr>
          <p:nvPr>
            <p:ph type="dt" sz="half" idx="10"/>
          </p:nvPr>
        </p:nvSpPr>
        <p:spPr/>
        <p:txBody>
          <a:bodyPr/>
          <a:lstStyle/>
          <a:p>
            <a:fld id="{8C0C3D01-DB33-44E3-86FE-7D1CD8B1B316}" type="datetimeFigureOut">
              <a:rPr lang="en-US" smtClean="0"/>
              <a:t>10/24/2026</a:t>
            </a:fld>
            <a:endParaRPr lang="en-US"/>
          </a:p>
        </p:txBody>
      </p:sp>
      <p:sp>
        <p:nvSpPr>
          <p:cNvPr id="5" name="Footer Placeholder 4">
            <a:extLst>
              <a:ext uri="{FF2B5EF4-FFF2-40B4-BE49-F238E27FC236}">
                <a16:creationId xmlns:a16="http://schemas.microsoft.com/office/drawing/2014/main" id="{9BA09158-5AAF-FBC7-2EF9-92845C6D1B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3CEC5D-47C5-17D0-42AD-439A565BB15D}"/>
              </a:ext>
            </a:extLst>
          </p:cNvPr>
          <p:cNvSpPr>
            <a:spLocks noGrp="1"/>
          </p:cNvSpPr>
          <p:nvPr>
            <p:ph type="sldNum" sz="quarter" idx="12"/>
          </p:nvPr>
        </p:nvSpPr>
        <p:spPr/>
        <p:txBody>
          <a:bodyPr/>
          <a:lstStyle/>
          <a:p>
            <a:fld id="{8109A0BB-26DD-425A-9B46-0F93E1D36E2F}" type="slidenum">
              <a:rPr lang="en-US" smtClean="0"/>
              <a:t>‹#›</a:t>
            </a:fld>
            <a:endParaRPr lang="en-US"/>
          </a:p>
        </p:txBody>
      </p:sp>
    </p:spTree>
    <p:extLst>
      <p:ext uri="{BB962C8B-B14F-4D97-AF65-F5344CB8AC3E}">
        <p14:creationId xmlns:p14="http://schemas.microsoft.com/office/powerpoint/2010/main" val="2842894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FE9D1-C1CF-E36A-22C1-FC0F802ECC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06EB45-F795-B68B-785C-B5FCEE92CF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A81A9B-13F4-7DA5-C72E-C7F35E0F98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21DC9F-1A7B-DAC5-374B-F95EC13E065B}"/>
              </a:ext>
            </a:extLst>
          </p:cNvPr>
          <p:cNvSpPr>
            <a:spLocks noGrp="1"/>
          </p:cNvSpPr>
          <p:nvPr>
            <p:ph type="dt" sz="half" idx="10"/>
          </p:nvPr>
        </p:nvSpPr>
        <p:spPr/>
        <p:txBody>
          <a:bodyPr/>
          <a:lstStyle/>
          <a:p>
            <a:fld id="{8C0C3D01-DB33-44E3-86FE-7D1CD8B1B316}" type="datetimeFigureOut">
              <a:rPr lang="en-US" smtClean="0"/>
              <a:t>10/24/2026</a:t>
            </a:fld>
            <a:endParaRPr lang="en-US"/>
          </a:p>
        </p:txBody>
      </p:sp>
      <p:sp>
        <p:nvSpPr>
          <p:cNvPr id="6" name="Footer Placeholder 5">
            <a:extLst>
              <a:ext uri="{FF2B5EF4-FFF2-40B4-BE49-F238E27FC236}">
                <a16:creationId xmlns:a16="http://schemas.microsoft.com/office/drawing/2014/main" id="{A5F060A9-BB67-69EB-DF98-D75D8195F1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CACFCE-2863-6BF2-4747-3DA8C9545283}"/>
              </a:ext>
            </a:extLst>
          </p:cNvPr>
          <p:cNvSpPr>
            <a:spLocks noGrp="1"/>
          </p:cNvSpPr>
          <p:nvPr>
            <p:ph type="sldNum" sz="quarter" idx="12"/>
          </p:nvPr>
        </p:nvSpPr>
        <p:spPr/>
        <p:txBody>
          <a:bodyPr/>
          <a:lstStyle/>
          <a:p>
            <a:fld id="{8109A0BB-26DD-425A-9B46-0F93E1D36E2F}" type="slidenum">
              <a:rPr lang="en-US" smtClean="0"/>
              <a:t>‹#›</a:t>
            </a:fld>
            <a:endParaRPr lang="en-US"/>
          </a:p>
        </p:txBody>
      </p:sp>
    </p:spTree>
    <p:extLst>
      <p:ext uri="{BB962C8B-B14F-4D97-AF65-F5344CB8AC3E}">
        <p14:creationId xmlns:p14="http://schemas.microsoft.com/office/powerpoint/2010/main" val="2484862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01B1E-9B09-59A0-503D-27ED2C90EC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8FE54A-059F-916F-C517-86903B1DC7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6C13B4-7F8E-5486-D80A-E2ECD44B19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CFAD34-2F55-D385-18AE-58A22A9A0A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456C64-464D-C2BF-B563-ACE3DE5E00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0002C9-9F23-E193-29D6-4D56CEC7CD98}"/>
              </a:ext>
            </a:extLst>
          </p:cNvPr>
          <p:cNvSpPr>
            <a:spLocks noGrp="1"/>
          </p:cNvSpPr>
          <p:nvPr>
            <p:ph type="dt" sz="half" idx="10"/>
          </p:nvPr>
        </p:nvSpPr>
        <p:spPr/>
        <p:txBody>
          <a:bodyPr/>
          <a:lstStyle/>
          <a:p>
            <a:fld id="{8C0C3D01-DB33-44E3-86FE-7D1CD8B1B316}" type="datetimeFigureOut">
              <a:rPr lang="en-US" smtClean="0"/>
              <a:t>10/24/2026</a:t>
            </a:fld>
            <a:endParaRPr lang="en-US"/>
          </a:p>
        </p:txBody>
      </p:sp>
      <p:sp>
        <p:nvSpPr>
          <p:cNvPr id="8" name="Footer Placeholder 7">
            <a:extLst>
              <a:ext uri="{FF2B5EF4-FFF2-40B4-BE49-F238E27FC236}">
                <a16:creationId xmlns:a16="http://schemas.microsoft.com/office/drawing/2014/main" id="{14534255-90A0-44D8-40E0-64E444E20C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D6B8DA-E91D-8538-68B1-B5FE887F3F06}"/>
              </a:ext>
            </a:extLst>
          </p:cNvPr>
          <p:cNvSpPr>
            <a:spLocks noGrp="1"/>
          </p:cNvSpPr>
          <p:nvPr>
            <p:ph type="sldNum" sz="quarter" idx="12"/>
          </p:nvPr>
        </p:nvSpPr>
        <p:spPr/>
        <p:txBody>
          <a:bodyPr/>
          <a:lstStyle/>
          <a:p>
            <a:fld id="{8109A0BB-26DD-425A-9B46-0F93E1D36E2F}" type="slidenum">
              <a:rPr lang="en-US" smtClean="0"/>
              <a:t>‹#›</a:t>
            </a:fld>
            <a:endParaRPr lang="en-US"/>
          </a:p>
        </p:txBody>
      </p:sp>
    </p:spTree>
    <p:extLst>
      <p:ext uri="{BB962C8B-B14F-4D97-AF65-F5344CB8AC3E}">
        <p14:creationId xmlns:p14="http://schemas.microsoft.com/office/powerpoint/2010/main" val="1765820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261AF-D903-F24B-B29A-4481760390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C7D4BE-273B-1441-41F1-7CE031664513}"/>
              </a:ext>
            </a:extLst>
          </p:cNvPr>
          <p:cNvSpPr>
            <a:spLocks noGrp="1"/>
          </p:cNvSpPr>
          <p:nvPr>
            <p:ph type="dt" sz="half" idx="10"/>
          </p:nvPr>
        </p:nvSpPr>
        <p:spPr/>
        <p:txBody>
          <a:bodyPr/>
          <a:lstStyle/>
          <a:p>
            <a:fld id="{8C0C3D01-DB33-44E3-86FE-7D1CD8B1B316}" type="datetimeFigureOut">
              <a:rPr lang="en-US" smtClean="0"/>
              <a:t>10/24/2026</a:t>
            </a:fld>
            <a:endParaRPr lang="en-US"/>
          </a:p>
        </p:txBody>
      </p:sp>
      <p:sp>
        <p:nvSpPr>
          <p:cNvPr id="4" name="Footer Placeholder 3">
            <a:extLst>
              <a:ext uri="{FF2B5EF4-FFF2-40B4-BE49-F238E27FC236}">
                <a16:creationId xmlns:a16="http://schemas.microsoft.com/office/drawing/2014/main" id="{1ED4A7AC-A4C9-E053-95E7-580B0121DF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810C25-2CD3-49E3-F99E-5B9ABA8E145B}"/>
              </a:ext>
            </a:extLst>
          </p:cNvPr>
          <p:cNvSpPr>
            <a:spLocks noGrp="1"/>
          </p:cNvSpPr>
          <p:nvPr>
            <p:ph type="sldNum" sz="quarter" idx="12"/>
          </p:nvPr>
        </p:nvSpPr>
        <p:spPr/>
        <p:txBody>
          <a:bodyPr/>
          <a:lstStyle/>
          <a:p>
            <a:fld id="{8109A0BB-26DD-425A-9B46-0F93E1D36E2F}" type="slidenum">
              <a:rPr lang="en-US" smtClean="0"/>
              <a:t>‹#›</a:t>
            </a:fld>
            <a:endParaRPr lang="en-US"/>
          </a:p>
        </p:txBody>
      </p:sp>
    </p:spTree>
    <p:extLst>
      <p:ext uri="{BB962C8B-B14F-4D97-AF65-F5344CB8AC3E}">
        <p14:creationId xmlns:p14="http://schemas.microsoft.com/office/powerpoint/2010/main" val="919110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C0E011-6729-47C1-A426-FFD91710DB8D}"/>
              </a:ext>
            </a:extLst>
          </p:cNvPr>
          <p:cNvSpPr>
            <a:spLocks noGrp="1"/>
          </p:cNvSpPr>
          <p:nvPr>
            <p:ph type="dt" sz="half" idx="10"/>
          </p:nvPr>
        </p:nvSpPr>
        <p:spPr/>
        <p:txBody>
          <a:bodyPr/>
          <a:lstStyle/>
          <a:p>
            <a:fld id="{8C0C3D01-DB33-44E3-86FE-7D1CD8B1B316}" type="datetimeFigureOut">
              <a:rPr lang="en-US" smtClean="0"/>
              <a:t>10/24/2026</a:t>
            </a:fld>
            <a:endParaRPr lang="en-US"/>
          </a:p>
        </p:txBody>
      </p:sp>
      <p:sp>
        <p:nvSpPr>
          <p:cNvPr id="3" name="Footer Placeholder 2">
            <a:extLst>
              <a:ext uri="{FF2B5EF4-FFF2-40B4-BE49-F238E27FC236}">
                <a16:creationId xmlns:a16="http://schemas.microsoft.com/office/drawing/2014/main" id="{CAC64D40-FA72-3348-D610-61B9D45C26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BF4BFF-FD50-E357-CB0C-B4E778CE8207}"/>
              </a:ext>
            </a:extLst>
          </p:cNvPr>
          <p:cNvSpPr>
            <a:spLocks noGrp="1"/>
          </p:cNvSpPr>
          <p:nvPr>
            <p:ph type="sldNum" sz="quarter" idx="12"/>
          </p:nvPr>
        </p:nvSpPr>
        <p:spPr/>
        <p:txBody>
          <a:bodyPr/>
          <a:lstStyle/>
          <a:p>
            <a:fld id="{8109A0BB-26DD-425A-9B46-0F93E1D36E2F}" type="slidenum">
              <a:rPr lang="en-US" smtClean="0"/>
              <a:t>‹#›</a:t>
            </a:fld>
            <a:endParaRPr lang="en-US"/>
          </a:p>
        </p:txBody>
      </p:sp>
    </p:spTree>
    <p:extLst>
      <p:ext uri="{BB962C8B-B14F-4D97-AF65-F5344CB8AC3E}">
        <p14:creationId xmlns:p14="http://schemas.microsoft.com/office/powerpoint/2010/main" val="1459640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72FCF-59C5-338E-29C6-304C4D8AB8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DD2480-9406-C3AB-EE13-722EA0441D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D94A23-9FF6-1073-9739-2F9A448C0F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F2E420-5F65-D81B-0962-C2A34397C83D}"/>
              </a:ext>
            </a:extLst>
          </p:cNvPr>
          <p:cNvSpPr>
            <a:spLocks noGrp="1"/>
          </p:cNvSpPr>
          <p:nvPr>
            <p:ph type="dt" sz="half" idx="10"/>
          </p:nvPr>
        </p:nvSpPr>
        <p:spPr/>
        <p:txBody>
          <a:bodyPr/>
          <a:lstStyle/>
          <a:p>
            <a:fld id="{8C0C3D01-DB33-44E3-86FE-7D1CD8B1B316}" type="datetimeFigureOut">
              <a:rPr lang="en-US" smtClean="0"/>
              <a:t>10/24/2026</a:t>
            </a:fld>
            <a:endParaRPr lang="en-US"/>
          </a:p>
        </p:txBody>
      </p:sp>
      <p:sp>
        <p:nvSpPr>
          <p:cNvPr id="6" name="Footer Placeholder 5">
            <a:extLst>
              <a:ext uri="{FF2B5EF4-FFF2-40B4-BE49-F238E27FC236}">
                <a16:creationId xmlns:a16="http://schemas.microsoft.com/office/drawing/2014/main" id="{1B34C94E-5BF9-41EC-FF65-A42718867A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5E5EAC-B006-66A3-AF20-EB454ACF7F60}"/>
              </a:ext>
            </a:extLst>
          </p:cNvPr>
          <p:cNvSpPr>
            <a:spLocks noGrp="1"/>
          </p:cNvSpPr>
          <p:nvPr>
            <p:ph type="sldNum" sz="quarter" idx="12"/>
          </p:nvPr>
        </p:nvSpPr>
        <p:spPr/>
        <p:txBody>
          <a:bodyPr/>
          <a:lstStyle/>
          <a:p>
            <a:fld id="{8109A0BB-26DD-425A-9B46-0F93E1D36E2F}" type="slidenum">
              <a:rPr lang="en-US" smtClean="0"/>
              <a:t>‹#›</a:t>
            </a:fld>
            <a:endParaRPr lang="en-US"/>
          </a:p>
        </p:txBody>
      </p:sp>
    </p:spTree>
    <p:extLst>
      <p:ext uri="{BB962C8B-B14F-4D97-AF65-F5344CB8AC3E}">
        <p14:creationId xmlns:p14="http://schemas.microsoft.com/office/powerpoint/2010/main" val="1337518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88C1-10AF-55B7-E7BC-8463C0AE1B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C69C674-90A9-1065-E6A7-8F373F1455A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5853DF-4FA1-722F-7CBF-E98BF7677A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BD2ED5-83E9-9750-2080-260208912E3E}"/>
              </a:ext>
            </a:extLst>
          </p:cNvPr>
          <p:cNvSpPr>
            <a:spLocks noGrp="1"/>
          </p:cNvSpPr>
          <p:nvPr>
            <p:ph type="dt" sz="half" idx="10"/>
          </p:nvPr>
        </p:nvSpPr>
        <p:spPr/>
        <p:txBody>
          <a:bodyPr/>
          <a:lstStyle/>
          <a:p>
            <a:fld id="{8C0C3D01-DB33-44E3-86FE-7D1CD8B1B316}" type="datetimeFigureOut">
              <a:rPr lang="en-US" smtClean="0"/>
              <a:t>10/24/2026</a:t>
            </a:fld>
            <a:endParaRPr lang="en-US"/>
          </a:p>
        </p:txBody>
      </p:sp>
      <p:sp>
        <p:nvSpPr>
          <p:cNvPr id="6" name="Footer Placeholder 5">
            <a:extLst>
              <a:ext uri="{FF2B5EF4-FFF2-40B4-BE49-F238E27FC236}">
                <a16:creationId xmlns:a16="http://schemas.microsoft.com/office/drawing/2014/main" id="{FB3F763B-7012-1D9B-175E-4A846F963E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67B914-A375-391C-A66E-81A58C7607B3}"/>
              </a:ext>
            </a:extLst>
          </p:cNvPr>
          <p:cNvSpPr>
            <a:spLocks noGrp="1"/>
          </p:cNvSpPr>
          <p:nvPr>
            <p:ph type="sldNum" sz="quarter" idx="12"/>
          </p:nvPr>
        </p:nvSpPr>
        <p:spPr/>
        <p:txBody>
          <a:bodyPr/>
          <a:lstStyle/>
          <a:p>
            <a:fld id="{8109A0BB-26DD-425A-9B46-0F93E1D36E2F}" type="slidenum">
              <a:rPr lang="en-US" smtClean="0"/>
              <a:t>‹#›</a:t>
            </a:fld>
            <a:endParaRPr lang="en-US"/>
          </a:p>
        </p:txBody>
      </p:sp>
    </p:spTree>
    <p:extLst>
      <p:ext uri="{BB962C8B-B14F-4D97-AF65-F5344CB8AC3E}">
        <p14:creationId xmlns:p14="http://schemas.microsoft.com/office/powerpoint/2010/main" val="1661532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8CCF6-A49E-BB1E-A4D3-1E035831201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17C378-2508-07D8-E730-49BB222B04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08C9C7-40BE-2410-80D8-0403FBC50141}"/>
              </a:ext>
            </a:extLst>
          </p:cNvPr>
          <p:cNvSpPr>
            <a:spLocks noGrp="1"/>
          </p:cNvSpPr>
          <p:nvPr>
            <p:ph type="dt" sz="half" idx="10"/>
          </p:nvPr>
        </p:nvSpPr>
        <p:spPr/>
        <p:txBody>
          <a:bodyPr/>
          <a:lstStyle/>
          <a:p>
            <a:fld id="{8C0C3D01-DB33-44E3-86FE-7D1CD8B1B316}" type="datetimeFigureOut">
              <a:rPr lang="en-US" smtClean="0"/>
              <a:t>10/24/2026</a:t>
            </a:fld>
            <a:endParaRPr lang="en-US"/>
          </a:p>
        </p:txBody>
      </p:sp>
      <p:sp>
        <p:nvSpPr>
          <p:cNvPr id="5" name="Footer Placeholder 4">
            <a:extLst>
              <a:ext uri="{FF2B5EF4-FFF2-40B4-BE49-F238E27FC236}">
                <a16:creationId xmlns:a16="http://schemas.microsoft.com/office/drawing/2014/main" id="{E8E67ABF-0A82-2B2B-464C-87FD950D9F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BBBB0E-9D8C-B8A3-16EC-50D2A10C0AB2}"/>
              </a:ext>
            </a:extLst>
          </p:cNvPr>
          <p:cNvSpPr>
            <a:spLocks noGrp="1"/>
          </p:cNvSpPr>
          <p:nvPr>
            <p:ph type="sldNum" sz="quarter" idx="12"/>
          </p:nvPr>
        </p:nvSpPr>
        <p:spPr/>
        <p:txBody>
          <a:bodyPr/>
          <a:lstStyle/>
          <a:p>
            <a:fld id="{8109A0BB-26DD-425A-9B46-0F93E1D36E2F}" type="slidenum">
              <a:rPr lang="en-US" smtClean="0"/>
              <a:t>‹#›</a:t>
            </a:fld>
            <a:endParaRPr lang="en-US"/>
          </a:p>
        </p:txBody>
      </p:sp>
    </p:spTree>
    <p:extLst>
      <p:ext uri="{BB962C8B-B14F-4D97-AF65-F5344CB8AC3E}">
        <p14:creationId xmlns:p14="http://schemas.microsoft.com/office/powerpoint/2010/main" val="1011722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1A96C1-82C1-BF9A-D266-D3F2387B05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9D8D39C-7077-67C5-E8D4-B044AB052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4DCD2B-BEA8-1DC3-866F-E0F590DD4D30}"/>
              </a:ext>
            </a:extLst>
          </p:cNvPr>
          <p:cNvSpPr>
            <a:spLocks noGrp="1"/>
          </p:cNvSpPr>
          <p:nvPr>
            <p:ph type="dt" sz="half" idx="10"/>
          </p:nvPr>
        </p:nvSpPr>
        <p:spPr/>
        <p:txBody>
          <a:bodyPr/>
          <a:lstStyle/>
          <a:p>
            <a:fld id="{8C0C3D01-DB33-44E3-86FE-7D1CD8B1B316}" type="datetimeFigureOut">
              <a:rPr lang="en-US" smtClean="0"/>
              <a:t>10/24/2026</a:t>
            </a:fld>
            <a:endParaRPr lang="en-US"/>
          </a:p>
        </p:txBody>
      </p:sp>
      <p:sp>
        <p:nvSpPr>
          <p:cNvPr id="5" name="Footer Placeholder 4">
            <a:extLst>
              <a:ext uri="{FF2B5EF4-FFF2-40B4-BE49-F238E27FC236}">
                <a16:creationId xmlns:a16="http://schemas.microsoft.com/office/drawing/2014/main" id="{FE44C63C-A734-0B36-A54E-EC11FCDA56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52BE86-3E59-C79F-F9DF-D16783F14D79}"/>
              </a:ext>
            </a:extLst>
          </p:cNvPr>
          <p:cNvSpPr>
            <a:spLocks noGrp="1"/>
          </p:cNvSpPr>
          <p:nvPr>
            <p:ph type="sldNum" sz="quarter" idx="12"/>
          </p:nvPr>
        </p:nvSpPr>
        <p:spPr/>
        <p:txBody>
          <a:bodyPr/>
          <a:lstStyle/>
          <a:p>
            <a:fld id="{8109A0BB-26DD-425A-9B46-0F93E1D36E2F}" type="slidenum">
              <a:rPr lang="en-US" smtClean="0"/>
              <a:t>‹#›</a:t>
            </a:fld>
            <a:endParaRPr lang="en-US"/>
          </a:p>
        </p:txBody>
      </p:sp>
    </p:spTree>
    <p:extLst>
      <p:ext uri="{BB962C8B-B14F-4D97-AF65-F5344CB8AC3E}">
        <p14:creationId xmlns:p14="http://schemas.microsoft.com/office/powerpoint/2010/main" val="2122777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B923AE-0016-833A-A43A-F75009565D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C59E3A-8882-8AA8-71C1-BBE090DC5D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190B2C-A661-B139-7FBA-1DC20A387B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0C3D01-DB33-44E3-86FE-7D1CD8B1B316}" type="datetimeFigureOut">
              <a:rPr lang="en-US" smtClean="0"/>
              <a:t>10/24/2026</a:t>
            </a:fld>
            <a:endParaRPr lang="en-US"/>
          </a:p>
        </p:txBody>
      </p:sp>
      <p:sp>
        <p:nvSpPr>
          <p:cNvPr id="5" name="Footer Placeholder 4">
            <a:extLst>
              <a:ext uri="{FF2B5EF4-FFF2-40B4-BE49-F238E27FC236}">
                <a16:creationId xmlns:a16="http://schemas.microsoft.com/office/drawing/2014/main" id="{4791A192-5244-A163-005D-A9F90ED753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7DA3B1B-8886-512E-7831-BEC35E12ED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09A0BB-26DD-425A-9B46-0F93E1D36E2F}" type="slidenum">
              <a:rPr lang="en-US" smtClean="0"/>
              <a:t>‹#›</a:t>
            </a:fld>
            <a:endParaRPr lang="en-US"/>
          </a:p>
        </p:txBody>
      </p:sp>
    </p:spTree>
    <p:extLst>
      <p:ext uri="{BB962C8B-B14F-4D97-AF65-F5344CB8AC3E}">
        <p14:creationId xmlns:p14="http://schemas.microsoft.com/office/powerpoint/2010/main" val="25825348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23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C6399C-878E-23EF-777A-B13EF92AF593}"/>
              </a:ext>
            </a:extLst>
          </p:cNvPr>
          <p:cNvSpPr txBox="1"/>
          <p:nvPr/>
        </p:nvSpPr>
        <p:spPr>
          <a:xfrm>
            <a:off x="584200" y="317500"/>
            <a:ext cx="10160000" cy="215900"/>
          </a:xfrm>
          <a:prstGeom prst="rect">
            <a:avLst/>
          </a:prstGeom>
          <a:noFill/>
        </p:spPr>
        <p:txBody>
          <a:bodyPr vert="horz" wrap="square" lIns="0" tIns="0" rIns="0" bIns="0" rtlCol="0" anchor="t">
            <a:noAutofit/>
          </a:bodyPr>
          <a:lstStyle/>
          <a:p>
            <a:pPr>
              <a:lnSpc>
                <a:spcPct val="105000"/>
              </a:lnSpc>
            </a:pPr>
            <a:r>
              <a:rPr lang="en-US" sz="1050" b="1" spc="150">
                <a:solidFill>
                  <a:srgbClr val="C4A15A"/>
                </a:solidFill>
                <a:latin typeface="Aptos" panose="020B0004020202020204" pitchFamily="34" charset="0"/>
              </a:rPr>
              <a:t>SYSTEM PRESENTATION</a:t>
            </a:r>
          </a:p>
        </p:txBody>
      </p:sp>
      <p:cxnSp>
        <p:nvCxnSpPr>
          <p:cNvPr id="3" name="Straight Connector 2">
            <a:extLst>
              <a:ext uri="{FF2B5EF4-FFF2-40B4-BE49-F238E27FC236}">
                <a16:creationId xmlns:a16="http://schemas.microsoft.com/office/drawing/2014/main" id="{E265B5BA-DC53-36DD-BF51-01B54D836EF9}"/>
              </a:ext>
            </a:extLst>
          </p:cNvPr>
          <p:cNvCxnSpPr/>
          <p:nvPr/>
        </p:nvCxnSpPr>
        <p:spPr>
          <a:xfrm>
            <a:off x="584200" y="6464300"/>
            <a:ext cx="11023600" cy="0"/>
          </a:xfrm>
          <a:prstGeom prst="line">
            <a:avLst/>
          </a:prstGeom>
          <a:ln w="8890">
            <a:solidFill>
              <a:srgbClr val="3A495C"/>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DE9536C-22F4-F1F1-63EF-DCA609148E48}"/>
              </a:ext>
            </a:extLst>
          </p:cNvPr>
          <p:cNvSpPr txBox="1"/>
          <p:nvPr/>
        </p:nvSpPr>
        <p:spPr>
          <a:xfrm>
            <a:off x="584200" y="6578600"/>
            <a:ext cx="2349500" cy="177800"/>
          </a:xfrm>
          <a:prstGeom prst="rect">
            <a:avLst/>
          </a:prstGeom>
          <a:noFill/>
        </p:spPr>
        <p:txBody>
          <a:bodyPr vert="horz" wrap="square" lIns="0" tIns="0" rIns="0" bIns="0" rtlCol="0" anchor="t">
            <a:noAutofit/>
          </a:bodyPr>
          <a:lstStyle/>
          <a:p>
            <a:pPr>
              <a:lnSpc>
                <a:spcPct val="105000"/>
              </a:lnSpc>
            </a:pPr>
            <a:r>
              <a:rPr lang="en-US" sz="950" b="1">
                <a:solidFill>
                  <a:srgbClr val="C4CDD7"/>
                </a:solidFill>
                <a:latin typeface="Aptos" panose="020B0004020202020204" pitchFamily="34" charset="0"/>
              </a:rPr>
              <a:t>MCPA / SITETRACE</a:t>
            </a:r>
          </a:p>
        </p:txBody>
      </p:sp>
      <p:sp>
        <p:nvSpPr>
          <p:cNvPr id="5" name="TextBox 4">
            <a:extLst>
              <a:ext uri="{FF2B5EF4-FFF2-40B4-BE49-F238E27FC236}">
                <a16:creationId xmlns:a16="http://schemas.microsoft.com/office/drawing/2014/main" id="{4E6C3E10-6D13-2945-A6F9-59830DEF7D49}"/>
              </a:ext>
            </a:extLst>
          </p:cNvPr>
          <p:cNvSpPr txBox="1"/>
          <p:nvPr/>
        </p:nvSpPr>
        <p:spPr>
          <a:xfrm>
            <a:off x="3429000" y="6578600"/>
            <a:ext cx="7048500" cy="177800"/>
          </a:xfrm>
          <a:prstGeom prst="rect">
            <a:avLst/>
          </a:prstGeom>
          <a:noFill/>
        </p:spPr>
        <p:txBody>
          <a:bodyPr vert="horz" wrap="square" lIns="0" tIns="0" rIns="0" bIns="0" rtlCol="0" anchor="t">
            <a:noAutofit/>
          </a:bodyPr>
          <a:lstStyle/>
          <a:p>
            <a:pPr algn="r">
              <a:lnSpc>
                <a:spcPct val="105000"/>
              </a:lnSpc>
            </a:pPr>
            <a:r>
              <a:rPr lang="en-US" sz="950">
                <a:solidFill>
                  <a:srgbClr val="C4CDD7"/>
                </a:solidFill>
                <a:latin typeface="Aptos" panose="020B0004020202020204" pitchFamily="34" charset="0"/>
              </a:rPr>
              <a:t>Code + isolated application evidence · 24 October 2026</a:t>
            </a:r>
          </a:p>
        </p:txBody>
      </p:sp>
      <p:sp>
        <p:nvSpPr>
          <p:cNvPr id="6" name="TextBox 5">
            <a:extLst>
              <a:ext uri="{FF2B5EF4-FFF2-40B4-BE49-F238E27FC236}">
                <a16:creationId xmlns:a16="http://schemas.microsoft.com/office/drawing/2014/main" id="{C88B1265-154C-6E93-3018-4ED7FF3D2DF7}"/>
              </a:ext>
            </a:extLst>
          </p:cNvPr>
          <p:cNvSpPr txBox="1"/>
          <p:nvPr/>
        </p:nvSpPr>
        <p:spPr>
          <a:xfrm>
            <a:off x="11010900" y="6553200"/>
            <a:ext cx="596900" cy="215900"/>
          </a:xfrm>
          <a:prstGeom prst="rect">
            <a:avLst/>
          </a:prstGeom>
          <a:noFill/>
        </p:spPr>
        <p:txBody>
          <a:bodyPr vert="horz" wrap="square" lIns="0" tIns="0" rIns="0" bIns="0" rtlCol="0" anchor="t">
            <a:noAutofit/>
          </a:bodyPr>
          <a:lstStyle/>
          <a:p>
            <a:pPr algn="r">
              <a:lnSpc>
                <a:spcPct val="105000"/>
              </a:lnSpc>
            </a:pPr>
            <a:r>
              <a:rPr lang="en-US" sz="1100" b="1">
                <a:solidFill>
                  <a:srgbClr val="C4A15A"/>
                </a:solidFill>
                <a:latin typeface="Aptos" panose="020B0004020202020204" pitchFamily="34" charset="0"/>
              </a:rPr>
              <a:t>01</a:t>
            </a:r>
          </a:p>
        </p:txBody>
      </p:sp>
      <p:sp>
        <p:nvSpPr>
          <p:cNvPr id="7" name="TextBox 6">
            <a:extLst>
              <a:ext uri="{FF2B5EF4-FFF2-40B4-BE49-F238E27FC236}">
                <a16:creationId xmlns:a16="http://schemas.microsoft.com/office/drawing/2014/main" id="{D70C1392-BD32-B0F4-806F-307A11A7A0E6}"/>
              </a:ext>
            </a:extLst>
          </p:cNvPr>
          <p:cNvSpPr txBox="1"/>
          <p:nvPr/>
        </p:nvSpPr>
        <p:spPr>
          <a:xfrm>
            <a:off x="584200" y="1206500"/>
            <a:ext cx="8255000" cy="1905000"/>
          </a:xfrm>
          <a:prstGeom prst="rect">
            <a:avLst/>
          </a:prstGeom>
          <a:noFill/>
        </p:spPr>
        <p:txBody>
          <a:bodyPr vert="horz" wrap="square" lIns="0" tIns="0" rIns="0" bIns="0" rtlCol="0" anchor="t">
            <a:noAutofit/>
          </a:bodyPr>
          <a:lstStyle/>
          <a:p>
            <a:pPr>
              <a:lnSpc>
                <a:spcPct val="105000"/>
              </a:lnSpc>
            </a:pPr>
            <a:r>
              <a:rPr lang="en-US" sz="5800" b="1">
                <a:solidFill>
                  <a:srgbClr val="FFFFFF"/>
                </a:solidFill>
                <a:latin typeface="Aptos" panose="020B0004020202020204" pitchFamily="34" charset="0"/>
              </a:rPr>
              <a:t>MCPA /</a:t>
            </a:r>
          </a:p>
          <a:p>
            <a:pPr>
              <a:lnSpc>
                <a:spcPct val="105000"/>
              </a:lnSpc>
            </a:pPr>
            <a:r>
              <a:rPr lang="en-US" sz="5800" b="1">
                <a:solidFill>
                  <a:srgbClr val="FFFFFF"/>
                </a:solidFill>
                <a:latin typeface="Aptos" panose="020B0004020202020204" pitchFamily="34" charset="0"/>
              </a:rPr>
              <a:t>SiteTrace</a:t>
            </a:r>
          </a:p>
        </p:txBody>
      </p:sp>
      <p:sp>
        <p:nvSpPr>
          <p:cNvPr id="8" name="Rectangle 7">
            <a:extLst>
              <a:ext uri="{FF2B5EF4-FFF2-40B4-BE49-F238E27FC236}">
                <a16:creationId xmlns:a16="http://schemas.microsoft.com/office/drawing/2014/main" id="{7803B11C-F40F-9D58-2F26-16BEC17D6172}"/>
              </a:ext>
            </a:extLst>
          </p:cNvPr>
          <p:cNvSpPr/>
          <p:nvPr/>
        </p:nvSpPr>
        <p:spPr>
          <a:xfrm>
            <a:off x="584200" y="3416300"/>
            <a:ext cx="812800" cy="50800"/>
          </a:xfrm>
          <a:prstGeom prst="rect">
            <a:avLst/>
          </a:prstGeom>
          <a:solidFill>
            <a:srgbClr val="C4A1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385FC35-0721-7198-BC42-EB4FE46BDCD1}"/>
              </a:ext>
            </a:extLst>
          </p:cNvPr>
          <p:cNvSpPr txBox="1"/>
          <p:nvPr/>
        </p:nvSpPr>
        <p:spPr>
          <a:xfrm>
            <a:off x="584200" y="3746500"/>
            <a:ext cx="10287000" cy="863600"/>
          </a:xfrm>
          <a:prstGeom prst="rect">
            <a:avLst/>
          </a:prstGeom>
          <a:noFill/>
        </p:spPr>
        <p:txBody>
          <a:bodyPr vert="horz" wrap="square" lIns="0" tIns="0" rIns="0" bIns="0" rtlCol="0" anchor="t">
            <a:noAutofit/>
          </a:bodyPr>
          <a:lstStyle/>
          <a:p>
            <a:pPr>
              <a:lnSpc>
                <a:spcPct val="105000"/>
              </a:lnSpc>
            </a:pPr>
            <a:r>
              <a:rPr lang="en-US" sz="2600">
                <a:solidFill>
                  <a:srgbClr val="FFFFFF"/>
                </a:solidFill>
                <a:latin typeface="Aptos" panose="020B0004020202020204" pitchFamily="34" charset="0"/>
              </a:rPr>
              <a:t>Construction Equipment Accountability</a:t>
            </a:r>
          </a:p>
          <a:p>
            <a:pPr>
              <a:lnSpc>
                <a:spcPct val="105000"/>
              </a:lnSpc>
            </a:pPr>
            <a:r>
              <a:rPr lang="en-US" sz="2600">
                <a:solidFill>
                  <a:srgbClr val="FFFFFF"/>
                </a:solidFill>
                <a:latin typeface="Aptos" panose="020B0004020202020204" pitchFamily="34" charset="0"/>
              </a:rPr>
              <a:t>and Inventory Management System</a:t>
            </a:r>
          </a:p>
        </p:txBody>
      </p:sp>
      <p:sp>
        <p:nvSpPr>
          <p:cNvPr id="10" name="TextBox 9">
            <a:extLst>
              <a:ext uri="{FF2B5EF4-FFF2-40B4-BE49-F238E27FC236}">
                <a16:creationId xmlns:a16="http://schemas.microsoft.com/office/drawing/2014/main" id="{315B21B9-9C3D-A484-7551-869D2C3D11A4}"/>
              </a:ext>
            </a:extLst>
          </p:cNvPr>
          <p:cNvSpPr txBox="1"/>
          <p:nvPr/>
        </p:nvSpPr>
        <p:spPr>
          <a:xfrm>
            <a:off x="584200" y="4914900"/>
            <a:ext cx="10160000" cy="635000"/>
          </a:xfrm>
          <a:prstGeom prst="rect">
            <a:avLst/>
          </a:prstGeom>
          <a:noFill/>
        </p:spPr>
        <p:txBody>
          <a:bodyPr vert="horz" wrap="square" lIns="0" tIns="0" rIns="0" bIns="0" rtlCol="0" anchor="t">
            <a:noAutofit/>
          </a:bodyPr>
          <a:lstStyle/>
          <a:p>
            <a:pPr>
              <a:lnSpc>
                <a:spcPct val="105000"/>
              </a:lnSpc>
            </a:pPr>
            <a:r>
              <a:rPr lang="en-US" sz="1900">
                <a:solidFill>
                  <a:srgbClr val="C4CDD7"/>
                </a:solidFill>
                <a:latin typeface="Aptos" panose="020B0004020202020204" pitchFamily="34" charset="0"/>
              </a:rPr>
              <a:t>A centralized platform supporting organized equipment,</a:t>
            </a:r>
          </a:p>
          <a:p>
            <a:pPr>
              <a:lnSpc>
                <a:spcPct val="105000"/>
              </a:lnSpc>
            </a:pPr>
            <a:r>
              <a:rPr lang="en-US" sz="1900">
                <a:solidFill>
                  <a:srgbClr val="C4CDD7"/>
                </a:solidFill>
                <a:latin typeface="Aptos" panose="020B0004020202020204" pitchFamily="34" charset="0"/>
              </a:rPr>
              <a:t>project, and inventory operations.</a:t>
            </a:r>
          </a:p>
        </p:txBody>
      </p:sp>
      <p:sp>
        <p:nvSpPr>
          <p:cNvPr id="11" name="TextBox 10">
            <a:extLst>
              <a:ext uri="{FF2B5EF4-FFF2-40B4-BE49-F238E27FC236}">
                <a16:creationId xmlns:a16="http://schemas.microsoft.com/office/drawing/2014/main" id="{0B42F511-0A1D-E205-2E0E-FC9B0B87FB74}"/>
              </a:ext>
            </a:extLst>
          </p:cNvPr>
          <p:cNvSpPr txBox="1"/>
          <p:nvPr/>
        </p:nvSpPr>
        <p:spPr>
          <a:xfrm>
            <a:off x="584200" y="5854700"/>
            <a:ext cx="2540000" cy="254000"/>
          </a:xfrm>
          <a:prstGeom prst="rect">
            <a:avLst/>
          </a:prstGeom>
          <a:noFill/>
        </p:spPr>
        <p:txBody>
          <a:bodyPr vert="horz" wrap="square" lIns="0" tIns="0" rIns="0" bIns="0" rtlCol="0" anchor="t">
            <a:noAutofit/>
          </a:bodyPr>
          <a:lstStyle/>
          <a:p>
            <a:pPr>
              <a:lnSpc>
                <a:spcPct val="105000"/>
              </a:lnSpc>
            </a:pPr>
            <a:r>
              <a:rPr lang="en-US" sz="1350">
                <a:solidFill>
                  <a:srgbClr val="FFFFFF"/>
                </a:solidFill>
                <a:latin typeface="Aptos" panose="020B0004020202020204" pitchFamily="34" charset="0"/>
              </a:rPr>
              <a:t>Equipment</a:t>
            </a:r>
          </a:p>
        </p:txBody>
      </p:sp>
      <p:sp>
        <p:nvSpPr>
          <p:cNvPr id="12" name="TextBox 11">
            <a:extLst>
              <a:ext uri="{FF2B5EF4-FFF2-40B4-BE49-F238E27FC236}">
                <a16:creationId xmlns:a16="http://schemas.microsoft.com/office/drawing/2014/main" id="{CB78D297-598A-33CB-FF35-F660AB58E7C3}"/>
              </a:ext>
            </a:extLst>
          </p:cNvPr>
          <p:cNvSpPr txBox="1"/>
          <p:nvPr/>
        </p:nvSpPr>
        <p:spPr>
          <a:xfrm>
            <a:off x="3352800" y="5854700"/>
            <a:ext cx="2540000" cy="254000"/>
          </a:xfrm>
          <a:prstGeom prst="rect">
            <a:avLst/>
          </a:prstGeom>
          <a:noFill/>
        </p:spPr>
        <p:txBody>
          <a:bodyPr vert="horz" wrap="square" lIns="0" tIns="0" rIns="0" bIns="0" rtlCol="0" anchor="t">
            <a:noAutofit/>
          </a:bodyPr>
          <a:lstStyle/>
          <a:p>
            <a:pPr>
              <a:lnSpc>
                <a:spcPct val="105000"/>
              </a:lnSpc>
            </a:pPr>
            <a:r>
              <a:rPr lang="en-US" sz="1350" b="1">
                <a:solidFill>
                  <a:srgbClr val="C4A15A"/>
                </a:solidFill>
                <a:latin typeface="Aptos" panose="020B0004020202020204" pitchFamily="34" charset="0"/>
              </a:rPr>
              <a:t>Movement</a:t>
            </a:r>
          </a:p>
        </p:txBody>
      </p:sp>
      <p:sp>
        <p:nvSpPr>
          <p:cNvPr id="13" name="TextBox 12">
            <a:extLst>
              <a:ext uri="{FF2B5EF4-FFF2-40B4-BE49-F238E27FC236}">
                <a16:creationId xmlns:a16="http://schemas.microsoft.com/office/drawing/2014/main" id="{6759C1C1-39C8-17B2-3013-6873F81F57C8}"/>
              </a:ext>
            </a:extLst>
          </p:cNvPr>
          <p:cNvSpPr txBox="1"/>
          <p:nvPr/>
        </p:nvSpPr>
        <p:spPr>
          <a:xfrm>
            <a:off x="6121400" y="5854700"/>
            <a:ext cx="2540000" cy="254000"/>
          </a:xfrm>
          <a:prstGeom prst="rect">
            <a:avLst/>
          </a:prstGeom>
          <a:noFill/>
        </p:spPr>
        <p:txBody>
          <a:bodyPr vert="horz" wrap="square" lIns="0" tIns="0" rIns="0" bIns="0" rtlCol="0" anchor="t">
            <a:noAutofit/>
          </a:bodyPr>
          <a:lstStyle/>
          <a:p>
            <a:pPr>
              <a:lnSpc>
                <a:spcPct val="105000"/>
              </a:lnSpc>
            </a:pPr>
            <a:r>
              <a:rPr lang="en-US" sz="1350">
                <a:solidFill>
                  <a:srgbClr val="FFFFFF"/>
                </a:solidFill>
                <a:latin typeface="Aptos" panose="020B0004020202020204" pitchFamily="34" charset="0"/>
              </a:rPr>
              <a:t>Projects</a:t>
            </a:r>
          </a:p>
        </p:txBody>
      </p:sp>
      <p:sp>
        <p:nvSpPr>
          <p:cNvPr id="14" name="TextBox 13">
            <a:extLst>
              <a:ext uri="{FF2B5EF4-FFF2-40B4-BE49-F238E27FC236}">
                <a16:creationId xmlns:a16="http://schemas.microsoft.com/office/drawing/2014/main" id="{340330AA-B170-63AA-9B0C-E0F6D6D46456}"/>
              </a:ext>
            </a:extLst>
          </p:cNvPr>
          <p:cNvSpPr txBox="1"/>
          <p:nvPr/>
        </p:nvSpPr>
        <p:spPr>
          <a:xfrm>
            <a:off x="8890000" y="5854700"/>
            <a:ext cx="2540000" cy="254000"/>
          </a:xfrm>
          <a:prstGeom prst="rect">
            <a:avLst/>
          </a:prstGeom>
          <a:noFill/>
        </p:spPr>
        <p:txBody>
          <a:bodyPr vert="horz" wrap="square" lIns="0" tIns="0" rIns="0" bIns="0" rtlCol="0" anchor="t">
            <a:noAutofit/>
          </a:bodyPr>
          <a:lstStyle/>
          <a:p>
            <a:pPr>
              <a:lnSpc>
                <a:spcPct val="105000"/>
              </a:lnSpc>
            </a:pPr>
            <a:r>
              <a:rPr lang="en-US" sz="1350">
                <a:solidFill>
                  <a:srgbClr val="FFFFFF"/>
                </a:solidFill>
                <a:latin typeface="Aptos" panose="020B0004020202020204" pitchFamily="34" charset="0"/>
              </a:rPr>
              <a:t>Consumables</a:t>
            </a:r>
          </a:p>
        </p:txBody>
      </p:sp>
      <p:pic>
        <p:nvPicPr>
          <p:cNvPr id="16" name="Picture 15" descr="Actual SiteTrace application. Local isolated test environment, synthetic data. Source: favicon-actual.png">
            <a:extLst>
              <a:ext uri="{FF2B5EF4-FFF2-40B4-BE49-F238E27FC236}">
                <a16:creationId xmlns:a16="http://schemas.microsoft.com/office/drawing/2014/main" id="{07C56A81-A7F4-415B-8112-D371AC659B4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312400" y="1130300"/>
            <a:ext cx="1295400" cy="1295400"/>
          </a:xfrm>
          <a:prstGeom prst="rect">
            <a:avLst/>
          </a:prstGeom>
        </p:spPr>
      </p:pic>
    </p:spTree>
    <p:extLst>
      <p:ext uri="{BB962C8B-B14F-4D97-AF65-F5344CB8AC3E}">
        <p14:creationId xmlns:p14="http://schemas.microsoft.com/office/powerpoint/2010/main" val="3990065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CBB39C-1806-3A24-225C-1E92B7E8B728}"/>
              </a:ext>
            </a:extLst>
          </p:cNvPr>
          <p:cNvSpPr txBox="1"/>
          <p:nvPr/>
        </p:nvSpPr>
        <p:spPr>
          <a:xfrm>
            <a:off x="584200" y="317500"/>
            <a:ext cx="10160000" cy="215900"/>
          </a:xfrm>
          <a:prstGeom prst="rect">
            <a:avLst/>
          </a:prstGeom>
          <a:noFill/>
        </p:spPr>
        <p:txBody>
          <a:bodyPr vert="horz" wrap="square" lIns="0" tIns="0" rIns="0" bIns="0" rtlCol="0" anchor="t">
            <a:noAutofit/>
          </a:bodyPr>
          <a:lstStyle/>
          <a:p>
            <a:pPr>
              <a:lnSpc>
                <a:spcPct val="105000"/>
              </a:lnSpc>
            </a:pPr>
            <a:r>
              <a:rPr lang="en-US" sz="1050" b="1" spc="150">
                <a:solidFill>
                  <a:srgbClr val="C4A15A"/>
                </a:solidFill>
                <a:latin typeface="Aptos" panose="020B0004020202020204" pitchFamily="34" charset="0"/>
              </a:rPr>
              <a:t>OPERATIONAL NEED</a:t>
            </a:r>
          </a:p>
        </p:txBody>
      </p:sp>
      <p:sp>
        <p:nvSpPr>
          <p:cNvPr id="3" name="Slide title">
            <a:extLst>
              <a:ext uri="{FF2B5EF4-FFF2-40B4-BE49-F238E27FC236}">
                <a16:creationId xmlns:a16="http://schemas.microsoft.com/office/drawing/2014/main" id="{DB7FA78B-B3B4-F6BF-D895-8FDDBF9E22CD}"/>
              </a:ext>
            </a:extLst>
          </p:cNvPr>
          <p:cNvSpPr txBox="1"/>
          <p:nvPr/>
        </p:nvSpPr>
        <p:spPr>
          <a:xfrm>
            <a:off x="584200" y="698500"/>
            <a:ext cx="11023600" cy="914400"/>
          </a:xfrm>
          <a:prstGeom prst="rect">
            <a:avLst/>
          </a:prstGeom>
          <a:noFill/>
        </p:spPr>
        <p:txBody>
          <a:bodyPr vert="horz" wrap="square" lIns="0" tIns="0" rIns="0" bIns="0" rtlCol="0" anchor="t">
            <a:noAutofit/>
          </a:bodyPr>
          <a:lstStyle/>
          <a:p>
            <a:pPr>
              <a:lnSpc>
                <a:spcPct val="105000"/>
              </a:lnSpc>
            </a:pPr>
            <a:r>
              <a:rPr lang="en-US" sz="3000" b="1">
                <a:solidFill>
                  <a:srgbClr val="142235"/>
                </a:solidFill>
                <a:latin typeface="Aptos" panose="020B0004020202020204" pitchFamily="34" charset="0"/>
              </a:rPr>
              <a:t>The Challenge of Equipment Accountability</a:t>
            </a:r>
          </a:p>
        </p:txBody>
      </p:sp>
      <p:cxnSp>
        <p:nvCxnSpPr>
          <p:cNvPr id="4" name="Straight Connector 3">
            <a:extLst>
              <a:ext uri="{FF2B5EF4-FFF2-40B4-BE49-F238E27FC236}">
                <a16:creationId xmlns:a16="http://schemas.microsoft.com/office/drawing/2014/main" id="{C3BF860A-A5ED-38EE-C38D-4B542B10DC1C}"/>
              </a:ext>
            </a:extLst>
          </p:cNvPr>
          <p:cNvCxnSpPr/>
          <p:nvPr/>
        </p:nvCxnSpPr>
        <p:spPr>
          <a:xfrm>
            <a:off x="584200" y="6464300"/>
            <a:ext cx="11023600" cy="0"/>
          </a:xfrm>
          <a:prstGeom prst="line">
            <a:avLst/>
          </a:prstGeom>
          <a:ln w="8890">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3FF1E06-6F94-BAA8-2059-FDEB13FD45D8}"/>
              </a:ext>
            </a:extLst>
          </p:cNvPr>
          <p:cNvSpPr txBox="1"/>
          <p:nvPr/>
        </p:nvSpPr>
        <p:spPr>
          <a:xfrm>
            <a:off x="584200" y="6578600"/>
            <a:ext cx="2349500" cy="177800"/>
          </a:xfrm>
          <a:prstGeom prst="rect">
            <a:avLst/>
          </a:prstGeom>
          <a:noFill/>
        </p:spPr>
        <p:txBody>
          <a:bodyPr vert="horz" wrap="square" lIns="0" tIns="0" rIns="0" bIns="0" rtlCol="0" anchor="t">
            <a:noAutofit/>
          </a:bodyPr>
          <a:lstStyle/>
          <a:p>
            <a:pPr>
              <a:lnSpc>
                <a:spcPct val="105000"/>
              </a:lnSpc>
            </a:pPr>
            <a:r>
              <a:rPr lang="en-US" sz="950" b="1">
                <a:solidFill>
                  <a:srgbClr val="66717D"/>
                </a:solidFill>
                <a:latin typeface="Aptos" panose="020B0004020202020204" pitchFamily="34" charset="0"/>
              </a:rPr>
              <a:t>MCPA / SITETRACE</a:t>
            </a:r>
          </a:p>
        </p:txBody>
      </p:sp>
      <p:sp>
        <p:nvSpPr>
          <p:cNvPr id="6" name="TextBox 5">
            <a:extLst>
              <a:ext uri="{FF2B5EF4-FFF2-40B4-BE49-F238E27FC236}">
                <a16:creationId xmlns:a16="http://schemas.microsoft.com/office/drawing/2014/main" id="{F68C6F6E-47E0-CE07-76EF-B8E6097C0542}"/>
              </a:ext>
            </a:extLst>
          </p:cNvPr>
          <p:cNvSpPr txBox="1"/>
          <p:nvPr/>
        </p:nvSpPr>
        <p:spPr>
          <a:xfrm>
            <a:off x="3429000" y="6578600"/>
            <a:ext cx="7048500" cy="177800"/>
          </a:xfrm>
          <a:prstGeom prst="rect">
            <a:avLst/>
          </a:prstGeom>
          <a:noFill/>
        </p:spPr>
        <p:txBody>
          <a:bodyPr vert="horz" wrap="square" lIns="0" tIns="0" rIns="0" bIns="0" rtlCol="0" anchor="t">
            <a:noAutofit/>
          </a:bodyPr>
          <a:lstStyle/>
          <a:p>
            <a:pPr algn="r">
              <a:lnSpc>
                <a:spcPct val="105000"/>
              </a:lnSpc>
            </a:pPr>
            <a:r>
              <a:rPr lang="en-US" sz="950">
                <a:solidFill>
                  <a:srgbClr val="66717D"/>
                </a:solidFill>
                <a:latin typeface="Aptos" panose="020B0004020202020204" pitchFamily="34" charset="0"/>
              </a:rPr>
              <a:t>Code + isolated application evidence · 24 October 2026</a:t>
            </a:r>
          </a:p>
        </p:txBody>
      </p:sp>
      <p:sp>
        <p:nvSpPr>
          <p:cNvPr id="7" name="TextBox 6">
            <a:extLst>
              <a:ext uri="{FF2B5EF4-FFF2-40B4-BE49-F238E27FC236}">
                <a16:creationId xmlns:a16="http://schemas.microsoft.com/office/drawing/2014/main" id="{8D78C69B-9244-E3D7-33FB-69C77E40489E}"/>
              </a:ext>
            </a:extLst>
          </p:cNvPr>
          <p:cNvSpPr txBox="1"/>
          <p:nvPr/>
        </p:nvSpPr>
        <p:spPr>
          <a:xfrm>
            <a:off x="11010900" y="6553200"/>
            <a:ext cx="596900" cy="215900"/>
          </a:xfrm>
          <a:prstGeom prst="rect">
            <a:avLst/>
          </a:prstGeom>
          <a:noFill/>
        </p:spPr>
        <p:txBody>
          <a:bodyPr vert="horz" wrap="square" lIns="0" tIns="0" rIns="0" bIns="0" rtlCol="0" anchor="t">
            <a:noAutofit/>
          </a:bodyPr>
          <a:lstStyle/>
          <a:p>
            <a:pPr algn="r">
              <a:lnSpc>
                <a:spcPct val="105000"/>
              </a:lnSpc>
            </a:pPr>
            <a:r>
              <a:rPr lang="en-US" sz="1100" b="1">
                <a:solidFill>
                  <a:srgbClr val="142235"/>
                </a:solidFill>
                <a:latin typeface="Aptos" panose="020B0004020202020204" pitchFamily="34" charset="0"/>
              </a:rPr>
              <a:t>02</a:t>
            </a:r>
          </a:p>
        </p:txBody>
      </p:sp>
      <p:sp>
        <p:nvSpPr>
          <p:cNvPr id="8" name="TextBox 7">
            <a:extLst>
              <a:ext uri="{FF2B5EF4-FFF2-40B4-BE49-F238E27FC236}">
                <a16:creationId xmlns:a16="http://schemas.microsoft.com/office/drawing/2014/main" id="{6923C29C-6454-AB09-E7D0-40AF9DE7B6D3}"/>
              </a:ext>
            </a:extLst>
          </p:cNvPr>
          <p:cNvSpPr txBox="1"/>
          <p:nvPr/>
        </p:nvSpPr>
        <p:spPr>
          <a:xfrm>
            <a:off x="584200" y="1765300"/>
            <a:ext cx="3162300" cy="254000"/>
          </a:xfrm>
          <a:prstGeom prst="rect">
            <a:avLst/>
          </a:prstGeom>
          <a:noFill/>
        </p:spPr>
        <p:txBody>
          <a:bodyPr vert="horz" wrap="square" lIns="0" tIns="0" rIns="0" bIns="0" rtlCol="0" anchor="t">
            <a:noAutofit/>
          </a:bodyPr>
          <a:lstStyle/>
          <a:p>
            <a:pPr>
              <a:lnSpc>
                <a:spcPct val="105000"/>
              </a:lnSpc>
            </a:pPr>
            <a:r>
              <a:rPr lang="en-US" sz="1100" b="1">
                <a:solidFill>
                  <a:srgbClr val="66717D"/>
                </a:solidFill>
                <a:latin typeface="Aptos" panose="020B0004020202020204" pitchFamily="34" charset="0"/>
              </a:rPr>
              <a:t>OPERATIONAL CHALLENGE</a:t>
            </a:r>
          </a:p>
        </p:txBody>
      </p:sp>
      <p:sp>
        <p:nvSpPr>
          <p:cNvPr id="9" name="TextBox 8">
            <a:extLst>
              <a:ext uri="{FF2B5EF4-FFF2-40B4-BE49-F238E27FC236}">
                <a16:creationId xmlns:a16="http://schemas.microsoft.com/office/drawing/2014/main" id="{C913EB46-1FCF-54C5-BCCE-A77FFF38C466}"/>
              </a:ext>
            </a:extLst>
          </p:cNvPr>
          <p:cNvSpPr txBox="1"/>
          <p:nvPr/>
        </p:nvSpPr>
        <p:spPr>
          <a:xfrm>
            <a:off x="4267200" y="1765300"/>
            <a:ext cx="3810000" cy="254000"/>
          </a:xfrm>
          <a:prstGeom prst="rect">
            <a:avLst/>
          </a:prstGeom>
          <a:noFill/>
        </p:spPr>
        <p:txBody>
          <a:bodyPr vert="horz" wrap="square" lIns="0" tIns="0" rIns="0" bIns="0" rtlCol="0" anchor="t">
            <a:noAutofit/>
          </a:bodyPr>
          <a:lstStyle/>
          <a:p>
            <a:pPr>
              <a:lnSpc>
                <a:spcPct val="105000"/>
              </a:lnSpc>
            </a:pPr>
            <a:r>
              <a:rPr lang="en-US" sz="1100" b="1">
                <a:solidFill>
                  <a:srgbClr val="66717D"/>
                </a:solidFill>
                <a:latin typeface="Aptos" panose="020B0004020202020204" pitchFamily="34" charset="0"/>
              </a:rPr>
              <a:t>IMPLEMENTED CAPABILITY</a:t>
            </a:r>
          </a:p>
        </p:txBody>
      </p:sp>
      <p:sp>
        <p:nvSpPr>
          <p:cNvPr id="10" name="TextBox 9">
            <a:extLst>
              <a:ext uri="{FF2B5EF4-FFF2-40B4-BE49-F238E27FC236}">
                <a16:creationId xmlns:a16="http://schemas.microsoft.com/office/drawing/2014/main" id="{EB993FC0-35A5-58A9-294E-54DF80647842}"/>
              </a:ext>
            </a:extLst>
          </p:cNvPr>
          <p:cNvSpPr txBox="1"/>
          <p:nvPr/>
        </p:nvSpPr>
        <p:spPr>
          <a:xfrm>
            <a:off x="8445500" y="1765300"/>
            <a:ext cx="3162300" cy="254000"/>
          </a:xfrm>
          <a:prstGeom prst="rect">
            <a:avLst/>
          </a:prstGeom>
          <a:noFill/>
        </p:spPr>
        <p:txBody>
          <a:bodyPr vert="horz" wrap="square" lIns="0" tIns="0" rIns="0" bIns="0" rtlCol="0" anchor="t">
            <a:noAutofit/>
          </a:bodyPr>
          <a:lstStyle/>
          <a:p>
            <a:pPr>
              <a:lnSpc>
                <a:spcPct val="105000"/>
              </a:lnSpc>
            </a:pPr>
            <a:r>
              <a:rPr lang="en-US" sz="1100" b="1">
                <a:solidFill>
                  <a:srgbClr val="66717D"/>
                </a:solidFill>
                <a:latin typeface="Aptos" panose="020B0004020202020204" pitchFamily="34" charset="0"/>
              </a:rPr>
              <a:t>SUPPORTED VALUE</a:t>
            </a:r>
          </a:p>
        </p:txBody>
      </p:sp>
      <p:sp>
        <p:nvSpPr>
          <p:cNvPr id="11" name="Rectangle 10">
            <a:extLst>
              <a:ext uri="{FF2B5EF4-FFF2-40B4-BE49-F238E27FC236}">
                <a16:creationId xmlns:a16="http://schemas.microsoft.com/office/drawing/2014/main" id="{27AD6153-7DEB-F3C3-FEF5-B5F1A3FEA669}"/>
              </a:ext>
            </a:extLst>
          </p:cNvPr>
          <p:cNvSpPr/>
          <p:nvPr/>
        </p:nvSpPr>
        <p:spPr>
          <a:xfrm>
            <a:off x="584200" y="2209800"/>
            <a:ext cx="11023600" cy="6223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911414E-DF0C-EE7A-809A-554B7E8A4229}"/>
              </a:ext>
            </a:extLst>
          </p:cNvPr>
          <p:cNvSpPr txBox="1"/>
          <p:nvPr/>
        </p:nvSpPr>
        <p:spPr>
          <a:xfrm>
            <a:off x="685800" y="2349500"/>
            <a:ext cx="3060700" cy="406400"/>
          </a:xfrm>
          <a:prstGeom prst="rect">
            <a:avLst/>
          </a:prstGeom>
          <a:noFill/>
        </p:spPr>
        <p:txBody>
          <a:bodyPr vert="horz" wrap="square" lIns="0" tIns="0" rIns="0" bIns="0" rtlCol="0" anchor="t">
            <a:noAutofit/>
          </a:bodyPr>
          <a:lstStyle/>
          <a:p>
            <a:pPr>
              <a:lnSpc>
                <a:spcPct val="105000"/>
              </a:lnSpc>
            </a:pPr>
            <a:r>
              <a:rPr lang="en-US" sz="1500">
                <a:solidFill>
                  <a:srgbClr val="242B33"/>
                </a:solidFill>
                <a:latin typeface="Aptos" panose="020B0004020202020204" pitchFamily="34" charset="0"/>
              </a:rPr>
              <a:t>Fragmented equipment records</a:t>
            </a:r>
          </a:p>
        </p:txBody>
      </p:sp>
      <p:sp>
        <p:nvSpPr>
          <p:cNvPr id="13" name="TextBox 12">
            <a:extLst>
              <a:ext uri="{FF2B5EF4-FFF2-40B4-BE49-F238E27FC236}">
                <a16:creationId xmlns:a16="http://schemas.microsoft.com/office/drawing/2014/main" id="{202AA51D-FFB7-E336-7358-3AC9A44CF006}"/>
              </a:ext>
            </a:extLst>
          </p:cNvPr>
          <p:cNvSpPr txBox="1"/>
          <p:nvPr/>
        </p:nvSpPr>
        <p:spPr>
          <a:xfrm>
            <a:off x="4368800" y="2349500"/>
            <a:ext cx="3784600" cy="406400"/>
          </a:xfrm>
          <a:prstGeom prst="rect">
            <a:avLst/>
          </a:prstGeom>
          <a:noFill/>
        </p:spPr>
        <p:txBody>
          <a:bodyPr vert="horz" wrap="square" lIns="0" tIns="0" rIns="0" bIns="0" rtlCol="0" anchor="t">
            <a:noAutofit/>
          </a:bodyPr>
          <a:lstStyle/>
          <a:p>
            <a:pPr>
              <a:lnSpc>
                <a:spcPct val="105000"/>
              </a:lnSpc>
            </a:pPr>
            <a:r>
              <a:rPr lang="en-US" sz="1500" b="1">
                <a:solidFill>
                  <a:srgbClr val="142235"/>
                </a:solidFill>
                <a:latin typeface="Aptos" panose="020B0004020202020204" pitchFamily="34" charset="0"/>
              </a:rPr>
              <a:t>Shared equipment inventory</a:t>
            </a:r>
          </a:p>
        </p:txBody>
      </p:sp>
      <p:sp>
        <p:nvSpPr>
          <p:cNvPr id="14" name="TextBox 13">
            <a:extLst>
              <a:ext uri="{FF2B5EF4-FFF2-40B4-BE49-F238E27FC236}">
                <a16:creationId xmlns:a16="http://schemas.microsoft.com/office/drawing/2014/main" id="{2D9A6725-7C9C-A90C-84E0-032246099A18}"/>
              </a:ext>
            </a:extLst>
          </p:cNvPr>
          <p:cNvSpPr txBox="1"/>
          <p:nvPr/>
        </p:nvSpPr>
        <p:spPr>
          <a:xfrm>
            <a:off x="8547100" y="2349500"/>
            <a:ext cx="3060700" cy="406400"/>
          </a:xfrm>
          <a:prstGeom prst="rect">
            <a:avLst/>
          </a:prstGeom>
          <a:noFill/>
        </p:spPr>
        <p:txBody>
          <a:bodyPr vert="horz" wrap="square" lIns="0" tIns="0" rIns="0" bIns="0" rtlCol="0" anchor="t">
            <a:noAutofit/>
          </a:bodyPr>
          <a:lstStyle/>
          <a:p>
            <a:pPr>
              <a:lnSpc>
                <a:spcPct val="105000"/>
              </a:lnSpc>
            </a:pPr>
            <a:r>
              <a:rPr lang="en-US" sz="1500">
                <a:solidFill>
                  <a:srgbClr val="242B33"/>
                </a:solidFill>
                <a:latin typeface="Aptos" panose="020B0004020202020204" pitchFamily="34" charset="0"/>
              </a:rPr>
              <a:t>One reference for asset information</a:t>
            </a:r>
          </a:p>
        </p:txBody>
      </p:sp>
      <p:sp>
        <p:nvSpPr>
          <p:cNvPr id="15" name="Rectangle 14">
            <a:extLst>
              <a:ext uri="{FF2B5EF4-FFF2-40B4-BE49-F238E27FC236}">
                <a16:creationId xmlns:a16="http://schemas.microsoft.com/office/drawing/2014/main" id="{1C56B52D-14FC-3012-6A05-BD7283F0F627}"/>
              </a:ext>
            </a:extLst>
          </p:cNvPr>
          <p:cNvSpPr/>
          <p:nvPr/>
        </p:nvSpPr>
        <p:spPr>
          <a:xfrm>
            <a:off x="584200" y="2933700"/>
            <a:ext cx="11023600" cy="6223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2915B44-F6A3-B4AF-8584-63D8AB3E6288}"/>
              </a:ext>
            </a:extLst>
          </p:cNvPr>
          <p:cNvSpPr txBox="1"/>
          <p:nvPr/>
        </p:nvSpPr>
        <p:spPr>
          <a:xfrm>
            <a:off x="685800" y="3073400"/>
            <a:ext cx="3060700" cy="406400"/>
          </a:xfrm>
          <a:prstGeom prst="rect">
            <a:avLst/>
          </a:prstGeom>
          <a:noFill/>
        </p:spPr>
        <p:txBody>
          <a:bodyPr vert="horz" wrap="square" lIns="0" tIns="0" rIns="0" bIns="0" rtlCol="0" anchor="t">
            <a:noAutofit/>
          </a:bodyPr>
          <a:lstStyle/>
          <a:p>
            <a:pPr>
              <a:lnSpc>
                <a:spcPct val="105000"/>
              </a:lnSpc>
            </a:pPr>
            <a:r>
              <a:rPr lang="en-US" sz="1500">
                <a:solidFill>
                  <a:srgbClr val="242B33"/>
                </a:solidFill>
                <a:latin typeface="Aptos" panose="020B0004020202020204" pitchFamily="34" charset="0"/>
              </a:rPr>
              <a:t>Unclear responsibility</a:t>
            </a:r>
          </a:p>
        </p:txBody>
      </p:sp>
      <p:sp>
        <p:nvSpPr>
          <p:cNvPr id="17" name="TextBox 16">
            <a:extLst>
              <a:ext uri="{FF2B5EF4-FFF2-40B4-BE49-F238E27FC236}">
                <a16:creationId xmlns:a16="http://schemas.microsoft.com/office/drawing/2014/main" id="{9D1CE568-373C-356B-0240-C90FAA50281A}"/>
              </a:ext>
            </a:extLst>
          </p:cNvPr>
          <p:cNvSpPr txBox="1"/>
          <p:nvPr/>
        </p:nvSpPr>
        <p:spPr>
          <a:xfrm>
            <a:off x="4368800" y="3073400"/>
            <a:ext cx="3784600" cy="406400"/>
          </a:xfrm>
          <a:prstGeom prst="rect">
            <a:avLst/>
          </a:prstGeom>
          <a:noFill/>
        </p:spPr>
        <p:txBody>
          <a:bodyPr vert="horz" wrap="square" lIns="0" tIns="0" rIns="0" bIns="0" rtlCol="0" anchor="t">
            <a:noAutofit/>
          </a:bodyPr>
          <a:lstStyle/>
          <a:p>
            <a:pPr>
              <a:lnSpc>
                <a:spcPct val="105000"/>
              </a:lnSpc>
            </a:pPr>
            <a:r>
              <a:rPr lang="en-US" sz="1500" b="1">
                <a:solidFill>
                  <a:srgbClr val="142235"/>
                </a:solidFill>
                <a:latin typeface="Aptos" panose="020B0004020202020204" pitchFamily="34" charset="0"/>
              </a:rPr>
              <a:t>Named holder + inspected receipt</a:t>
            </a:r>
          </a:p>
        </p:txBody>
      </p:sp>
      <p:sp>
        <p:nvSpPr>
          <p:cNvPr id="18" name="TextBox 17">
            <a:extLst>
              <a:ext uri="{FF2B5EF4-FFF2-40B4-BE49-F238E27FC236}">
                <a16:creationId xmlns:a16="http://schemas.microsoft.com/office/drawing/2014/main" id="{01115E54-2560-7226-18D6-3E494707B4A5}"/>
              </a:ext>
            </a:extLst>
          </p:cNvPr>
          <p:cNvSpPr txBox="1"/>
          <p:nvPr/>
        </p:nvSpPr>
        <p:spPr>
          <a:xfrm>
            <a:off x="8547100" y="3073400"/>
            <a:ext cx="3060700" cy="406400"/>
          </a:xfrm>
          <a:prstGeom prst="rect">
            <a:avLst/>
          </a:prstGeom>
          <a:noFill/>
        </p:spPr>
        <p:txBody>
          <a:bodyPr vert="horz" wrap="square" lIns="0" tIns="0" rIns="0" bIns="0" rtlCol="0" anchor="t">
            <a:noAutofit/>
          </a:bodyPr>
          <a:lstStyle/>
          <a:p>
            <a:pPr>
              <a:lnSpc>
                <a:spcPct val="105000"/>
              </a:lnSpc>
            </a:pPr>
            <a:r>
              <a:rPr lang="en-US" sz="1500">
                <a:solidFill>
                  <a:srgbClr val="242B33"/>
                </a:solidFill>
                <a:latin typeface="Aptos" panose="020B0004020202020204" pitchFamily="34" charset="0"/>
              </a:rPr>
              <a:t>Visible recorded custody</a:t>
            </a:r>
          </a:p>
        </p:txBody>
      </p:sp>
      <p:sp>
        <p:nvSpPr>
          <p:cNvPr id="19" name="Rectangle 18">
            <a:extLst>
              <a:ext uri="{FF2B5EF4-FFF2-40B4-BE49-F238E27FC236}">
                <a16:creationId xmlns:a16="http://schemas.microsoft.com/office/drawing/2014/main" id="{541C3DC6-4E3A-8550-7098-9805F3FEAC30}"/>
              </a:ext>
            </a:extLst>
          </p:cNvPr>
          <p:cNvSpPr/>
          <p:nvPr/>
        </p:nvSpPr>
        <p:spPr>
          <a:xfrm>
            <a:off x="584200" y="3657600"/>
            <a:ext cx="11023600" cy="6223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137CF28-C40C-1333-4B86-20B61E012BB9}"/>
              </a:ext>
            </a:extLst>
          </p:cNvPr>
          <p:cNvSpPr txBox="1"/>
          <p:nvPr/>
        </p:nvSpPr>
        <p:spPr>
          <a:xfrm>
            <a:off x="685800" y="3797300"/>
            <a:ext cx="3060700" cy="406400"/>
          </a:xfrm>
          <a:prstGeom prst="rect">
            <a:avLst/>
          </a:prstGeom>
          <a:noFill/>
        </p:spPr>
        <p:txBody>
          <a:bodyPr vert="horz" wrap="square" lIns="0" tIns="0" rIns="0" bIns="0" rtlCol="0" anchor="t">
            <a:noAutofit/>
          </a:bodyPr>
          <a:lstStyle/>
          <a:p>
            <a:pPr>
              <a:lnSpc>
                <a:spcPct val="105000"/>
              </a:lnSpc>
            </a:pPr>
            <a:r>
              <a:rPr lang="en-US" sz="1500">
                <a:solidFill>
                  <a:srgbClr val="242B33"/>
                </a:solidFill>
                <a:latin typeface="Aptos" panose="020B0004020202020204" pitchFamily="34" charset="0"/>
              </a:rPr>
              <a:t>Hard-to-trace movements</a:t>
            </a:r>
          </a:p>
        </p:txBody>
      </p:sp>
      <p:sp>
        <p:nvSpPr>
          <p:cNvPr id="21" name="TextBox 20">
            <a:extLst>
              <a:ext uri="{FF2B5EF4-FFF2-40B4-BE49-F238E27FC236}">
                <a16:creationId xmlns:a16="http://schemas.microsoft.com/office/drawing/2014/main" id="{11F19A3B-39D2-9D41-7752-1743F0AEADE5}"/>
              </a:ext>
            </a:extLst>
          </p:cNvPr>
          <p:cNvSpPr txBox="1"/>
          <p:nvPr/>
        </p:nvSpPr>
        <p:spPr>
          <a:xfrm>
            <a:off x="4368800" y="3797300"/>
            <a:ext cx="3784600" cy="406400"/>
          </a:xfrm>
          <a:prstGeom prst="rect">
            <a:avLst/>
          </a:prstGeom>
          <a:noFill/>
        </p:spPr>
        <p:txBody>
          <a:bodyPr vert="horz" wrap="square" lIns="0" tIns="0" rIns="0" bIns="0" rtlCol="0" anchor="t">
            <a:noAutofit/>
          </a:bodyPr>
          <a:lstStyle/>
          <a:p>
            <a:pPr>
              <a:lnSpc>
                <a:spcPct val="105000"/>
              </a:lnSpc>
            </a:pPr>
            <a:r>
              <a:rPr lang="en-US" sz="1500" b="1">
                <a:solidFill>
                  <a:srgbClr val="142235"/>
                </a:solidFill>
                <a:latin typeface="Aptos" panose="020B0004020202020204" pitchFamily="34" charset="0"/>
              </a:rPr>
              <a:t>Linked requests, transfers and activity</a:t>
            </a:r>
          </a:p>
        </p:txBody>
      </p:sp>
      <p:sp>
        <p:nvSpPr>
          <p:cNvPr id="22" name="TextBox 21">
            <a:extLst>
              <a:ext uri="{FF2B5EF4-FFF2-40B4-BE49-F238E27FC236}">
                <a16:creationId xmlns:a16="http://schemas.microsoft.com/office/drawing/2014/main" id="{5F302F5E-137F-513B-FF78-DFC4185E7A1C}"/>
              </a:ext>
            </a:extLst>
          </p:cNvPr>
          <p:cNvSpPr txBox="1"/>
          <p:nvPr/>
        </p:nvSpPr>
        <p:spPr>
          <a:xfrm>
            <a:off x="8547100" y="3797300"/>
            <a:ext cx="3060700" cy="406400"/>
          </a:xfrm>
          <a:prstGeom prst="rect">
            <a:avLst/>
          </a:prstGeom>
          <a:noFill/>
        </p:spPr>
        <p:txBody>
          <a:bodyPr vert="horz" wrap="square" lIns="0" tIns="0" rIns="0" bIns="0" rtlCol="0" anchor="t">
            <a:noAutofit/>
          </a:bodyPr>
          <a:lstStyle/>
          <a:p>
            <a:pPr>
              <a:lnSpc>
                <a:spcPct val="105000"/>
              </a:lnSpc>
            </a:pPr>
            <a:r>
              <a:rPr lang="en-US" sz="1500">
                <a:solidFill>
                  <a:srgbClr val="242B33"/>
                </a:solidFill>
                <a:latin typeface="Aptos" panose="020B0004020202020204" pitchFamily="34" charset="0"/>
              </a:rPr>
              <a:t>Reviewable movement sequence</a:t>
            </a:r>
          </a:p>
        </p:txBody>
      </p:sp>
      <p:sp>
        <p:nvSpPr>
          <p:cNvPr id="23" name="Rectangle 22">
            <a:extLst>
              <a:ext uri="{FF2B5EF4-FFF2-40B4-BE49-F238E27FC236}">
                <a16:creationId xmlns:a16="http://schemas.microsoft.com/office/drawing/2014/main" id="{A0F7D3F8-3D83-F7F2-6E4A-68372CD33C16}"/>
              </a:ext>
            </a:extLst>
          </p:cNvPr>
          <p:cNvSpPr/>
          <p:nvPr/>
        </p:nvSpPr>
        <p:spPr>
          <a:xfrm>
            <a:off x="584200" y="4381500"/>
            <a:ext cx="11023600" cy="6223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BB26CD5-421F-1DE2-4C65-03E1A3767260}"/>
              </a:ext>
            </a:extLst>
          </p:cNvPr>
          <p:cNvSpPr txBox="1"/>
          <p:nvPr/>
        </p:nvSpPr>
        <p:spPr>
          <a:xfrm>
            <a:off x="685800" y="4521200"/>
            <a:ext cx="3060700" cy="406400"/>
          </a:xfrm>
          <a:prstGeom prst="rect">
            <a:avLst/>
          </a:prstGeom>
          <a:noFill/>
        </p:spPr>
        <p:txBody>
          <a:bodyPr vert="horz" wrap="square" lIns="0" tIns="0" rIns="0" bIns="0" rtlCol="0" anchor="t">
            <a:noAutofit/>
          </a:bodyPr>
          <a:lstStyle/>
          <a:p>
            <a:pPr>
              <a:lnSpc>
                <a:spcPct val="105000"/>
              </a:lnSpc>
            </a:pPr>
            <a:r>
              <a:rPr lang="en-US" sz="1500">
                <a:solidFill>
                  <a:srgbClr val="242B33"/>
                </a:solidFill>
                <a:latin typeface="Aptos" panose="020B0004020202020204" pitchFamily="34" charset="0"/>
              </a:rPr>
              <a:t>Limited project visibility</a:t>
            </a:r>
          </a:p>
        </p:txBody>
      </p:sp>
      <p:sp>
        <p:nvSpPr>
          <p:cNvPr id="25" name="TextBox 24">
            <a:extLst>
              <a:ext uri="{FF2B5EF4-FFF2-40B4-BE49-F238E27FC236}">
                <a16:creationId xmlns:a16="http://schemas.microsoft.com/office/drawing/2014/main" id="{D873BEA3-2D30-8B37-E73B-458AD1115BF9}"/>
              </a:ext>
            </a:extLst>
          </p:cNvPr>
          <p:cNvSpPr txBox="1"/>
          <p:nvPr/>
        </p:nvSpPr>
        <p:spPr>
          <a:xfrm>
            <a:off x="4368800" y="4521200"/>
            <a:ext cx="3784600" cy="406400"/>
          </a:xfrm>
          <a:prstGeom prst="rect">
            <a:avLst/>
          </a:prstGeom>
          <a:noFill/>
        </p:spPr>
        <p:txBody>
          <a:bodyPr vert="horz" wrap="square" lIns="0" tIns="0" rIns="0" bIns="0" rtlCol="0" anchor="t">
            <a:noAutofit/>
          </a:bodyPr>
          <a:lstStyle/>
          <a:p>
            <a:pPr>
              <a:lnSpc>
                <a:spcPct val="105000"/>
              </a:lnSpc>
            </a:pPr>
            <a:r>
              <a:rPr lang="en-US" sz="1500" b="1">
                <a:solidFill>
                  <a:srgbClr val="142235"/>
                </a:solidFill>
                <a:latin typeface="Aptos" panose="020B0004020202020204" pitchFamily="34" charset="0"/>
              </a:rPr>
              <a:t>Equipment linked to project records</a:t>
            </a:r>
          </a:p>
        </p:txBody>
      </p:sp>
      <p:sp>
        <p:nvSpPr>
          <p:cNvPr id="26" name="TextBox 25">
            <a:extLst>
              <a:ext uri="{FF2B5EF4-FFF2-40B4-BE49-F238E27FC236}">
                <a16:creationId xmlns:a16="http://schemas.microsoft.com/office/drawing/2014/main" id="{11E6239F-94AE-DAA8-6AD5-E5C58C0D07C6}"/>
              </a:ext>
            </a:extLst>
          </p:cNvPr>
          <p:cNvSpPr txBox="1"/>
          <p:nvPr/>
        </p:nvSpPr>
        <p:spPr>
          <a:xfrm>
            <a:off x="8547100" y="4521200"/>
            <a:ext cx="3060700" cy="406400"/>
          </a:xfrm>
          <a:prstGeom prst="rect">
            <a:avLst/>
          </a:prstGeom>
          <a:noFill/>
        </p:spPr>
        <p:txBody>
          <a:bodyPr vert="horz" wrap="square" lIns="0" tIns="0" rIns="0" bIns="0" rtlCol="0" anchor="t">
            <a:noAutofit/>
          </a:bodyPr>
          <a:lstStyle/>
          <a:p>
            <a:pPr>
              <a:lnSpc>
                <a:spcPct val="105000"/>
              </a:lnSpc>
            </a:pPr>
            <a:r>
              <a:rPr lang="en-US" sz="1500">
                <a:solidFill>
                  <a:srgbClr val="242B33"/>
                </a:solidFill>
                <a:latin typeface="Aptos" panose="020B0004020202020204" pitchFamily="34" charset="0"/>
              </a:rPr>
              <a:t>Visible deployment context</a:t>
            </a:r>
          </a:p>
        </p:txBody>
      </p:sp>
      <p:sp>
        <p:nvSpPr>
          <p:cNvPr id="27" name="Rectangle 26">
            <a:extLst>
              <a:ext uri="{FF2B5EF4-FFF2-40B4-BE49-F238E27FC236}">
                <a16:creationId xmlns:a16="http://schemas.microsoft.com/office/drawing/2014/main" id="{E607C492-352C-90E6-0806-E6EC08BBB2B2}"/>
              </a:ext>
            </a:extLst>
          </p:cNvPr>
          <p:cNvSpPr/>
          <p:nvPr/>
        </p:nvSpPr>
        <p:spPr>
          <a:xfrm>
            <a:off x="584200" y="5105400"/>
            <a:ext cx="11023600" cy="6223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C45290E-BEEE-07CB-BECB-89F26135F6ED}"/>
              </a:ext>
            </a:extLst>
          </p:cNvPr>
          <p:cNvSpPr txBox="1"/>
          <p:nvPr/>
        </p:nvSpPr>
        <p:spPr>
          <a:xfrm>
            <a:off x="685800" y="5245100"/>
            <a:ext cx="3060700" cy="406400"/>
          </a:xfrm>
          <a:prstGeom prst="rect">
            <a:avLst/>
          </a:prstGeom>
          <a:noFill/>
        </p:spPr>
        <p:txBody>
          <a:bodyPr vert="horz" wrap="square" lIns="0" tIns="0" rIns="0" bIns="0" rtlCol="0" anchor="t">
            <a:noAutofit/>
          </a:bodyPr>
          <a:lstStyle/>
          <a:p>
            <a:pPr>
              <a:lnSpc>
                <a:spcPct val="105000"/>
              </a:lnSpc>
            </a:pPr>
            <a:r>
              <a:rPr lang="en-US" sz="1500">
                <a:solidFill>
                  <a:srgbClr val="242B33"/>
                </a:solidFill>
                <a:latin typeface="Aptos" panose="020B0004020202020204" pitchFamily="34" charset="0"/>
              </a:rPr>
              <a:t>Consumable stock uncertainty</a:t>
            </a:r>
          </a:p>
        </p:txBody>
      </p:sp>
      <p:sp>
        <p:nvSpPr>
          <p:cNvPr id="29" name="TextBox 28">
            <a:extLst>
              <a:ext uri="{FF2B5EF4-FFF2-40B4-BE49-F238E27FC236}">
                <a16:creationId xmlns:a16="http://schemas.microsoft.com/office/drawing/2014/main" id="{985036B9-526A-5484-8A94-E280A4AC621D}"/>
              </a:ext>
            </a:extLst>
          </p:cNvPr>
          <p:cNvSpPr txBox="1"/>
          <p:nvPr/>
        </p:nvSpPr>
        <p:spPr>
          <a:xfrm>
            <a:off x="4368800" y="5245100"/>
            <a:ext cx="3784600" cy="406400"/>
          </a:xfrm>
          <a:prstGeom prst="rect">
            <a:avLst/>
          </a:prstGeom>
          <a:noFill/>
        </p:spPr>
        <p:txBody>
          <a:bodyPr vert="horz" wrap="square" lIns="0" tIns="0" rIns="0" bIns="0" rtlCol="0" anchor="t">
            <a:noAutofit/>
          </a:bodyPr>
          <a:lstStyle/>
          <a:p>
            <a:pPr>
              <a:lnSpc>
                <a:spcPct val="105000"/>
              </a:lnSpc>
            </a:pPr>
            <a:r>
              <a:rPr lang="en-US" sz="1500" b="1">
                <a:solidFill>
                  <a:srgbClr val="142235"/>
                </a:solidFill>
                <a:latin typeface="Aptos" panose="020B0004020202020204" pitchFamily="34" charset="0"/>
              </a:rPr>
              <a:t>SKU balances + low-stock thresholds</a:t>
            </a:r>
          </a:p>
        </p:txBody>
      </p:sp>
      <p:sp>
        <p:nvSpPr>
          <p:cNvPr id="30" name="TextBox 29">
            <a:extLst>
              <a:ext uri="{FF2B5EF4-FFF2-40B4-BE49-F238E27FC236}">
                <a16:creationId xmlns:a16="http://schemas.microsoft.com/office/drawing/2014/main" id="{FEA7F2BF-C167-83FC-54DD-755B923156E4}"/>
              </a:ext>
            </a:extLst>
          </p:cNvPr>
          <p:cNvSpPr txBox="1"/>
          <p:nvPr/>
        </p:nvSpPr>
        <p:spPr>
          <a:xfrm>
            <a:off x="8547100" y="5245100"/>
            <a:ext cx="3060700" cy="406400"/>
          </a:xfrm>
          <a:prstGeom prst="rect">
            <a:avLst/>
          </a:prstGeom>
          <a:noFill/>
        </p:spPr>
        <p:txBody>
          <a:bodyPr vert="horz" wrap="square" lIns="0" tIns="0" rIns="0" bIns="0" rtlCol="0" anchor="t">
            <a:noAutofit/>
          </a:bodyPr>
          <a:lstStyle/>
          <a:p>
            <a:pPr>
              <a:lnSpc>
                <a:spcPct val="105000"/>
              </a:lnSpc>
            </a:pPr>
            <a:r>
              <a:rPr lang="en-US" sz="1500">
                <a:solidFill>
                  <a:srgbClr val="242B33"/>
                </a:solidFill>
                <a:latin typeface="Aptos" panose="020B0004020202020204" pitchFamily="34" charset="0"/>
              </a:rPr>
              <a:t>Structured stock review</a:t>
            </a:r>
          </a:p>
        </p:txBody>
      </p:sp>
      <p:sp>
        <p:nvSpPr>
          <p:cNvPr id="31" name="TextBox 30">
            <a:extLst>
              <a:ext uri="{FF2B5EF4-FFF2-40B4-BE49-F238E27FC236}">
                <a16:creationId xmlns:a16="http://schemas.microsoft.com/office/drawing/2014/main" id="{D22C851B-F133-82CF-96A6-57ED7D1E21E0}"/>
              </a:ext>
            </a:extLst>
          </p:cNvPr>
          <p:cNvSpPr txBox="1"/>
          <p:nvPr/>
        </p:nvSpPr>
        <p:spPr>
          <a:xfrm>
            <a:off x="584200" y="6045200"/>
            <a:ext cx="11023600" cy="254000"/>
          </a:xfrm>
          <a:prstGeom prst="rect">
            <a:avLst/>
          </a:prstGeom>
          <a:noFill/>
        </p:spPr>
        <p:txBody>
          <a:bodyPr vert="horz" wrap="square" lIns="0" tIns="0" rIns="0" bIns="0" rtlCol="0" anchor="t">
            <a:noAutofit/>
          </a:bodyPr>
          <a:lstStyle/>
          <a:p>
            <a:pPr>
              <a:lnSpc>
                <a:spcPct val="105000"/>
              </a:lnSpc>
            </a:pPr>
            <a:r>
              <a:rPr lang="en-US" sz="1150">
                <a:solidFill>
                  <a:srgbClr val="66717D"/>
                </a:solidFill>
                <a:latin typeface="Aptos" panose="020B0004020202020204" pitchFamily="34" charset="0"/>
              </a:rPr>
              <a:t>These are supported capabilities. Time savings, cost reductions and business impact have not been measured.</a:t>
            </a:r>
          </a:p>
        </p:txBody>
      </p:sp>
    </p:spTree>
    <p:extLst>
      <p:ext uri="{BB962C8B-B14F-4D97-AF65-F5344CB8AC3E}">
        <p14:creationId xmlns:p14="http://schemas.microsoft.com/office/powerpoint/2010/main" val="1634671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363AB2-D237-C4D4-62E4-EAC7CA8904A0}"/>
              </a:ext>
            </a:extLst>
          </p:cNvPr>
          <p:cNvSpPr txBox="1"/>
          <p:nvPr/>
        </p:nvSpPr>
        <p:spPr>
          <a:xfrm>
            <a:off x="584200" y="317500"/>
            <a:ext cx="10160000" cy="215900"/>
          </a:xfrm>
          <a:prstGeom prst="rect">
            <a:avLst/>
          </a:prstGeom>
          <a:noFill/>
        </p:spPr>
        <p:txBody>
          <a:bodyPr vert="horz" wrap="square" lIns="0" tIns="0" rIns="0" bIns="0" rtlCol="0" anchor="t">
            <a:noAutofit/>
          </a:bodyPr>
          <a:lstStyle/>
          <a:p>
            <a:pPr>
              <a:lnSpc>
                <a:spcPct val="105000"/>
              </a:lnSpc>
            </a:pPr>
            <a:r>
              <a:rPr lang="en-US" sz="1050" b="1" spc="150">
                <a:solidFill>
                  <a:srgbClr val="C4A15A"/>
                </a:solidFill>
                <a:latin typeface="Aptos" panose="020B0004020202020204" pitchFamily="34" charset="0"/>
              </a:rPr>
              <a:t>DASHBOARD &amp; ACCESS</a:t>
            </a:r>
          </a:p>
        </p:txBody>
      </p:sp>
      <p:sp>
        <p:nvSpPr>
          <p:cNvPr id="3" name="Slide title">
            <a:extLst>
              <a:ext uri="{FF2B5EF4-FFF2-40B4-BE49-F238E27FC236}">
                <a16:creationId xmlns:a16="http://schemas.microsoft.com/office/drawing/2014/main" id="{EC850303-5A94-0E0C-2401-5E342821AC2C}"/>
              </a:ext>
            </a:extLst>
          </p:cNvPr>
          <p:cNvSpPr txBox="1"/>
          <p:nvPr/>
        </p:nvSpPr>
        <p:spPr>
          <a:xfrm>
            <a:off x="584200" y="698500"/>
            <a:ext cx="11023600" cy="914400"/>
          </a:xfrm>
          <a:prstGeom prst="rect">
            <a:avLst/>
          </a:prstGeom>
          <a:noFill/>
        </p:spPr>
        <p:txBody>
          <a:bodyPr vert="horz" wrap="square" lIns="0" tIns="0" rIns="0" bIns="0" rtlCol="0" anchor="t">
            <a:noAutofit/>
          </a:bodyPr>
          <a:lstStyle/>
          <a:p>
            <a:pPr>
              <a:lnSpc>
                <a:spcPct val="105000"/>
              </a:lnSpc>
            </a:pPr>
            <a:r>
              <a:rPr lang="en-US" sz="3000" b="1">
                <a:solidFill>
                  <a:srgbClr val="142235"/>
                </a:solidFill>
                <a:latin typeface="Aptos" panose="020B0004020202020204" pitchFamily="34" charset="0"/>
              </a:rPr>
              <a:t>Centralized Operational Visibility</a:t>
            </a:r>
          </a:p>
        </p:txBody>
      </p:sp>
      <p:cxnSp>
        <p:nvCxnSpPr>
          <p:cNvPr id="4" name="Straight Connector 3">
            <a:extLst>
              <a:ext uri="{FF2B5EF4-FFF2-40B4-BE49-F238E27FC236}">
                <a16:creationId xmlns:a16="http://schemas.microsoft.com/office/drawing/2014/main" id="{00355387-0750-07AB-DCEC-763FF403372D}"/>
              </a:ext>
            </a:extLst>
          </p:cNvPr>
          <p:cNvCxnSpPr/>
          <p:nvPr/>
        </p:nvCxnSpPr>
        <p:spPr>
          <a:xfrm>
            <a:off x="584200" y="6464300"/>
            <a:ext cx="11023600" cy="0"/>
          </a:xfrm>
          <a:prstGeom prst="line">
            <a:avLst/>
          </a:prstGeom>
          <a:ln w="8890">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0D40253-50DC-53F9-F8EE-097E28DBB0F7}"/>
              </a:ext>
            </a:extLst>
          </p:cNvPr>
          <p:cNvSpPr txBox="1"/>
          <p:nvPr/>
        </p:nvSpPr>
        <p:spPr>
          <a:xfrm>
            <a:off x="584200" y="6578600"/>
            <a:ext cx="2349500" cy="177800"/>
          </a:xfrm>
          <a:prstGeom prst="rect">
            <a:avLst/>
          </a:prstGeom>
          <a:noFill/>
        </p:spPr>
        <p:txBody>
          <a:bodyPr vert="horz" wrap="square" lIns="0" tIns="0" rIns="0" bIns="0" rtlCol="0" anchor="t">
            <a:noAutofit/>
          </a:bodyPr>
          <a:lstStyle/>
          <a:p>
            <a:pPr>
              <a:lnSpc>
                <a:spcPct val="105000"/>
              </a:lnSpc>
            </a:pPr>
            <a:r>
              <a:rPr lang="en-US" sz="950" b="1">
                <a:solidFill>
                  <a:srgbClr val="66717D"/>
                </a:solidFill>
                <a:latin typeface="Aptos" panose="020B0004020202020204" pitchFamily="34" charset="0"/>
              </a:rPr>
              <a:t>MCPA / SITETRACE</a:t>
            </a:r>
          </a:p>
        </p:txBody>
      </p:sp>
      <p:sp>
        <p:nvSpPr>
          <p:cNvPr id="6" name="TextBox 5">
            <a:extLst>
              <a:ext uri="{FF2B5EF4-FFF2-40B4-BE49-F238E27FC236}">
                <a16:creationId xmlns:a16="http://schemas.microsoft.com/office/drawing/2014/main" id="{033B5999-DE4D-1AE4-630B-E876D2CE3909}"/>
              </a:ext>
            </a:extLst>
          </p:cNvPr>
          <p:cNvSpPr txBox="1"/>
          <p:nvPr/>
        </p:nvSpPr>
        <p:spPr>
          <a:xfrm>
            <a:off x="3429000" y="6578600"/>
            <a:ext cx="7048500" cy="177800"/>
          </a:xfrm>
          <a:prstGeom prst="rect">
            <a:avLst/>
          </a:prstGeom>
          <a:noFill/>
        </p:spPr>
        <p:txBody>
          <a:bodyPr vert="horz" wrap="square" lIns="0" tIns="0" rIns="0" bIns="0" rtlCol="0" anchor="t">
            <a:noAutofit/>
          </a:bodyPr>
          <a:lstStyle/>
          <a:p>
            <a:pPr algn="r">
              <a:lnSpc>
                <a:spcPct val="105000"/>
              </a:lnSpc>
            </a:pPr>
            <a:r>
              <a:rPr lang="en-US" sz="950">
                <a:solidFill>
                  <a:srgbClr val="66717D"/>
                </a:solidFill>
                <a:latin typeface="Aptos" panose="020B0004020202020204" pitchFamily="34" charset="0"/>
              </a:rPr>
              <a:t>Code + isolated application evidence · 24 October 2026</a:t>
            </a:r>
          </a:p>
        </p:txBody>
      </p:sp>
      <p:sp>
        <p:nvSpPr>
          <p:cNvPr id="7" name="TextBox 6">
            <a:extLst>
              <a:ext uri="{FF2B5EF4-FFF2-40B4-BE49-F238E27FC236}">
                <a16:creationId xmlns:a16="http://schemas.microsoft.com/office/drawing/2014/main" id="{32C90B74-D2C4-0613-BC75-B403298AE902}"/>
              </a:ext>
            </a:extLst>
          </p:cNvPr>
          <p:cNvSpPr txBox="1"/>
          <p:nvPr/>
        </p:nvSpPr>
        <p:spPr>
          <a:xfrm>
            <a:off x="11010900" y="6553200"/>
            <a:ext cx="596900" cy="215900"/>
          </a:xfrm>
          <a:prstGeom prst="rect">
            <a:avLst/>
          </a:prstGeom>
          <a:noFill/>
        </p:spPr>
        <p:txBody>
          <a:bodyPr vert="horz" wrap="square" lIns="0" tIns="0" rIns="0" bIns="0" rtlCol="0" anchor="t">
            <a:noAutofit/>
          </a:bodyPr>
          <a:lstStyle/>
          <a:p>
            <a:pPr algn="r">
              <a:lnSpc>
                <a:spcPct val="105000"/>
              </a:lnSpc>
            </a:pPr>
            <a:r>
              <a:rPr lang="en-US" sz="1100" b="1">
                <a:solidFill>
                  <a:srgbClr val="142235"/>
                </a:solidFill>
                <a:latin typeface="Aptos" panose="020B0004020202020204" pitchFamily="34" charset="0"/>
              </a:rPr>
              <a:t>03</a:t>
            </a:r>
          </a:p>
        </p:txBody>
      </p:sp>
      <p:sp>
        <p:nvSpPr>
          <p:cNvPr id="8" name="Rectangle 7">
            <a:extLst>
              <a:ext uri="{FF2B5EF4-FFF2-40B4-BE49-F238E27FC236}">
                <a16:creationId xmlns:a16="http://schemas.microsoft.com/office/drawing/2014/main" id="{28226993-A0DA-CF8E-803D-0A33040D5718}"/>
              </a:ext>
            </a:extLst>
          </p:cNvPr>
          <p:cNvSpPr/>
          <p:nvPr/>
        </p:nvSpPr>
        <p:spPr>
          <a:xfrm>
            <a:off x="584200" y="1803400"/>
            <a:ext cx="7632700" cy="40767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ctual SiteTrace application. Local isolated test environment, synthetic data. Source: dashboard-focus.png">
            <a:extLst>
              <a:ext uri="{FF2B5EF4-FFF2-40B4-BE49-F238E27FC236}">
                <a16:creationId xmlns:a16="http://schemas.microsoft.com/office/drawing/2014/main" id="{934B2FEB-077C-4D66-23C0-60DAED06B2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1963" y="1879600"/>
            <a:ext cx="7477174" cy="3911600"/>
          </a:xfrm>
          <a:prstGeom prst="rect">
            <a:avLst/>
          </a:prstGeom>
        </p:spPr>
      </p:pic>
      <p:sp>
        <p:nvSpPr>
          <p:cNvPr id="11" name="Rectangle 10">
            <a:extLst>
              <a:ext uri="{FF2B5EF4-FFF2-40B4-BE49-F238E27FC236}">
                <a16:creationId xmlns:a16="http://schemas.microsoft.com/office/drawing/2014/main" id="{B31F2155-07B7-A355-8886-5438B6EB89A1}"/>
              </a:ext>
            </a:extLst>
          </p:cNvPr>
          <p:cNvSpPr/>
          <p:nvPr/>
        </p:nvSpPr>
        <p:spPr>
          <a:xfrm>
            <a:off x="584200" y="1511300"/>
            <a:ext cx="2298700" cy="2794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1729141-AA09-063A-2592-AC7D1DB0C0A4}"/>
              </a:ext>
            </a:extLst>
          </p:cNvPr>
          <p:cNvSpPr txBox="1"/>
          <p:nvPr/>
        </p:nvSpPr>
        <p:spPr>
          <a:xfrm>
            <a:off x="685800" y="1562100"/>
            <a:ext cx="2095500" cy="190500"/>
          </a:xfrm>
          <a:prstGeom prst="rect">
            <a:avLst/>
          </a:prstGeom>
          <a:noFill/>
        </p:spPr>
        <p:txBody>
          <a:bodyPr vert="horz" wrap="square" lIns="0" tIns="0" rIns="0" bIns="0" rtlCol="0" anchor="t">
            <a:noAutofit/>
          </a:bodyPr>
          <a:lstStyle/>
          <a:p>
            <a:pPr>
              <a:lnSpc>
                <a:spcPct val="105000"/>
              </a:lnSpc>
            </a:pPr>
            <a:r>
              <a:rPr lang="en-US" sz="1050" b="1">
                <a:solidFill>
                  <a:srgbClr val="66717D"/>
                </a:solidFill>
                <a:latin typeface="Aptos" panose="020B0004020202020204" pitchFamily="34" charset="0"/>
              </a:rPr>
              <a:t>Inventory &amp; availability</a:t>
            </a:r>
          </a:p>
        </p:txBody>
      </p:sp>
      <p:sp>
        <p:nvSpPr>
          <p:cNvPr id="13" name="Rectangle 12">
            <a:extLst>
              <a:ext uri="{FF2B5EF4-FFF2-40B4-BE49-F238E27FC236}">
                <a16:creationId xmlns:a16="http://schemas.microsoft.com/office/drawing/2014/main" id="{CBBCE4C2-3C6E-576B-D756-2B83A060F874}"/>
              </a:ext>
            </a:extLst>
          </p:cNvPr>
          <p:cNvSpPr/>
          <p:nvPr/>
        </p:nvSpPr>
        <p:spPr>
          <a:xfrm>
            <a:off x="3060700" y="1511300"/>
            <a:ext cx="1968500" cy="2794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236178E-B9EB-09C2-8DA9-8D69FCD0E73D}"/>
              </a:ext>
            </a:extLst>
          </p:cNvPr>
          <p:cNvSpPr txBox="1"/>
          <p:nvPr/>
        </p:nvSpPr>
        <p:spPr>
          <a:xfrm>
            <a:off x="3162300" y="1562100"/>
            <a:ext cx="1765300" cy="190500"/>
          </a:xfrm>
          <a:prstGeom prst="rect">
            <a:avLst/>
          </a:prstGeom>
          <a:noFill/>
        </p:spPr>
        <p:txBody>
          <a:bodyPr vert="horz" wrap="square" lIns="0" tIns="0" rIns="0" bIns="0" rtlCol="0" anchor="t">
            <a:noAutofit/>
          </a:bodyPr>
          <a:lstStyle/>
          <a:p>
            <a:pPr>
              <a:lnSpc>
                <a:spcPct val="105000"/>
              </a:lnSpc>
            </a:pPr>
            <a:r>
              <a:rPr lang="en-US" sz="1050" b="1">
                <a:solidFill>
                  <a:srgbClr val="66717D"/>
                </a:solidFill>
                <a:latin typeface="Aptos" panose="020B0004020202020204" pitchFamily="34" charset="0"/>
              </a:rPr>
              <a:t>Project allocation</a:t>
            </a:r>
          </a:p>
        </p:txBody>
      </p:sp>
      <p:sp>
        <p:nvSpPr>
          <p:cNvPr id="15" name="Rectangle 14">
            <a:extLst>
              <a:ext uri="{FF2B5EF4-FFF2-40B4-BE49-F238E27FC236}">
                <a16:creationId xmlns:a16="http://schemas.microsoft.com/office/drawing/2014/main" id="{CACFA6AB-B009-7120-7A30-394195DD239B}"/>
              </a:ext>
            </a:extLst>
          </p:cNvPr>
          <p:cNvSpPr/>
          <p:nvPr/>
        </p:nvSpPr>
        <p:spPr>
          <a:xfrm>
            <a:off x="5207000" y="1511300"/>
            <a:ext cx="1714500" cy="2794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172A45B-A7CE-C270-EB30-9D7317012C97}"/>
              </a:ext>
            </a:extLst>
          </p:cNvPr>
          <p:cNvSpPr txBox="1"/>
          <p:nvPr/>
        </p:nvSpPr>
        <p:spPr>
          <a:xfrm>
            <a:off x="5308600" y="1562100"/>
            <a:ext cx="1511300" cy="190500"/>
          </a:xfrm>
          <a:prstGeom prst="rect">
            <a:avLst/>
          </a:prstGeom>
          <a:noFill/>
        </p:spPr>
        <p:txBody>
          <a:bodyPr vert="horz" wrap="square" lIns="0" tIns="0" rIns="0" bIns="0" rtlCol="0" anchor="t">
            <a:noAutofit/>
          </a:bodyPr>
          <a:lstStyle/>
          <a:p>
            <a:pPr>
              <a:lnSpc>
                <a:spcPct val="105000"/>
              </a:lnSpc>
            </a:pPr>
            <a:r>
              <a:rPr lang="en-US" sz="1050" b="1">
                <a:solidFill>
                  <a:srgbClr val="66717D"/>
                </a:solidFill>
                <a:latin typeface="Aptos" panose="020B0004020202020204" pitchFamily="34" charset="0"/>
              </a:rPr>
              <a:t>Review queues</a:t>
            </a:r>
          </a:p>
        </p:txBody>
      </p:sp>
      <p:sp>
        <p:nvSpPr>
          <p:cNvPr id="17" name="TextBox 16">
            <a:extLst>
              <a:ext uri="{FF2B5EF4-FFF2-40B4-BE49-F238E27FC236}">
                <a16:creationId xmlns:a16="http://schemas.microsoft.com/office/drawing/2014/main" id="{C97ACC61-88E6-0A01-4C3E-FE4C1B42960B}"/>
              </a:ext>
            </a:extLst>
          </p:cNvPr>
          <p:cNvSpPr txBox="1"/>
          <p:nvPr/>
        </p:nvSpPr>
        <p:spPr>
          <a:xfrm>
            <a:off x="8585200" y="1790700"/>
            <a:ext cx="3022600" cy="304800"/>
          </a:xfrm>
          <a:prstGeom prst="rect">
            <a:avLst/>
          </a:prstGeom>
          <a:noFill/>
        </p:spPr>
        <p:txBody>
          <a:bodyPr vert="horz" wrap="square" lIns="0" tIns="0" rIns="0" bIns="0" rtlCol="0" anchor="t">
            <a:noAutofit/>
          </a:bodyPr>
          <a:lstStyle/>
          <a:p>
            <a:pPr>
              <a:lnSpc>
                <a:spcPct val="105000"/>
              </a:lnSpc>
            </a:pPr>
            <a:r>
              <a:rPr lang="en-US" sz="1650" b="1">
                <a:solidFill>
                  <a:srgbClr val="142235"/>
                </a:solidFill>
                <a:latin typeface="Aptos" panose="020B0004020202020204" pitchFamily="34" charset="0"/>
              </a:rPr>
              <a:t>Admin</a:t>
            </a:r>
          </a:p>
        </p:txBody>
      </p:sp>
      <p:sp>
        <p:nvSpPr>
          <p:cNvPr id="18" name="TextBox 17">
            <a:extLst>
              <a:ext uri="{FF2B5EF4-FFF2-40B4-BE49-F238E27FC236}">
                <a16:creationId xmlns:a16="http://schemas.microsoft.com/office/drawing/2014/main" id="{CBC4AA67-7703-2AAC-39B9-8DA96C79D018}"/>
              </a:ext>
            </a:extLst>
          </p:cNvPr>
          <p:cNvSpPr txBox="1"/>
          <p:nvPr/>
        </p:nvSpPr>
        <p:spPr>
          <a:xfrm>
            <a:off x="8585200" y="2146300"/>
            <a:ext cx="3022600" cy="533400"/>
          </a:xfrm>
          <a:prstGeom prst="rect">
            <a:avLst/>
          </a:prstGeom>
          <a:noFill/>
        </p:spPr>
        <p:txBody>
          <a:bodyPr vert="horz" wrap="square" lIns="0" tIns="0" rIns="0" bIns="0" rtlCol="0" anchor="t">
            <a:noAutofit/>
          </a:bodyPr>
          <a:lstStyle/>
          <a:p>
            <a:pPr>
              <a:lnSpc>
                <a:spcPct val="105000"/>
              </a:lnSpc>
            </a:pPr>
            <a:r>
              <a:rPr lang="en-US" sz="1450">
                <a:solidFill>
                  <a:srgbClr val="66717D"/>
                </a:solidFill>
                <a:latin typeface="Aptos" panose="020B0004020202020204" pitchFamily="34" charset="0"/>
              </a:rPr>
              <a:t>Company overview; request review</a:t>
            </a:r>
          </a:p>
          <a:p>
            <a:pPr>
              <a:lnSpc>
                <a:spcPct val="105000"/>
              </a:lnSpc>
            </a:pPr>
            <a:r>
              <a:rPr lang="en-US" sz="1450">
                <a:solidFill>
                  <a:srgbClr val="66717D"/>
                </a:solidFill>
                <a:latin typeface="Aptos" panose="020B0004020202020204" pitchFamily="34" charset="0"/>
              </a:rPr>
              <a:t>and equipment release.</a:t>
            </a:r>
          </a:p>
        </p:txBody>
      </p:sp>
      <p:sp>
        <p:nvSpPr>
          <p:cNvPr id="19" name="TextBox 18">
            <a:extLst>
              <a:ext uri="{FF2B5EF4-FFF2-40B4-BE49-F238E27FC236}">
                <a16:creationId xmlns:a16="http://schemas.microsoft.com/office/drawing/2014/main" id="{984E313E-5878-1A5E-2ABD-4B2F9D72B022}"/>
              </a:ext>
            </a:extLst>
          </p:cNvPr>
          <p:cNvSpPr txBox="1"/>
          <p:nvPr/>
        </p:nvSpPr>
        <p:spPr>
          <a:xfrm>
            <a:off x="8585200" y="2844800"/>
            <a:ext cx="3022600" cy="304800"/>
          </a:xfrm>
          <a:prstGeom prst="rect">
            <a:avLst/>
          </a:prstGeom>
          <a:noFill/>
        </p:spPr>
        <p:txBody>
          <a:bodyPr vert="horz" wrap="square" lIns="0" tIns="0" rIns="0" bIns="0" rtlCol="0" anchor="t">
            <a:noAutofit/>
          </a:bodyPr>
          <a:lstStyle/>
          <a:p>
            <a:pPr>
              <a:lnSpc>
                <a:spcPct val="105000"/>
              </a:lnSpc>
            </a:pPr>
            <a:r>
              <a:rPr lang="en-US" sz="1650" b="1">
                <a:solidFill>
                  <a:srgbClr val="142235"/>
                </a:solidFill>
                <a:latin typeface="Aptos" panose="020B0004020202020204" pitchFamily="34" charset="0"/>
              </a:rPr>
              <a:t>Engineer · Architect</a:t>
            </a:r>
          </a:p>
        </p:txBody>
      </p:sp>
      <p:sp>
        <p:nvSpPr>
          <p:cNvPr id="20" name="TextBox 19">
            <a:extLst>
              <a:ext uri="{FF2B5EF4-FFF2-40B4-BE49-F238E27FC236}">
                <a16:creationId xmlns:a16="http://schemas.microsoft.com/office/drawing/2014/main" id="{247403FF-BAFD-13F6-A3DA-A1B32C586C6D}"/>
              </a:ext>
            </a:extLst>
          </p:cNvPr>
          <p:cNvSpPr txBox="1"/>
          <p:nvPr/>
        </p:nvSpPr>
        <p:spPr>
          <a:xfrm>
            <a:off x="8585200" y="3200400"/>
            <a:ext cx="3022600" cy="533400"/>
          </a:xfrm>
          <a:prstGeom prst="rect">
            <a:avLst/>
          </a:prstGeom>
          <a:noFill/>
        </p:spPr>
        <p:txBody>
          <a:bodyPr vert="horz" wrap="square" lIns="0" tIns="0" rIns="0" bIns="0" rtlCol="0" anchor="t">
            <a:noAutofit/>
          </a:bodyPr>
          <a:lstStyle/>
          <a:p>
            <a:pPr>
              <a:lnSpc>
                <a:spcPct val="105000"/>
              </a:lnSpc>
            </a:pPr>
            <a:r>
              <a:rPr lang="en-US" sz="1450">
                <a:solidFill>
                  <a:srgbClr val="66717D"/>
                </a:solidFill>
                <a:latin typeface="Aptos" panose="020B0004020202020204" pitchFamily="34" charset="0"/>
              </a:rPr>
              <a:t>Own custody and assigned projects;</a:t>
            </a:r>
          </a:p>
          <a:p>
            <a:pPr>
              <a:lnSpc>
                <a:spcPct val="105000"/>
              </a:lnSpc>
            </a:pPr>
            <a:r>
              <a:rPr lang="en-US" sz="1450">
                <a:solidFill>
                  <a:srgbClr val="66717D"/>
                </a:solidFill>
                <a:latin typeface="Aptos" panose="020B0004020202020204" pitchFamily="34" charset="0"/>
              </a:rPr>
              <a:t>requests, transfers and receipt.</a:t>
            </a:r>
          </a:p>
        </p:txBody>
      </p:sp>
      <p:sp>
        <p:nvSpPr>
          <p:cNvPr id="21" name="TextBox 20">
            <a:extLst>
              <a:ext uri="{FF2B5EF4-FFF2-40B4-BE49-F238E27FC236}">
                <a16:creationId xmlns:a16="http://schemas.microsoft.com/office/drawing/2014/main" id="{CC7C3936-0EA8-78A8-E053-E8D0D12B8FC2}"/>
              </a:ext>
            </a:extLst>
          </p:cNvPr>
          <p:cNvSpPr txBox="1"/>
          <p:nvPr/>
        </p:nvSpPr>
        <p:spPr>
          <a:xfrm>
            <a:off x="8585200" y="3898900"/>
            <a:ext cx="3022600" cy="304800"/>
          </a:xfrm>
          <a:prstGeom prst="rect">
            <a:avLst/>
          </a:prstGeom>
          <a:noFill/>
        </p:spPr>
        <p:txBody>
          <a:bodyPr vert="horz" wrap="square" lIns="0" tIns="0" rIns="0" bIns="0" rtlCol="0" anchor="t">
            <a:noAutofit/>
          </a:bodyPr>
          <a:lstStyle/>
          <a:p>
            <a:pPr>
              <a:lnSpc>
                <a:spcPct val="105000"/>
              </a:lnSpc>
            </a:pPr>
            <a:r>
              <a:rPr lang="en-US" sz="1650" b="1">
                <a:solidFill>
                  <a:srgbClr val="142235"/>
                </a:solidFill>
                <a:latin typeface="Aptos" panose="020B0004020202020204" pitchFamily="34" charset="0"/>
              </a:rPr>
              <a:t>Tool Handler</a:t>
            </a:r>
          </a:p>
        </p:txBody>
      </p:sp>
      <p:sp>
        <p:nvSpPr>
          <p:cNvPr id="22" name="TextBox 21">
            <a:extLst>
              <a:ext uri="{FF2B5EF4-FFF2-40B4-BE49-F238E27FC236}">
                <a16:creationId xmlns:a16="http://schemas.microsoft.com/office/drawing/2014/main" id="{0DF123F0-0DC1-088C-8E91-7F0CBEDB1444}"/>
              </a:ext>
            </a:extLst>
          </p:cNvPr>
          <p:cNvSpPr txBox="1"/>
          <p:nvPr/>
        </p:nvSpPr>
        <p:spPr>
          <a:xfrm>
            <a:off x="8585200" y="4254500"/>
            <a:ext cx="3022600" cy="533400"/>
          </a:xfrm>
          <a:prstGeom prst="rect">
            <a:avLst/>
          </a:prstGeom>
          <a:noFill/>
        </p:spPr>
        <p:txBody>
          <a:bodyPr vert="horz" wrap="square" lIns="0" tIns="0" rIns="0" bIns="0" rtlCol="0" anchor="t">
            <a:noAutofit/>
          </a:bodyPr>
          <a:lstStyle/>
          <a:p>
            <a:pPr>
              <a:lnSpc>
                <a:spcPct val="105000"/>
              </a:lnSpc>
            </a:pPr>
            <a:r>
              <a:rPr lang="en-US" sz="1450">
                <a:solidFill>
                  <a:srgbClr val="66717D"/>
                </a:solidFill>
                <a:latin typeface="Aptos" panose="020B0004020202020204" pitchFamily="34" charset="0"/>
              </a:rPr>
              <a:t>Inventory monitoring; dispatch</a:t>
            </a:r>
          </a:p>
          <a:p>
            <a:pPr>
              <a:lnSpc>
                <a:spcPct val="105000"/>
              </a:lnSpc>
            </a:pPr>
            <a:r>
              <a:rPr lang="en-US" sz="1450">
                <a:solidFill>
                  <a:srgbClr val="66717D"/>
                </a:solidFill>
                <a:latin typeface="Aptos" panose="020B0004020202020204" pitchFamily="34" charset="0"/>
              </a:rPr>
              <a:t>of available, unheld equipment.</a:t>
            </a:r>
          </a:p>
        </p:txBody>
      </p:sp>
      <p:sp>
        <p:nvSpPr>
          <p:cNvPr id="23" name="TextBox 22">
            <a:extLst>
              <a:ext uri="{FF2B5EF4-FFF2-40B4-BE49-F238E27FC236}">
                <a16:creationId xmlns:a16="http://schemas.microsoft.com/office/drawing/2014/main" id="{A4A4F40C-4229-16E4-4683-93F5B5F06B1E}"/>
              </a:ext>
            </a:extLst>
          </p:cNvPr>
          <p:cNvSpPr txBox="1"/>
          <p:nvPr/>
        </p:nvSpPr>
        <p:spPr>
          <a:xfrm>
            <a:off x="8585200" y="4953000"/>
            <a:ext cx="3022600" cy="304800"/>
          </a:xfrm>
          <a:prstGeom prst="rect">
            <a:avLst/>
          </a:prstGeom>
          <a:noFill/>
        </p:spPr>
        <p:txBody>
          <a:bodyPr vert="horz" wrap="square" lIns="0" tIns="0" rIns="0" bIns="0" rtlCol="0" anchor="t">
            <a:noAutofit/>
          </a:bodyPr>
          <a:lstStyle/>
          <a:p>
            <a:pPr>
              <a:lnSpc>
                <a:spcPct val="105000"/>
              </a:lnSpc>
            </a:pPr>
            <a:r>
              <a:rPr lang="en-US" sz="1650" b="1">
                <a:solidFill>
                  <a:srgbClr val="142235"/>
                </a:solidFill>
                <a:latin typeface="Aptos" panose="020B0004020202020204" pitchFamily="34" charset="0"/>
              </a:rPr>
              <a:t>Secretary</a:t>
            </a:r>
          </a:p>
        </p:txBody>
      </p:sp>
      <p:sp>
        <p:nvSpPr>
          <p:cNvPr id="24" name="TextBox 23">
            <a:extLst>
              <a:ext uri="{FF2B5EF4-FFF2-40B4-BE49-F238E27FC236}">
                <a16:creationId xmlns:a16="http://schemas.microsoft.com/office/drawing/2014/main" id="{C1C2D5E9-09C4-2D1F-D0C4-E919909F2903}"/>
              </a:ext>
            </a:extLst>
          </p:cNvPr>
          <p:cNvSpPr txBox="1"/>
          <p:nvPr/>
        </p:nvSpPr>
        <p:spPr>
          <a:xfrm>
            <a:off x="8585200" y="5308600"/>
            <a:ext cx="3022600" cy="533400"/>
          </a:xfrm>
          <a:prstGeom prst="rect">
            <a:avLst/>
          </a:prstGeom>
          <a:noFill/>
        </p:spPr>
        <p:txBody>
          <a:bodyPr vert="horz" wrap="square" lIns="0" tIns="0" rIns="0" bIns="0" rtlCol="0" anchor="t">
            <a:noAutofit/>
          </a:bodyPr>
          <a:lstStyle/>
          <a:p>
            <a:pPr>
              <a:lnSpc>
                <a:spcPct val="105000"/>
              </a:lnSpc>
            </a:pPr>
            <a:r>
              <a:rPr lang="en-US" sz="1450">
                <a:solidFill>
                  <a:srgbClr val="66717D"/>
                </a:solidFill>
                <a:latin typeface="Aptos" panose="020B0004020202020204" pitchFamily="34" charset="0"/>
              </a:rPr>
              <a:t>Consumables and purchasing;</a:t>
            </a:r>
          </a:p>
          <a:p>
            <a:pPr>
              <a:lnSpc>
                <a:spcPct val="105000"/>
              </a:lnSpc>
            </a:pPr>
            <a:r>
              <a:rPr lang="en-US" sz="1450">
                <a:solidFill>
                  <a:srgbClr val="66717D"/>
                </a:solidFill>
                <a:latin typeface="Aptos" panose="020B0004020202020204" pitchFamily="34" charset="0"/>
              </a:rPr>
              <a:t>equipment routes are restricted.</a:t>
            </a:r>
          </a:p>
        </p:txBody>
      </p:sp>
      <p:sp>
        <p:nvSpPr>
          <p:cNvPr id="25" name="TextBox 24">
            <a:extLst>
              <a:ext uri="{FF2B5EF4-FFF2-40B4-BE49-F238E27FC236}">
                <a16:creationId xmlns:a16="http://schemas.microsoft.com/office/drawing/2014/main" id="{92B81935-D91C-081A-1CAA-52FA261B449F}"/>
              </a:ext>
            </a:extLst>
          </p:cNvPr>
          <p:cNvSpPr txBox="1"/>
          <p:nvPr/>
        </p:nvSpPr>
        <p:spPr>
          <a:xfrm>
            <a:off x="584200" y="6121400"/>
            <a:ext cx="11023600" cy="203200"/>
          </a:xfrm>
          <a:prstGeom prst="rect">
            <a:avLst/>
          </a:prstGeom>
          <a:noFill/>
        </p:spPr>
        <p:txBody>
          <a:bodyPr vert="horz" wrap="square" lIns="0" tIns="0" rIns="0" bIns="0" rtlCol="0" anchor="t">
            <a:noAutofit/>
          </a:bodyPr>
          <a:lstStyle/>
          <a:p>
            <a:pPr>
              <a:lnSpc>
                <a:spcPct val="105000"/>
              </a:lnSpc>
            </a:pPr>
            <a:r>
              <a:rPr lang="en-US" sz="950" b="1">
                <a:solidFill>
                  <a:srgbClr val="66717D"/>
                </a:solidFill>
                <a:latin typeface="Aptos" panose="020B0004020202020204" pitchFamily="34" charset="0"/>
              </a:rPr>
              <a:t>ACTUAL APPLICATION · LOCAL TEST ENVIRONMENT · SYNTHETIC DATA</a:t>
            </a:r>
          </a:p>
        </p:txBody>
      </p:sp>
    </p:spTree>
    <p:extLst>
      <p:ext uri="{BB962C8B-B14F-4D97-AF65-F5344CB8AC3E}">
        <p14:creationId xmlns:p14="http://schemas.microsoft.com/office/powerpoint/2010/main" val="4273251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BA7AB0-5755-8690-2A4E-E43731A64812}"/>
              </a:ext>
            </a:extLst>
          </p:cNvPr>
          <p:cNvSpPr txBox="1"/>
          <p:nvPr/>
        </p:nvSpPr>
        <p:spPr>
          <a:xfrm>
            <a:off x="584200" y="317500"/>
            <a:ext cx="10160000" cy="215900"/>
          </a:xfrm>
          <a:prstGeom prst="rect">
            <a:avLst/>
          </a:prstGeom>
          <a:noFill/>
        </p:spPr>
        <p:txBody>
          <a:bodyPr vert="horz" wrap="square" lIns="0" tIns="0" rIns="0" bIns="0" rtlCol="0" anchor="t">
            <a:noAutofit/>
          </a:bodyPr>
          <a:lstStyle/>
          <a:p>
            <a:pPr>
              <a:lnSpc>
                <a:spcPct val="105000"/>
              </a:lnSpc>
            </a:pPr>
            <a:r>
              <a:rPr lang="en-US" sz="1050" b="1" spc="150">
                <a:solidFill>
                  <a:srgbClr val="C4A15A"/>
                </a:solidFill>
                <a:latin typeface="Aptos" panose="020B0004020202020204" pitchFamily="34" charset="0"/>
              </a:rPr>
              <a:t>EQUIPMENT ACCOUNTABILITY</a:t>
            </a:r>
          </a:p>
        </p:txBody>
      </p:sp>
      <p:sp>
        <p:nvSpPr>
          <p:cNvPr id="3" name="Slide title">
            <a:extLst>
              <a:ext uri="{FF2B5EF4-FFF2-40B4-BE49-F238E27FC236}">
                <a16:creationId xmlns:a16="http://schemas.microsoft.com/office/drawing/2014/main" id="{88574A48-64CD-7C2A-1E03-B47ECB5067C0}"/>
              </a:ext>
            </a:extLst>
          </p:cNvPr>
          <p:cNvSpPr txBox="1"/>
          <p:nvPr/>
        </p:nvSpPr>
        <p:spPr>
          <a:xfrm>
            <a:off x="584200" y="698500"/>
            <a:ext cx="11023600" cy="914400"/>
          </a:xfrm>
          <a:prstGeom prst="rect">
            <a:avLst/>
          </a:prstGeom>
          <a:noFill/>
        </p:spPr>
        <p:txBody>
          <a:bodyPr vert="horz" wrap="square" lIns="0" tIns="0" rIns="0" bIns="0" rtlCol="0" anchor="t">
            <a:noAutofit/>
          </a:bodyPr>
          <a:lstStyle/>
          <a:p>
            <a:pPr>
              <a:lnSpc>
                <a:spcPct val="105000"/>
              </a:lnSpc>
            </a:pPr>
            <a:r>
              <a:rPr lang="en-US" sz="3000" b="1">
                <a:solidFill>
                  <a:srgbClr val="142235"/>
                </a:solidFill>
                <a:latin typeface="Aptos" panose="020B0004020202020204" pitchFamily="34" charset="0"/>
              </a:rPr>
              <a:t>Knowing What Equipment Exists and Who Is Responsible</a:t>
            </a:r>
          </a:p>
        </p:txBody>
      </p:sp>
      <p:cxnSp>
        <p:nvCxnSpPr>
          <p:cNvPr id="4" name="Straight Connector 3">
            <a:extLst>
              <a:ext uri="{FF2B5EF4-FFF2-40B4-BE49-F238E27FC236}">
                <a16:creationId xmlns:a16="http://schemas.microsoft.com/office/drawing/2014/main" id="{8B44867F-D708-7596-3B23-BF47CC406B0F}"/>
              </a:ext>
            </a:extLst>
          </p:cNvPr>
          <p:cNvCxnSpPr/>
          <p:nvPr/>
        </p:nvCxnSpPr>
        <p:spPr>
          <a:xfrm>
            <a:off x="584200" y="6464300"/>
            <a:ext cx="11023600" cy="0"/>
          </a:xfrm>
          <a:prstGeom prst="line">
            <a:avLst/>
          </a:prstGeom>
          <a:ln w="8890">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35FDACD-FAE0-6BDE-1256-55E65F5DD623}"/>
              </a:ext>
            </a:extLst>
          </p:cNvPr>
          <p:cNvSpPr txBox="1"/>
          <p:nvPr/>
        </p:nvSpPr>
        <p:spPr>
          <a:xfrm>
            <a:off x="584200" y="6578600"/>
            <a:ext cx="2349500" cy="177800"/>
          </a:xfrm>
          <a:prstGeom prst="rect">
            <a:avLst/>
          </a:prstGeom>
          <a:noFill/>
        </p:spPr>
        <p:txBody>
          <a:bodyPr vert="horz" wrap="square" lIns="0" tIns="0" rIns="0" bIns="0" rtlCol="0" anchor="t">
            <a:noAutofit/>
          </a:bodyPr>
          <a:lstStyle/>
          <a:p>
            <a:pPr>
              <a:lnSpc>
                <a:spcPct val="105000"/>
              </a:lnSpc>
            </a:pPr>
            <a:r>
              <a:rPr lang="en-US" sz="950" b="1">
                <a:solidFill>
                  <a:srgbClr val="66717D"/>
                </a:solidFill>
                <a:latin typeface="Aptos" panose="020B0004020202020204" pitchFamily="34" charset="0"/>
              </a:rPr>
              <a:t>MCPA / SITETRACE</a:t>
            </a:r>
          </a:p>
        </p:txBody>
      </p:sp>
      <p:sp>
        <p:nvSpPr>
          <p:cNvPr id="6" name="TextBox 5">
            <a:extLst>
              <a:ext uri="{FF2B5EF4-FFF2-40B4-BE49-F238E27FC236}">
                <a16:creationId xmlns:a16="http://schemas.microsoft.com/office/drawing/2014/main" id="{BA45B176-45C6-D4B1-D493-6226A3F2DB3F}"/>
              </a:ext>
            </a:extLst>
          </p:cNvPr>
          <p:cNvSpPr txBox="1"/>
          <p:nvPr/>
        </p:nvSpPr>
        <p:spPr>
          <a:xfrm>
            <a:off x="3429000" y="6578600"/>
            <a:ext cx="7048500" cy="177800"/>
          </a:xfrm>
          <a:prstGeom prst="rect">
            <a:avLst/>
          </a:prstGeom>
          <a:noFill/>
        </p:spPr>
        <p:txBody>
          <a:bodyPr vert="horz" wrap="square" lIns="0" tIns="0" rIns="0" bIns="0" rtlCol="0" anchor="t">
            <a:noAutofit/>
          </a:bodyPr>
          <a:lstStyle/>
          <a:p>
            <a:pPr algn="r">
              <a:lnSpc>
                <a:spcPct val="105000"/>
              </a:lnSpc>
            </a:pPr>
            <a:r>
              <a:rPr lang="en-US" sz="950">
                <a:solidFill>
                  <a:srgbClr val="66717D"/>
                </a:solidFill>
                <a:latin typeface="Aptos" panose="020B0004020202020204" pitchFamily="34" charset="0"/>
              </a:rPr>
              <a:t>Code + isolated application evidence · 24 October 2026</a:t>
            </a:r>
          </a:p>
        </p:txBody>
      </p:sp>
      <p:sp>
        <p:nvSpPr>
          <p:cNvPr id="7" name="TextBox 6">
            <a:extLst>
              <a:ext uri="{FF2B5EF4-FFF2-40B4-BE49-F238E27FC236}">
                <a16:creationId xmlns:a16="http://schemas.microsoft.com/office/drawing/2014/main" id="{D171440E-BD24-6889-0875-1692787C9EE6}"/>
              </a:ext>
            </a:extLst>
          </p:cNvPr>
          <p:cNvSpPr txBox="1"/>
          <p:nvPr/>
        </p:nvSpPr>
        <p:spPr>
          <a:xfrm>
            <a:off x="11010900" y="6553200"/>
            <a:ext cx="596900" cy="215900"/>
          </a:xfrm>
          <a:prstGeom prst="rect">
            <a:avLst/>
          </a:prstGeom>
          <a:noFill/>
        </p:spPr>
        <p:txBody>
          <a:bodyPr vert="horz" wrap="square" lIns="0" tIns="0" rIns="0" bIns="0" rtlCol="0" anchor="t">
            <a:noAutofit/>
          </a:bodyPr>
          <a:lstStyle/>
          <a:p>
            <a:pPr algn="r">
              <a:lnSpc>
                <a:spcPct val="105000"/>
              </a:lnSpc>
            </a:pPr>
            <a:r>
              <a:rPr lang="en-US" sz="1100" b="1">
                <a:solidFill>
                  <a:srgbClr val="142235"/>
                </a:solidFill>
                <a:latin typeface="Aptos" panose="020B0004020202020204" pitchFamily="34" charset="0"/>
              </a:rPr>
              <a:t>04</a:t>
            </a:r>
          </a:p>
        </p:txBody>
      </p:sp>
      <p:sp>
        <p:nvSpPr>
          <p:cNvPr id="8" name="TextBox 7">
            <a:extLst>
              <a:ext uri="{FF2B5EF4-FFF2-40B4-BE49-F238E27FC236}">
                <a16:creationId xmlns:a16="http://schemas.microsoft.com/office/drawing/2014/main" id="{314A446F-CE93-7CAD-2872-FA2EB0DBEA8F}"/>
              </a:ext>
            </a:extLst>
          </p:cNvPr>
          <p:cNvSpPr txBox="1"/>
          <p:nvPr/>
        </p:nvSpPr>
        <p:spPr>
          <a:xfrm>
            <a:off x="584200" y="1676400"/>
            <a:ext cx="6350000" cy="241300"/>
          </a:xfrm>
          <a:prstGeom prst="rect">
            <a:avLst/>
          </a:prstGeom>
          <a:noFill/>
        </p:spPr>
        <p:txBody>
          <a:bodyPr vert="horz" wrap="square" lIns="0" tIns="0" rIns="0" bIns="0" rtlCol="0" anchor="t">
            <a:noAutofit/>
          </a:bodyPr>
          <a:lstStyle/>
          <a:p>
            <a:pPr>
              <a:lnSpc>
                <a:spcPct val="105000"/>
              </a:lnSpc>
            </a:pPr>
            <a:r>
              <a:rPr lang="en-US" sz="1100" b="1">
                <a:solidFill>
                  <a:srgbClr val="66717D"/>
                </a:solidFill>
                <a:latin typeface="Aptos" panose="020B0004020202020204" pitchFamily="34" charset="0"/>
              </a:rPr>
              <a:t>EQUIPMENT REGISTER</a:t>
            </a:r>
          </a:p>
        </p:txBody>
      </p:sp>
      <p:sp>
        <p:nvSpPr>
          <p:cNvPr id="9" name="TextBox 8">
            <a:extLst>
              <a:ext uri="{FF2B5EF4-FFF2-40B4-BE49-F238E27FC236}">
                <a16:creationId xmlns:a16="http://schemas.microsoft.com/office/drawing/2014/main" id="{12938D9F-9C8C-B5E1-D39F-39C2BDF718FA}"/>
              </a:ext>
            </a:extLst>
          </p:cNvPr>
          <p:cNvSpPr txBox="1"/>
          <p:nvPr/>
        </p:nvSpPr>
        <p:spPr>
          <a:xfrm>
            <a:off x="8166100" y="1676400"/>
            <a:ext cx="3441700" cy="241300"/>
          </a:xfrm>
          <a:prstGeom prst="rect">
            <a:avLst/>
          </a:prstGeom>
          <a:noFill/>
        </p:spPr>
        <p:txBody>
          <a:bodyPr vert="horz" wrap="square" lIns="0" tIns="0" rIns="0" bIns="0" rtlCol="0" anchor="t">
            <a:noAutofit/>
          </a:bodyPr>
          <a:lstStyle/>
          <a:p>
            <a:pPr>
              <a:lnSpc>
                <a:spcPct val="105000"/>
              </a:lnSpc>
            </a:pPr>
            <a:r>
              <a:rPr lang="en-US" sz="1100" b="1">
                <a:solidFill>
                  <a:srgbClr val="66717D"/>
                </a:solidFill>
                <a:latin typeface="Aptos" panose="020B0004020202020204" pitchFamily="34" charset="0"/>
              </a:rPr>
              <a:t>RECORDED CUSTODY</a:t>
            </a:r>
          </a:p>
        </p:txBody>
      </p:sp>
      <p:sp>
        <p:nvSpPr>
          <p:cNvPr id="10" name="Rectangle 9">
            <a:extLst>
              <a:ext uri="{FF2B5EF4-FFF2-40B4-BE49-F238E27FC236}">
                <a16:creationId xmlns:a16="http://schemas.microsoft.com/office/drawing/2014/main" id="{A3D2B91F-B402-6FB5-2179-5B7396324714}"/>
              </a:ext>
            </a:extLst>
          </p:cNvPr>
          <p:cNvSpPr/>
          <p:nvPr/>
        </p:nvSpPr>
        <p:spPr>
          <a:xfrm>
            <a:off x="584200" y="1993900"/>
            <a:ext cx="7137400" cy="38862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ctual SiteTrace application. Local isolated test environment, synthetic data. Source: equipment-focus.png">
            <a:extLst>
              <a:ext uri="{FF2B5EF4-FFF2-40B4-BE49-F238E27FC236}">
                <a16:creationId xmlns:a16="http://schemas.microsoft.com/office/drawing/2014/main" id="{95B209FA-16AC-68BB-273C-F4A56778093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0400" y="2071416"/>
            <a:ext cx="6985000" cy="3794668"/>
          </a:xfrm>
          <a:prstGeom prst="rect">
            <a:avLst/>
          </a:prstGeom>
        </p:spPr>
      </p:pic>
      <p:pic>
        <p:nvPicPr>
          <p:cNvPr id="14" name="Picture 13" descr="Actual SiteTrace application. Local isolated test environment, synthetic data. Source: custody-focus.png">
            <a:extLst>
              <a:ext uri="{FF2B5EF4-FFF2-40B4-BE49-F238E27FC236}">
                <a16:creationId xmlns:a16="http://schemas.microsoft.com/office/drawing/2014/main" id="{C386C905-DB75-8D2A-8F74-D09E4788DA1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167688" y="1993900"/>
            <a:ext cx="3438525" cy="1447800"/>
          </a:xfrm>
          <a:prstGeom prst="rect">
            <a:avLst/>
          </a:prstGeom>
        </p:spPr>
      </p:pic>
      <p:sp>
        <p:nvSpPr>
          <p:cNvPr id="15" name="TextBox 14">
            <a:extLst>
              <a:ext uri="{FF2B5EF4-FFF2-40B4-BE49-F238E27FC236}">
                <a16:creationId xmlns:a16="http://schemas.microsoft.com/office/drawing/2014/main" id="{85D656BB-B946-CD85-21BF-C0BF65ED5AE1}"/>
              </a:ext>
            </a:extLst>
          </p:cNvPr>
          <p:cNvSpPr txBox="1"/>
          <p:nvPr/>
        </p:nvSpPr>
        <p:spPr>
          <a:xfrm>
            <a:off x="8166100" y="3695700"/>
            <a:ext cx="3441700" cy="304800"/>
          </a:xfrm>
          <a:prstGeom prst="rect">
            <a:avLst/>
          </a:prstGeom>
          <a:noFill/>
        </p:spPr>
        <p:txBody>
          <a:bodyPr vert="horz" wrap="square" lIns="0" tIns="0" rIns="0" bIns="0" rtlCol="0" anchor="t">
            <a:noAutofit/>
          </a:bodyPr>
          <a:lstStyle/>
          <a:p>
            <a:pPr>
              <a:lnSpc>
                <a:spcPct val="105000"/>
              </a:lnSpc>
            </a:pPr>
            <a:r>
              <a:rPr lang="en-US" sz="1650" b="1">
                <a:solidFill>
                  <a:srgbClr val="142235"/>
                </a:solidFill>
                <a:latin typeface="Aptos" panose="020B0004020202020204" pitchFamily="34" charset="0"/>
              </a:rPr>
              <a:t>Identify the asset</a:t>
            </a:r>
          </a:p>
        </p:txBody>
      </p:sp>
      <p:sp>
        <p:nvSpPr>
          <p:cNvPr id="16" name="TextBox 15">
            <a:extLst>
              <a:ext uri="{FF2B5EF4-FFF2-40B4-BE49-F238E27FC236}">
                <a16:creationId xmlns:a16="http://schemas.microsoft.com/office/drawing/2014/main" id="{D22042D3-6D7A-FE37-BD19-94B162773B66}"/>
              </a:ext>
            </a:extLst>
          </p:cNvPr>
          <p:cNvSpPr txBox="1"/>
          <p:nvPr/>
        </p:nvSpPr>
        <p:spPr>
          <a:xfrm>
            <a:off x="8166100" y="4051300"/>
            <a:ext cx="3441700" cy="533400"/>
          </a:xfrm>
          <a:prstGeom prst="rect">
            <a:avLst/>
          </a:prstGeom>
          <a:noFill/>
        </p:spPr>
        <p:txBody>
          <a:bodyPr vert="horz" wrap="square" lIns="0" tIns="0" rIns="0" bIns="0" rtlCol="0" anchor="t">
            <a:noAutofit/>
          </a:bodyPr>
          <a:lstStyle/>
          <a:p>
            <a:pPr>
              <a:lnSpc>
                <a:spcPct val="105000"/>
              </a:lnSpc>
            </a:pPr>
            <a:r>
              <a:rPr lang="en-US" sz="1450">
                <a:solidFill>
                  <a:srgbClr val="66717D"/>
                </a:solidFill>
                <a:latin typeface="Aptos" panose="020B0004020202020204" pitchFamily="34" charset="0"/>
              </a:rPr>
              <a:t>Asset ID, name and registration</a:t>
            </a:r>
          </a:p>
          <a:p>
            <a:pPr>
              <a:lnSpc>
                <a:spcPct val="105000"/>
              </a:lnSpc>
            </a:pPr>
            <a:r>
              <a:rPr lang="en-US" sz="1450">
                <a:solidFill>
                  <a:srgbClr val="66717D"/>
                </a:solidFill>
                <a:latin typeface="Aptos" panose="020B0004020202020204" pitchFamily="34" charset="0"/>
              </a:rPr>
              <a:t>specifications.</a:t>
            </a:r>
          </a:p>
        </p:txBody>
      </p:sp>
      <p:sp>
        <p:nvSpPr>
          <p:cNvPr id="17" name="TextBox 16">
            <a:extLst>
              <a:ext uri="{FF2B5EF4-FFF2-40B4-BE49-F238E27FC236}">
                <a16:creationId xmlns:a16="http://schemas.microsoft.com/office/drawing/2014/main" id="{E428DC6D-9328-6245-BBCF-B49B27AA68C5}"/>
              </a:ext>
            </a:extLst>
          </p:cNvPr>
          <p:cNvSpPr txBox="1"/>
          <p:nvPr/>
        </p:nvSpPr>
        <p:spPr>
          <a:xfrm>
            <a:off x="8166100" y="4800600"/>
            <a:ext cx="3441700" cy="304800"/>
          </a:xfrm>
          <a:prstGeom prst="rect">
            <a:avLst/>
          </a:prstGeom>
          <a:noFill/>
        </p:spPr>
        <p:txBody>
          <a:bodyPr vert="horz" wrap="square" lIns="0" tIns="0" rIns="0" bIns="0" rtlCol="0" anchor="t">
            <a:noAutofit/>
          </a:bodyPr>
          <a:lstStyle/>
          <a:p>
            <a:pPr>
              <a:lnSpc>
                <a:spcPct val="105000"/>
              </a:lnSpc>
            </a:pPr>
            <a:r>
              <a:rPr lang="en-US" sz="1650" b="1">
                <a:solidFill>
                  <a:srgbClr val="142235"/>
                </a:solidFill>
                <a:latin typeface="Aptos" panose="020B0004020202020204" pitchFamily="34" charset="0"/>
              </a:rPr>
              <a:t>Review responsibility</a:t>
            </a:r>
          </a:p>
        </p:txBody>
      </p:sp>
      <p:sp>
        <p:nvSpPr>
          <p:cNvPr id="18" name="TextBox 17">
            <a:extLst>
              <a:ext uri="{FF2B5EF4-FFF2-40B4-BE49-F238E27FC236}">
                <a16:creationId xmlns:a16="http://schemas.microsoft.com/office/drawing/2014/main" id="{AA11BFE2-3064-7871-0C67-B42DBCA6DD3E}"/>
              </a:ext>
            </a:extLst>
          </p:cNvPr>
          <p:cNvSpPr txBox="1"/>
          <p:nvPr/>
        </p:nvSpPr>
        <p:spPr>
          <a:xfrm>
            <a:off x="8166100" y="5156200"/>
            <a:ext cx="3441700" cy="533400"/>
          </a:xfrm>
          <a:prstGeom prst="rect">
            <a:avLst/>
          </a:prstGeom>
          <a:noFill/>
        </p:spPr>
        <p:txBody>
          <a:bodyPr vert="horz" wrap="square" lIns="0" tIns="0" rIns="0" bIns="0" rtlCol="0" anchor="t">
            <a:noAutofit/>
          </a:bodyPr>
          <a:lstStyle/>
          <a:p>
            <a:pPr>
              <a:lnSpc>
                <a:spcPct val="105000"/>
              </a:lnSpc>
            </a:pPr>
            <a:r>
              <a:rPr lang="en-US" sz="1450">
                <a:solidFill>
                  <a:srgbClr val="66717D"/>
                </a:solidFill>
                <a:latin typeface="Aptos" panose="020B0004020202020204" pitchFamily="34" charset="0"/>
              </a:rPr>
              <a:t>Saved holder and project;</a:t>
            </a:r>
          </a:p>
          <a:p>
            <a:pPr>
              <a:lnSpc>
                <a:spcPct val="105000"/>
              </a:lnSpc>
            </a:pPr>
            <a:r>
              <a:rPr lang="en-US" sz="1450">
                <a:solidFill>
                  <a:srgbClr val="66717D"/>
                </a:solidFill>
                <a:latin typeface="Aptos" panose="020B0004020202020204" pitchFamily="34" charset="0"/>
              </a:rPr>
              <a:t>status and request availability.</a:t>
            </a:r>
          </a:p>
        </p:txBody>
      </p:sp>
      <p:sp>
        <p:nvSpPr>
          <p:cNvPr id="19" name="TextBox 18">
            <a:extLst>
              <a:ext uri="{FF2B5EF4-FFF2-40B4-BE49-F238E27FC236}">
                <a16:creationId xmlns:a16="http://schemas.microsoft.com/office/drawing/2014/main" id="{856127BF-8DD8-FCEF-14D1-C3D4063ADE0A}"/>
              </a:ext>
            </a:extLst>
          </p:cNvPr>
          <p:cNvSpPr txBox="1"/>
          <p:nvPr/>
        </p:nvSpPr>
        <p:spPr>
          <a:xfrm>
            <a:off x="584200" y="6121400"/>
            <a:ext cx="11023600" cy="203200"/>
          </a:xfrm>
          <a:prstGeom prst="rect">
            <a:avLst/>
          </a:prstGeom>
          <a:noFill/>
        </p:spPr>
        <p:txBody>
          <a:bodyPr vert="horz" wrap="square" lIns="0" tIns="0" rIns="0" bIns="0" rtlCol="0" anchor="t">
            <a:noAutofit/>
          </a:bodyPr>
          <a:lstStyle/>
          <a:p>
            <a:pPr>
              <a:lnSpc>
                <a:spcPct val="105000"/>
              </a:lnSpc>
            </a:pPr>
            <a:r>
              <a:rPr lang="en-US" sz="950" b="1">
                <a:solidFill>
                  <a:srgbClr val="66717D"/>
                </a:solidFill>
                <a:latin typeface="Aptos" panose="020B0004020202020204" pitchFamily="34" charset="0"/>
              </a:rPr>
              <a:t>ACTUAL APPLICATION · LOCAL TEST ENVIRONMENT · SYNTHETIC DATA</a:t>
            </a:r>
          </a:p>
        </p:txBody>
      </p:sp>
    </p:spTree>
    <p:extLst>
      <p:ext uri="{BB962C8B-B14F-4D97-AF65-F5344CB8AC3E}">
        <p14:creationId xmlns:p14="http://schemas.microsoft.com/office/powerpoint/2010/main" val="3953703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223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39151B-77CC-D292-ACDD-96D102EF023C}"/>
              </a:ext>
            </a:extLst>
          </p:cNvPr>
          <p:cNvSpPr txBox="1"/>
          <p:nvPr/>
        </p:nvSpPr>
        <p:spPr>
          <a:xfrm>
            <a:off x="584200" y="317500"/>
            <a:ext cx="10160000" cy="215900"/>
          </a:xfrm>
          <a:prstGeom prst="rect">
            <a:avLst/>
          </a:prstGeom>
          <a:noFill/>
        </p:spPr>
        <p:txBody>
          <a:bodyPr vert="horz" wrap="square" lIns="0" tIns="0" rIns="0" bIns="0" rtlCol="0" anchor="t">
            <a:noAutofit/>
          </a:bodyPr>
          <a:lstStyle/>
          <a:p>
            <a:pPr>
              <a:lnSpc>
                <a:spcPct val="105000"/>
              </a:lnSpc>
            </a:pPr>
            <a:r>
              <a:rPr lang="en-US" sz="1050" b="1" spc="150">
                <a:solidFill>
                  <a:srgbClr val="C4A15A"/>
                </a:solidFill>
                <a:latin typeface="Aptos" panose="020B0004020202020204" pitchFamily="34" charset="0"/>
              </a:rPr>
              <a:t>CORE WORKFLOW</a:t>
            </a:r>
          </a:p>
        </p:txBody>
      </p:sp>
      <p:sp>
        <p:nvSpPr>
          <p:cNvPr id="3" name="Slide title">
            <a:extLst>
              <a:ext uri="{FF2B5EF4-FFF2-40B4-BE49-F238E27FC236}">
                <a16:creationId xmlns:a16="http://schemas.microsoft.com/office/drawing/2014/main" id="{C74E105C-D8CB-15B8-FEAF-25249FFE0EBE}"/>
              </a:ext>
            </a:extLst>
          </p:cNvPr>
          <p:cNvSpPr txBox="1"/>
          <p:nvPr/>
        </p:nvSpPr>
        <p:spPr>
          <a:xfrm>
            <a:off x="584200" y="698500"/>
            <a:ext cx="11023600" cy="914400"/>
          </a:xfrm>
          <a:prstGeom prst="rect">
            <a:avLst/>
          </a:prstGeom>
          <a:noFill/>
        </p:spPr>
        <p:txBody>
          <a:bodyPr vert="horz" wrap="square" lIns="0" tIns="0" rIns="0" bIns="0" rtlCol="0" anchor="t">
            <a:noAutofit/>
          </a:bodyPr>
          <a:lstStyle/>
          <a:p>
            <a:pPr>
              <a:lnSpc>
                <a:spcPct val="105000"/>
              </a:lnSpc>
            </a:pPr>
            <a:r>
              <a:rPr lang="en-US" sz="3000" b="1">
                <a:solidFill>
                  <a:srgbClr val="FFFFFF"/>
                </a:solidFill>
                <a:latin typeface="Aptos" panose="020B0004020202020204" pitchFamily="34" charset="0"/>
              </a:rPr>
              <a:t>From Equipment Request to Accountable Handover</a:t>
            </a:r>
          </a:p>
        </p:txBody>
      </p:sp>
      <p:cxnSp>
        <p:nvCxnSpPr>
          <p:cNvPr id="4" name="Straight Connector 3">
            <a:extLst>
              <a:ext uri="{FF2B5EF4-FFF2-40B4-BE49-F238E27FC236}">
                <a16:creationId xmlns:a16="http://schemas.microsoft.com/office/drawing/2014/main" id="{6901387A-A6BF-631B-AB00-0A40DEF9725B}"/>
              </a:ext>
            </a:extLst>
          </p:cNvPr>
          <p:cNvCxnSpPr/>
          <p:nvPr/>
        </p:nvCxnSpPr>
        <p:spPr>
          <a:xfrm>
            <a:off x="584200" y="6464300"/>
            <a:ext cx="11023600" cy="0"/>
          </a:xfrm>
          <a:prstGeom prst="line">
            <a:avLst/>
          </a:prstGeom>
          <a:ln w="8890">
            <a:solidFill>
              <a:srgbClr val="3A495C"/>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A6AC638-CD7E-4EAE-98DA-63C4DC11EE27}"/>
              </a:ext>
            </a:extLst>
          </p:cNvPr>
          <p:cNvSpPr txBox="1"/>
          <p:nvPr/>
        </p:nvSpPr>
        <p:spPr>
          <a:xfrm>
            <a:off x="584200" y="6578600"/>
            <a:ext cx="2349500" cy="177800"/>
          </a:xfrm>
          <a:prstGeom prst="rect">
            <a:avLst/>
          </a:prstGeom>
          <a:noFill/>
        </p:spPr>
        <p:txBody>
          <a:bodyPr vert="horz" wrap="square" lIns="0" tIns="0" rIns="0" bIns="0" rtlCol="0" anchor="t">
            <a:noAutofit/>
          </a:bodyPr>
          <a:lstStyle/>
          <a:p>
            <a:pPr>
              <a:lnSpc>
                <a:spcPct val="105000"/>
              </a:lnSpc>
            </a:pPr>
            <a:r>
              <a:rPr lang="en-US" sz="950" b="1">
                <a:solidFill>
                  <a:srgbClr val="C4CDD7"/>
                </a:solidFill>
                <a:latin typeface="Aptos" panose="020B0004020202020204" pitchFamily="34" charset="0"/>
              </a:rPr>
              <a:t>MCPA / SITETRACE</a:t>
            </a:r>
          </a:p>
        </p:txBody>
      </p:sp>
      <p:sp>
        <p:nvSpPr>
          <p:cNvPr id="6" name="TextBox 5">
            <a:extLst>
              <a:ext uri="{FF2B5EF4-FFF2-40B4-BE49-F238E27FC236}">
                <a16:creationId xmlns:a16="http://schemas.microsoft.com/office/drawing/2014/main" id="{6480CD98-0413-C4CE-9A02-A21B5EF940B5}"/>
              </a:ext>
            </a:extLst>
          </p:cNvPr>
          <p:cNvSpPr txBox="1"/>
          <p:nvPr/>
        </p:nvSpPr>
        <p:spPr>
          <a:xfrm>
            <a:off x="3429000" y="6578600"/>
            <a:ext cx="7048500" cy="177800"/>
          </a:xfrm>
          <a:prstGeom prst="rect">
            <a:avLst/>
          </a:prstGeom>
          <a:noFill/>
        </p:spPr>
        <p:txBody>
          <a:bodyPr vert="horz" wrap="square" lIns="0" tIns="0" rIns="0" bIns="0" rtlCol="0" anchor="t">
            <a:noAutofit/>
          </a:bodyPr>
          <a:lstStyle/>
          <a:p>
            <a:pPr algn="r">
              <a:lnSpc>
                <a:spcPct val="105000"/>
              </a:lnSpc>
            </a:pPr>
            <a:r>
              <a:rPr lang="en-US" sz="950">
                <a:solidFill>
                  <a:srgbClr val="C4CDD7"/>
                </a:solidFill>
                <a:latin typeface="Aptos" panose="020B0004020202020204" pitchFamily="34" charset="0"/>
              </a:rPr>
              <a:t>Code + isolated application evidence · 24 October 2026</a:t>
            </a:r>
          </a:p>
        </p:txBody>
      </p:sp>
      <p:sp>
        <p:nvSpPr>
          <p:cNvPr id="7" name="TextBox 6">
            <a:extLst>
              <a:ext uri="{FF2B5EF4-FFF2-40B4-BE49-F238E27FC236}">
                <a16:creationId xmlns:a16="http://schemas.microsoft.com/office/drawing/2014/main" id="{D256D777-3B6F-B838-4B87-48BC87BE9895}"/>
              </a:ext>
            </a:extLst>
          </p:cNvPr>
          <p:cNvSpPr txBox="1"/>
          <p:nvPr/>
        </p:nvSpPr>
        <p:spPr>
          <a:xfrm>
            <a:off x="11010900" y="6553200"/>
            <a:ext cx="596900" cy="215900"/>
          </a:xfrm>
          <a:prstGeom prst="rect">
            <a:avLst/>
          </a:prstGeom>
          <a:noFill/>
        </p:spPr>
        <p:txBody>
          <a:bodyPr vert="horz" wrap="square" lIns="0" tIns="0" rIns="0" bIns="0" rtlCol="0" anchor="t">
            <a:noAutofit/>
          </a:bodyPr>
          <a:lstStyle/>
          <a:p>
            <a:pPr algn="r">
              <a:lnSpc>
                <a:spcPct val="105000"/>
              </a:lnSpc>
            </a:pPr>
            <a:r>
              <a:rPr lang="en-US" sz="1100" b="1">
                <a:solidFill>
                  <a:srgbClr val="C4A15A"/>
                </a:solidFill>
                <a:latin typeface="Aptos" panose="020B0004020202020204" pitchFamily="34" charset="0"/>
              </a:rPr>
              <a:t>05</a:t>
            </a:r>
          </a:p>
        </p:txBody>
      </p:sp>
      <p:sp>
        <p:nvSpPr>
          <p:cNvPr id="8" name="Rectangle 7">
            <a:extLst>
              <a:ext uri="{FF2B5EF4-FFF2-40B4-BE49-F238E27FC236}">
                <a16:creationId xmlns:a16="http://schemas.microsoft.com/office/drawing/2014/main" id="{9665A3D9-223F-B61E-0FC7-9172D91551F5}"/>
              </a:ext>
            </a:extLst>
          </p:cNvPr>
          <p:cNvSpPr/>
          <p:nvPr/>
        </p:nvSpPr>
        <p:spPr>
          <a:xfrm>
            <a:off x="584200" y="1816100"/>
            <a:ext cx="2565400" cy="2667000"/>
          </a:xfrm>
          <a:prstGeom prst="rect">
            <a:avLst/>
          </a:prstGeom>
          <a:solidFill>
            <a:srgbClr val="3A495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B6EBC08-A442-908F-6632-75C2E3AC9BD5}"/>
              </a:ext>
            </a:extLst>
          </p:cNvPr>
          <p:cNvSpPr txBox="1"/>
          <p:nvPr/>
        </p:nvSpPr>
        <p:spPr>
          <a:xfrm>
            <a:off x="762000" y="1955800"/>
            <a:ext cx="2159000" cy="304800"/>
          </a:xfrm>
          <a:prstGeom prst="rect">
            <a:avLst/>
          </a:prstGeom>
          <a:noFill/>
        </p:spPr>
        <p:txBody>
          <a:bodyPr vert="horz" wrap="square" lIns="0" tIns="0" rIns="0" bIns="0" rtlCol="0" anchor="t">
            <a:noAutofit/>
          </a:bodyPr>
          <a:lstStyle/>
          <a:p>
            <a:pPr>
              <a:lnSpc>
                <a:spcPct val="105000"/>
              </a:lnSpc>
            </a:pPr>
            <a:r>
              <a:rPr lang="en-US" sz="1900" b="1">
                <a:solidFill>
                  <a:srgbClr val="C4A15A"/>
                </a:solidFill>
                <a:latin typeface="Aptos" panose="020B0004020202020204" pitchFamily="34" charset="0"/>
              </a:rPr>
              <a:t>01</a:t>
            </a:r>
          </a:p>
        </p:txBody>
      </p:sp>
      <p:sp>
        <p:nvSpPr>
          <p:cNvPr id="10" name="TextBox 9">
            <a:extLst>
              <a:ext uri="{FF2B5EF4-FFF2-40B4-BE49-F238E27FC236}">
                <a16:creationId xmlns:a16="http://schemas.microsoft.com/office/drawing/2014/main" id="{F0264E05-A3F1-B600-5337-D1DF443C7CBE}"/>
              </a:ext>
            </a:extLst>
          </p:cNvPr>
          <p:cNvSpPr txBox="1"/>
          <p:nvPr/>
        </p:nvSpPr>
        <p:spPr>
          <a:xfrm>
            <a:off x="762000" y="2349500"/>
            <a:ext cx="2260600" cy="292100"/>
          </a:xfrm>
          <a:prstGeom prst="rect">
            <a:avLst/>
          </a:prstGeom>
          <a:noFill/>
        </p:spPr>
        <p:txBody>
          <a:bodyPr vert="horz" wrap="square" lIns="0" tIns="0" rIns="0" bIns="0" rtlCol="0" anchor="t">
            <a:noAutofit/>
          </a:bodyPr>
          <a:lstStyle/>
          <a:p>
            <a:pPr>
              <a:lnSpc>
                <a:spcPct val="105000"/>
              </a:lnSpc>
            </a:pPr>
            <a:r>
              <a:rPr lang="en-US" b="1">
                <a:solidFill>
                  <a:srgbClr val="FFFFFF"/>
                </a:solidFill>
                <a:latin typeface="Aptos" panose="020B0004020202020204" pitchFamily="34" charset="0"/>
              </a:rPr>
              <a:t>REQUEST</a:t>
            </a:r>
          </a:p>
        </p:txBody>
      </p:sp>
      <p:sp>
        <p:nvSpPr>
          <p:cNvPr id="11" name="TextBox 10">
            <a:extLst>
              <a:ext uri="{FF2B5EF4-FFF2-40B4-BE49-F238E27FC236}">
                <a16:creationId xmlns:a16="http://schemas.microsoft.com/office/drawing/2014/main" id="{4470263B-D832-8102-B66E-362CBCEFF91E}"/>
              </a:ext>
            </a:extLst>
          </p:cNvPr>
          <p:cNvSpPr txBox="1"/>
          <p:nvPr/>
        </p:nvSpPr>
        <p:spPr>
          <a:xfrm>
            <a:off x="762000" y="2755900"/>
            <a:ext cx="2247900" cy="406400"/>
          </a:xfrm>
          <a:prstGeom prst="rect">
            <a:avLst/>
          </a:prstGeom>
          <a:noFill/>
        </p:spPr>
        <p:txBody>
          <a:bodyPr vert="horz" wrap="square" lIns="0" tIns="0" rIns="0" bIns="0" rtlCol="0" anchor="t">
            <a:noAutofit/>
          </a:bodyPr>
          <a:lstStyle/>
          <a:p>
            <a:pPr>
              <a:lnSpc>
                <a:spcPct val="105000"/>
              </a:lnSpc>
            </a:pPr>
            <a:r>
              <a:rPr lang="en-US" sz="1250" b="1">
                <a:solidFill>
                  <a:srgbClr val="D5DCE5"/>
                </a:solidFill>
                <a:latin typeface="Aptos" panose="020B0004020202020204" pitchFamily="34" charset="0"/>
              </a:rPr>
              <a:t>Engineer / Architect</a:t>
            </a:r>
          </a:p>
        </p:txBody>
      </p:sp>
      <p:sp>
        <p:nvSpPr>
          <p:cNvPr id="12" name="TextBox 11">
            <a:extLst>
              <a:ext uri="{FF2B5EF4-FFF2-40B4-BE49-F238E27FC236}">
                <a16:creationId xmlns:a16="http://schemas.microsoft.com/office/drawing/2014/main" id="{6C50A46F-8CB5-5337-1886-146843E1B538}"/>
              </a:ext>
            </a:extLst>
          </p:cNvPr>
          <p:cNvSpPr txBox="1"/>
          <p:nvPr/>
        </p:nvSpPr>
        <p:spPr>
          <a:xfrm>
            <a:off x="762000" y="3238500"/>
            <a:ext cx="2247900" cy="469900"/>
          </a:xfrm>
          <a:prstGeom prst="rect">
            <a:avLst/>
          </a:prstGeom>
          <a:noFill/>
        </p:spPr>
        <p:txBody>
          <a:bodyPr vert="horz" wrap="square" lIns="0" tIns="0" rIns="0" bIns="0" rtlCol="0" anchor="t">
            <a:noAutofit/>
          </a:bodyPr>
          <a:lstStyle/>
          <a:p>
            <a:pPr>
              <a:lnSpc>
                <a:spcPct val="105000"/>
              </a:lnSpc>
            </a:pPr>
            <a:r>
              <a:rPr lang="en-US" sz="1250" b="1">
                <a:solidFill>
                  <a:srgbClr val="C4A15A"/>
                </a:solidFill>
                <a:latin typeface="Aptos" panose="020B0004020202020204" pitchFamily="34" charset="0"/>
              </a:rPr>
              <a:t>request: pending</a:t>
            </a:r>
          </a:p>
        </p:txBody>
      </p:sp>
      <p:sp>
        <p:nvSpPr>
          <p:cNvPr id="13" name="TextBox 12">
            <a:extLst>
              <a:ext uri="{FF2B5EF4-FFF2-40B4-BE49-F238E27FC236}">
                <a16:creationId xmlns:a16="http://schemas.microsoft.com/office/drawing/2014/main" id="{61211705-E3F3-34F2-22D9-86B1928DB801}"/>
              </a:ext>
            </a:extLst>
          </p:cNvPr>
          <p:cNvSpPr txBox="1"/>
          <p:nvPr/>
        </p:nvSpPr>
        <p:spPr>
          <a:xfrm>
            <a:off x="762000" y="3810000"/>
            <a:ext cx="2247900" cy="609600"/>
          </a:xfrm>
          <a:prstGeom prst="rect">
            <a:avLst/>
          </a:prstGeom>
          <a:noFill/>
        </p:spPr>
        <p:txBody>
          <a:bodyPr vert="horz" wrap="square" lIns="0" tIns="0" rIns="0" bIns="0" rtlCol="0" anchor="t">
            <a:noAutofit/>
          </a:bodyPr>
          <a:lstStyle/>
          <a:p>
            <a:pPr>
              <a:lnSpc>
                <a:spcPct val="105000"/>
              </a:lnSpc>
            </a:pPr>
            <a:r>
              <a:rPr lang="en-US" sz="1200">
                <a:solidFill>
                  <a:srgbClr val="FFFFFF"/>
                </a:solidFill>
                <a:latin typeface="Aptos" panose="020B0004020202020204" pitchFamily="34" charset="0"/>
              </a:rPr>
              <a:t>Select eligible equipment</a:t>
            </a:r>
          </a:p>
          <a:p>
            <a:pPr>
              <a:lnSpc>
                <a:spcPct val="105000"/>
              </a:lnSpc>
            </a:pPr>
            <a:r>
              <a:rPr lang="en-US" sz="1200">
                <a:solidFill>
                  <a:srgbClr val="FFFFFF"/>
                </a:solidFill>
                <a:latin typeface="Aptos" panose="020B0004020202020204" pitchFamily="34" charset="0"/>
              </a:rPr>
              <a:t>and an assigned project.</a:t>
            </a:r>
          </a:p>
          <a:p>
            <a:pPr>
              <a:lnSpc>
                <a:spcPct val="105000"/>
              </a:lnSpc>
            </a:pPr>
            <a:r>
              <a:rPr lang="en-US" sz="1200">
                <a:solidFill>
                  <a:srgbClr val="FFFFFF"/>
                </a:solidFill>
                <a:latin typeface="Aptos" panose="020B0004020202020204" pitchFamily="34" charset="0"/>
              </a:rPr>
              <a:t>Custody stays unchanged.</a:t>
            </a:r>
          </a:p>
        </p:txBody>
      </p:sp>
      <p:cxnSp>
        <p:nvCxnSpPr>
          <p:cNvPr id="14" name="Straight Connector 13">
            <a:extLst>
              <a:ext uri="{FF2B5EF4-FFF2-40B4-BE49-F238E27FC236}">
                <a16:creationId xmlns:a16="http://schemas.microsoft.com/office/drawing/2014/main" id="{0AD7E63A-6397-A668-32BF-EC13840D2E25}"/>
              </a:ext>
            </a:extLst>
          </p:cNvPr>
          <p:cNvCxnSpPr/>
          <p:nvPr/>
        </p:nvCxnSpPr>
        <p:spPr>
          <a:xfrm>
            <a:off x="3187700" y="3136900"/>
            <a:ext cx="165100" cy="0"/>
          </a:xfrm>
          <a:prstGeom prst="line">
            <a:avLst/>
          </a:prstGeom>
          <a:ln w="19050">
            <a:solidFill>
              <a:srgbClr val="C4A15A"/>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E1D99C41-1249-52E7-DBD9-5D7F5B280DAE}"/>
              </a:ext>
            </a:extLst>
          </p:cNvPr>
          <p:cNvSpPr/>
          <p:nvPr/>
        </p:nvSpPr>
        <p:spPr>
          <a:xfrm>
            <a:off x="3403600" y="1816100"/>
            <a:ext cx="2565400" cy="2667000"/>
          </a:xfrm>
          <a:prstGeom prst="rect">
            <a:avLst/>
          </a:prstGeom>
          <a:solidFill>
            <a:srgbClr val="3A495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8D90CA2-1F15-800F-892A-5D355DB16A9E}"/>
              </a:ext>
            </a:extLst>
          </p:cNvPr>
          <p:cNvSpPr txBox="1"/>
          <p:nvPr/>
        </p:nvSpPr>
        <p:spPr>
          <a:xfrm>
            <a:off x="3581400" y="1955800"/>
            <a:ext cx="2159000" cy="304800"/>
          </a:xfrm>
          <a:prstGeom prst="rect">
            <a:avLst/>
          </a:prstGeom>
          <a:noFill/>
        </p:spPr>
        <p:txBody>
          <a:bodyPr vert="horz" wrap="square" lIns="0" tIns="0" rIns="0" bIns="0" rtlCol="0" anchor="t">
            <a:noAutofit/>
          </a:bodyPr>
          <a:lstStyle/>
          <a:p>
            <a:pPr>
              <a:lnSpc>
                <a:spcPct val="105000"/>
              </a:lnSpc>
            </a:pPr>
            <a:r>
              <a:rPr lang="en-US" sz="1900" b="1">
                <a:solidFill>
                  <a:srgbClr val="C4A15A"/>
                </a:solidFill>
                <a:latin typeface="Aptos" panose="020B0004020202020204" pitchFamily="34" charset="0"/>
              </a:rPr>
              <a:t>02</a:t>
            </a:r>
          </a:p>
        </p:txBody>
      </p:sp>
      <p:sp>
        <p:nvSpPr>
          <p:cNvPr id="17" name="TextBox 16">
            <a:extLst>
              <a:ext uri="{FF2B5EF4-FFF2-40B4-BE49-F238E27FC236}">
                <a16:creationId xmlns:a16="http://schemas.microsoft.com/office/drawing/2014/main" id="{CBD68EB4-36AE-F647-BE3E-F8BE6E82DD26}"/>
              </a:ext>
            </a:extLst>
          </p:cNvPr>
          <p:cNvSpPr txBox="1"/>
          <p:nvPr/>
        </p:nvSpPr>
        <p:spPr>
          <a:xfrm>
            <a:off x="3581400" y="2349500"/>
            <a:ext cx="2260600" cy="292100"/>
          </a:xfrm>
          <a:prstGeom prst="rect">
            <a:avLst/>
          </a:prstGeom>
          <a:noFill/>
        </p:spPr>
        <p:txBody>
          <a:bodyPr vert="horz" wrap="square" lIns="0" tIns="0" rIns="0" bIns="0" rtlCol="0" anchor="t">
            <a:noAutofit/>
          </a:bodyPr>
          <a:lstStyle/>
          <a:p>
            <a:pPr>
              <a:lnSpc>
                <a:spcPct val="105000"/>
              </a:lnSpc>
            </a:pPr>
            <a:r>
              <a:rPr lang="en-US" b="1">
                <a:solidFill>
                  <a:srgbClr val="FFFFFF"/>
                </a:solidFill>
                <a:latin typeface="Aptos" panose="020B0004020202020204" pitchFamily="34" charset="0"/>
              </a:rPr>
              <a:t>REVIEW</a:t>
            </a:r>
          </a:p>
        </p:txBody>
      </p:sp>
      <p:sp>
        <p:nvSpPr>
          <p:cNvPr id="18" name="TextBox 17">
            <a:extLst>
              <a:ext uri="{FF2B5EF4-FFF2-40B4-BE49-F238E27FC236}">
                <a16:creationId xmlns:a16="http://schemas.microsoft.com/office/drawing/2014/main" id="{74ADC9A1-6886-6455-7291-00B94076940B}"/>
              </a:ext>
            </a:extLst>
          </p:cNvPr>
          <p:cNvSpPr txBox="1"/>
          <p:nvPr/>
        </p:nvSpPr>
        <p:spPr>
          <a:xfrm>
            <a:off x="3581400" y="2755900"/>
            <a:ext cx="2247900" cy="406400"/>
          </a:xfrm>
          <a:prstGeom prst="rect">
            <a:avLst/>
          </a:prstGeom>
          <a:noFill/>
        </p:spPr>
        <p:txBody>
          <a:bodyPr vert="horz" wrap="square" lIns="0" tIns="0" rIns="0" bIns="0" rtlCol="0" anchor="t">
            <a:noAutofit/>
          </a:bodyPr>
          <a:lstStyle/>
          <a:p>
            <a:pPr>
              <a:lnSpc>
                <a:spcPct val="105000"/>
              </a:lnSpc>
            </a:pPr>
            <a:r>
              <a:rPr lang="en-US" sz="1250" b="1">
                <a:solidFill>
                  <a:srgbClr val="D5DCE5"/>
                </a:solidFill>
                <a:latin typeface="Aptos" panose="020B0004020202020204" pitchFamily="34" charset="0"/>
              </a:rPr>
              <a:t>Admin</a:t>
            </a:r>
          </a:p>
        </p:txBody>
      </p:sp>
      <p:sp>
        <p:nvSpPr>
          <p:cNvPr id="19" name="TextBox 18">
            <a:extLst>
              <a:ext uri="{FF2B5EF4-FFF2-40B4-BE49-F238E27FC236}">
                <a16:creationId xmlns:a16="http://schemas.microsoft.com/office/drawing/2014/main" id="{5F01E8B1-93C0-A708-CF96-FADF4136A0F3}"/>
              </a:ext>
            </a:extLst>
          </p:cNvPr>
          <p:cNvSpPr txBox="1"/>
          <p:nvPr/>
        </p:nvSpPr>
        <p:spPr>
          <a:xfrm>
            <a:off x="3581400" y="3238500"/>
            <a:ext cx="2247900" cy="469900"/>
          </a:xfrm>
          <a:prstGeom prst="rect">
            <a:avLst/>
          </a:prstGeom>
          <a:noFill/>
        </p:spPr>
        <p:txBody>
          <a:bodyPr vert="horz" wrap="square" lIns="0" tIns="0" rIns="0" bIns="0" rtlCol="0" anchor="t">
            <a:noAutofit/>
          </a:bodyPr>
          <a:lstStyle/>
          <a:p>
            <a:pPr>
              <a:lnSpc>
                <a:spcPct val="105000"/>
              </a:lnSpc>
            </a:pPr>
            <a:r>
              <a:rPr lang="en-US" sz="1250" b="1">
                <a:solidFill>
                  <a:srgbClr val="C4A15A"/>
                </a:solidFill>
                <a:latin typeface="Aptos" panose="020B0004020202020204" pitchFamily="34" charset="0"/>
              </a:rPr>
              <a:t>request: approved</a:t>
            </a:r>
          </a:p>
        </p:txBody>
      </p:sp>
      <p:sp>
        <p:nvSpPr>
          <p:cNvPr id="20" name="TextBox 19">
            <a:extLst>
              <a:ext uri="{FF2B5EF4-FFF2-40B4-BE49-F238E27FC236}">
                <a16:creationId xmlns:a16="http://schemas.microsoft.com/office/drawing/2014/main" id="{96DC9E27-2660-324E-4DCA-ADC4D69A8A8C}"/>
              </a:ext>
            </a:extLst>
          </p:cNvPr>
          <p:cNvSpPr txBox="1"/>
          <p:nvPr/>
        </p:nvSpPr>
        <p:spPr>
          <a:xfrm>
            <a:off x="3581400" y="3810000"/>
            <a:ext cx="2247900" cy="609600"/>
          </a:xfrm>
          <a:prstGeom prst="rect">
            <a:avLst/>
          </a:prstGeom>
          <a:noFill/>
        </p:spPr>
        <p:txBody>
          <a:bodyPr vert="horz" wrap="square" lIns="0" tIns="0" rIns="0" bIns="0" rtlCol="0" anchor="t">
            <a:noAutofit/>
          </a:bodyPr>
          <a:lstStyle/>
          <a:p>
            <a:pPr>
              <a:lnSpc>
                <a:spcPct val="105000"/>
              </a:lnSpc>
            </a:pPr>
            <a:r>
              <a:rPr lang="en-US" sz="1200">
                <a:solidFill>
                  <a:srgbClr val="FFFFFF"/>
                </a:solidFill>
                <a:latin typeface="Aptos" panose="020B0004020202020204" pitchFamily="34" charset="0"/>
              </a:rPr>
              <a:t>Approve to reserve tools.</a:t>
            </a:r>
          </a:p>
          <a:p>
            <a:pPr>
              <a:lnSpc>
                <a:spcPct val="105000"/>
              </a:lnSpc>
            </a:pPr>
            <a:r>
              <a:rPr lang="en-US" sz="1200">
                <a:solidFill>
                  <a:srgbClr val="FFFFFF"/>
                </a:solidFill>
                <a:latin typeface="Aptos" panose="020B0004020202020204" pitchFamily="34" charset="0"/>
              </a:rPr>
              <a:t>Reject with a recorded reason.</a:t>
            </a:r>
          </a:p>
          <a:p>
            <a:pPr>
              <a:lnSpc>
                <a:spcPct val="105000"/>
              </a:lnSpc>
            </a:pPr>
            <a:r>
              <a:rPr lang="en-US" sz="1200">
                <a:solidFill>
                  <a:srgbClr val="FFFFFF"/>
                </a:solidFill>
                <a:latin typeface="Aptos" panose="020B0004020202020204" pitchFamily="34" charset="0"/>
              </a:rPr>
              <a:t>Rejected requests stop here.</a:t>
            </a:r>
          </a:p>
        </p:txBody>
      </p:sp>
      <p:cxnSp>
        <p:nvCxnSpPr>
          <p:cNvPr id="21" name="Straight Connector 20">
            <a:extLst>
              <a:ext uri="{FF2B5EF4-FFF2-40B4-BE49-F238E27FC236}">
                <a16:creationId xmlns:a16="http://schemas.microsoft.com/office/drawing/2014/main" id="{C1648E18-921C-A074-AAC5-71211CC879E4}"/>
              </a:ext>
            </a:extLst>
          </p:cNvPr>
          <p:cNvCxnSpPr/>
          <p:nvPr/>
        </p:nvCxnSpPr>
        <p:spPr>
          <a:xfrm>
            <a:off x="6007100" y="3136900"/>
            <a:ext cx="165100" cy="0"/>
          </a:xfrm>
          <a:prstGeom prst="line">
            <a:avLst/>
          </a:prstGeom>
          <a:ln w="19050">
            <a:solidFill>
              <a:srgbClr val="C4A15A"/>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456AEC5E-C53A-C131-B060-F2CDE1CFB169}"/>
              </a:ext>
            </a:extLst>
          </p:cNvPr>
          <p:cNvSpPr/>
          <p:nvPr/>
        </p:nvSpPr>
        <p:spPr>
          <a:xfrm>
            <a:off x="6223000" y="1816100"/>
            <a:ext cx="2565400" cy="2667000"/>
          </a:xfrm>
          <a:prstGeom prst="rect">
            <a:avLst/>
          </a:prstGeom>
          <a:solidFill>
            <a:srgbClr val="3A495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E99C31E1-6264-3333-CCCC-E8B8F507AB46}"/>
              </a:ext>
            </a:extLst>
          </p:cNvPr>
          <p:cNvSpPr txBox="1"/>
          <p:nvPr/>
        </p:nvSpPr>
        <p:spPr>
          <a:xfrm>
            <a:off x="6400800" y="1955800"/>
            <a:ext cx="2159000" cy="304800"/>
          </a:xfrm>
          <a:prstGeom prst="rect">
            <a:avLst/>
          </a:prstGeom>
          <a:noFill/>
        </p:spPr>
        <p:txBody>
          <a:bodyPr vert="horz" wrap="square" lIns="0" tIns="0" rIns="0" bIns="0" rtlCol="0" anchor="t">
            <a:noAutofit/>
          </a:bodyPr>
          <a:lstStyle/>
          <a:p>
            <a:pPr>
              <a:lnSpc>
                <a:spcPct val="105000"/>
              </a:lnSpc>
            </a:pPr>
            <a:r>
              <a:rPr lang="en-US" sz="1900" b="1">
                <a:solidFill>
                  <a:srgbClr val="C4A15A"/>
                </a:solidFill>
                <a:latin typeface="Aptos" panose="020B0004020202020204" pitchFamily="34" charset="0"/>
              </a:rPr>
              <a:t>03</a:t>
            </a:r>
          </a:p>
        </p:txBody>
      </p:sp>
      <p:sp>
        <p:nvSpPr>
          <p:cNvPr id="24" name="TextBox 23">
            <a:extLst>
              <a:ext uri="{FF2B5EF4-FFF2-40B4-BE49-F238E27FC236}">
                <a16:creationId xmlns:a16="http://schemas.microsoft.com/office/drawing/2014/main" id="{86C229C3-D90E-24C5-EBFD-071FF246285C}"/>
              </a:ext>
            </a:extLst>
          </p:cNvPr>
          <p:cNvSpPr txBox="1"/>
          <p:nvPr/>
        </p:nvSpPr>
        <p:spPr>
          <a:xfrm>
            <a:off x="6400800" y="2349500"/>
            <a:ext cx="2260600" cy="292100"/>
          </a:xfrm>
          <a:prstGeom prst="rect">
            <a:avLst/>
          </a:prstGeom>
          <a:noFill/>
        </p:spPr>
        <p:txBody>
          <a:bodyPr vert="horz" wrap="square" lIns="0" tIns="0" rIns="0" bIns="0" rtlCol="0" anchor="t">
            <a:noAutofit/>
          </a:bodyPr>
          <a:lstStyle/>
          <a:p>
            <a:pPr>
              <a:lnSpc>
                <a:spcPct val="105000"/>
              </a:lnSpc>
            </a:pPr>
            <a:r>
              <a:rPr lang="en-US" b="1">
                <a:solidFill>
                  <a:srgbClr val="FFFFFF"/>
                </a:solidFill>
                <a:latin typeface="Aptos" panose="020B0004020202020204" pitchFamily="34" charset="0"/>
              </a:rPr>
              <a:t>RELEASE</a:t>
            </a:r>
          </a:p>
        </p:txBody>
      </p:sp>
      <p:sp>
        <p:nvSpPr>
          <p:cNvPr id="25" name="TextBox 24">
            <a:extLst>
              <a:ext uri="{FF2B5EF4-FFF2-40B4-BE49-F238E27FC236}">
                <a16:creationId xmlns:a16="http://schemas.microsoft.com/office/drawing/2014/main" id="{208AB023-CF9C-6A2F-771D-2E0C858DF2A1}"/>
              </a:ext>
            </a:extLst>
          </p:cNvPr>
          <p:cNvSpPr txBox="1"/>
          <p:nvPr/>
        </p:nvSpPr>
        <p:spPr>
          <a:xfrm>
            <a:off x="6400800" y="2755900"/>
            <a:ext cx="2247900" cy="406400"/>
          </a:xfrm>
          <a:prstGeom prst="rect">
            <a:avLst/>
          </a:prstGeom>
          <a:noFill/>
        </p:spPr>
        <p:txBody>
          <a:bodyPr vert="horz" wrap="square" lIns="0" tIns="0" rIns="0" bIns="0" rtlCol="0" anchor="t">
            <a:noAutofit/>
          </a:bodyPr>
          <a:lstStyle/>
          <a:p>
            <a:pPr>
              <a:lnSpc>
                <a:spcPct val="105000"/>
              </a:lnSpc>
            </a:pPr>
            <a:r>
              <a:rPr lang="en-US" sz="1250" b="1">
                <a:solidFill>
                  <a:srgbClr val="D5DCE5"/>
                </a:solidFill>
                <a:latin typeface="Aptos" panose="020B0004020202020204" pitchFamily="34" charset="0"/>
              </a:rPr>
              <a:t>Admin</a:t>
            </a:r>
          </a:p>
        </p:txBody>
      </p:sp>
      <p:sp>
        <p:nvSpPr>
          <p:cNvPr id="26" name="TextBox 25">
            <a:extLst>
              <a:ext uri="{FF2B5EF4-FFF2-40B4-BE49-F238E27FC236}">
                <a16:creationId xmlns:a16="http://schemas.microsoft.com/office/drawing/2014/main" id="{55A42913-F5B9-D468-9115-4D13817C4974}"/>
              </a:ext>
            </a:extLst>
          </p:cNvPr>
          <p:cNvSpPr txBox="1"/>
          <p:nvPr/>
        </p:nvSpPr>
        <p:spPr>
          <a:xfrm>
            <a:off x="6400800" y="3238500"/>
            <a:ext cx="2247900" cy="469900"/>
          </a:xfrm>
          <a:prstGeom prst="rect">
            <a:avLst/>
          </a:prstGeom>
          <a:noFill/>
        </p:spPr>
        <p:txBody>
          <a:bodyPr vert="horz" wrap="square" lIns="0" tIns="0" rIns="0" bIns="0" rtlCol="0" anchor="t">
            <a:noAutofit/>
          </a:bodyPr>
          <a:lstStyle/>
          <a:p>
            <a:pPr>
              <a:lnSpc>
                <a:spcPct val="105000"/>
              </a:lnSpc>
            </a:pPr>
            <a:r>
              <a:rPr lang="en-US" sz="1250" b="1">
                <a:solidFill>
                  <a:srgbClr val="C4A15A"/>
                </a:solidFill>
                <a:latin typeface="Aptos" panose="020B0004020202020204" pitchFamily="34" charset="0"/>
              </a:rPr>
              <a:t>request: released</a:t>
            </a:r>
          </a:p>
          <a:p>
            <a:pPr>
              <a:lnSpc>
                <a:spcPct val="105000"/>
              </a:lnSpc>
            </a:pPr>
            <a:r>
              <a:rPr lang="en-US" sz="1250" b="1">
                <a:solidFill>
                  <a:srgbClr val="C4A15A"/>
                </a:solidFill>
                <a:latin typeface="Aptos" panose="020B0004020202020204" pitchFamily="34" charset="0"/>
              </a:rPr>
              <a:t>transfer: pending</a:t>
            </a:r>
          </a:p>
        </p:txBody>
      </p:sp>
      <p:sp>
        <p:nvSpPr>
          <p:cNvPr id="27" name="TextBox 26">
            <a:extLst>
              <a:ext uri="{FF2B5EF4-FFF2-40B4-BE49-F238E27FC236}">
                <a16:creationId xmlns:a16="http://schemas.microsoft.com/office/drawing/2014/main" id="{3BD03023-CA9C-8C88-C908-F7C856CF15D3}"/>
              </a:ext>
            </a:extLst>
          </p:cNvPr>
          <p:cNvSpPr txBox="1"/>
          <p:nvPr/>
        </p:nvSpPr>
        <p:spPr>
          <a:xfrm>
            <a:off x="6400800" y="3810000"/>
            <a:ext cx="2247900" cy="609600"/>
          </a:xfrm>
          <a:prstGeom prst="rect">
            <a:avLst/>
          </a:prstGeom>
          <a:noFill/>
        </p:spPr>
        <p:txBody>
          <a:bodyPr vert="horz" wrap="square" lIns="0" tIns="0" rIns="0" bIns="0" rtlCol="0" anchor="t">
            <a:noAutofit/>
          </a:bodyPr>
          <a:lstStyle/>
          <a:p>
            <a:pPr>
              <a:lnSpc>
                <a:spcPct val="105000"/>
              </a:lnSpc>
            </a:pPr>
            <a:r>
              <a:rPr lang="en-US" sz="1200">
                <a:solidFill>
                  <a:srgbClr val="FFFFFF"/>
                </a:solidFill>
                <a:latin typeface="Aptos" panose="020B0004020202020204" pitchFamily="34" charset="0"/>
              </a:rPr>
              <a:t>Create the named handover</a:t>
            </a:r>
          </a:p>
          <a:p>
            <a:pPr>
              <a:lnSpc>
                <a:spcPct val="105000"/>
              </a:lnSpc>
            </a:pPr>
            <a:r>
              <a:rPr lang="en-US" sz="1200">
                <a:solidFill>
                  <a:srgbClr val="FFFFFF"/>
                </a:solidFill>
                <a:latin typeface="Aptos" panose="020B0004020202020204" pitchFamily="34" charset="0"/>
              </a:rPr>
              <a:t>and retain a source snapshot.</a:t>
            </a:r>
          </a:p>
          <a:p>
            <a:pPr>
              <a:lnSpc>
                <a:spcPct val="105000"/>
              </a:lnSpc>
            </a:pPr>
            <a:r>
              <a:rPr lang="en-US" sz="1200">
                <a:solidFill>
                  <a:srgbClr val="FFFFFF"/>
                </a:solidFill>
                <a:latin typeface="Aptos" panose="020B0004020202020204" pitchFamily="34" charset="0"/>
              </a:rPr>
              <a:t>Custody stays unchanged.</a:t>
            </a:r>
          </a:p>
        </p:txBody>
      </p:sp>
      <p:cxnSp>
        <p:nvCxnSpPr>
          <p:cNvPr id="28" name="Straight Connector 27">
            <a:extLst>
              <a:ext uri="{FF2B5EF4-FFF2-40B4-BE49-F238E27FC236}">
                <a16:creationId xmlns:a16="http://schemas.microsoft.com/office/drawing/2014/main" id="{4EB69C41-348F-798F-D066-49E87EC0FF96}"/>
              </a:ext>
            </a:extLst>
          </p:cNvPr>
          <p:cNvCxnSpPr/>
          <p:nvPr/>
        </p:nvCxnSpPr>
        <p:spPr>
          <a:xfrm>
            <a:off x="8826500" y="3136900"/>
            <a:ext cx="165100" cy="0"/>
          </a:xfrm>
          <a:prstGeom prst="line">
            <a:avLst/>
          </a:prstGeom>
          <a:ln w="19050">
            <a:solidFill>
              <a:srgbClr val="C4A15A"/>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863C7B74-9CF2-ED57-3A83-1A93070D30D0}"/>
              </a:ext>
            </a:extLst>
          </p:cNvPr>
          <p:cNvSpPr/>
          <p:nvPr/>
        </p:nvSpPr>
        <p:spPr>
          <a:xfrm>
            <a:off x="9042400" y="1816100"/>
            <a:ext cx="2565400" cy="2667000"/>
          </a:xfrm>
          <a:prstGeom prst="rect">
            <a:avLst/>
          </a:prstGeom>
          <a:solidFill>
            <a:srgbClr val="C4A1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19EEC66-CBCB-A0AA-6671-2CDD817CB60F}"/>
              </a:ext>
            </a:extLst>
          </p:cNvPr>
          <p:cNvSpPr txBox="1"/>
          <p:nvPr/>
        </p:nvSpPr>
        <p:spPr>
          <a:xfrm>
            <a:off x="9220200" y="1955800"/>
            <a:ext cx="2159000" cy="304800"/>
          </a:xfrm>
          <a:prstGeom prst="rect">
            <a:avLst/>
          </a:prstGeom>
          <a:noFill/>
        </p:spPr>
        <p:txBody>
          <a:bodyPr vert="horz" wrap="square" lIns="0" tIns="0" rIns="0" bIns="0" rtlCol="0" anchor="t">
            <a:noAutofit/>
          </a:bodyPr>
          <a:lstStyle/>
          <a:p>
            <a:pPr>
              <a:lnSpc>
                <a:spcPct val="105000"/>
              </a:lnSpc>
            </a:pPr>
            <a:r>
              <a:rPr lang="en-US" sz="1900" b="1">
                <a:solidFill>
                  <a:srgbClr val="142235"/>
                </a:solidFill>
                <a:latin typeface="Aptos" panose="020B0004020202020204" pitchFamily="34" charset="0"/>
              </a:rPr>
              <a:t>04</a:t>
            </a:r>
          </a:p>
        </p:txBody>
      </p:sp>
      <p:sp>
        <p:nvSpPr>
          <p:cNvPr id="31" name="TextBox 30">
            <a:extLst>
              <a:ext uri="{FF2B5EF4-FFF2-40B4-BE49-F238E27FC236}">
                <a16:creationId xmlns:a16="http://schemas.microsoft.com/office/drawing/2014/main" id="{A0C163D1-F03C-C1D1-F636-2102A3E44DE8}"/>
              </a:ext>
            </a:extLst>
          </p:cNvPr>
          <p:cNvSpPr txBox="1"/>
          <p:nvPr/>
        </p:nvSpPr>
        <p:spPr>
          <a:xfrm>
            <a:off x="9220200" y="2349500"/>
            <a:ext cx="2260600" cy="292100"/>
          </a:xfrm>
          <a:prstGeom prst="rect">
            <a:avLst/>
          </a:prstGeom>
          <a:noFill/>
        </p:spPr>
        <p:txBody>
          <a:bodyPr vert="horz" wrap="square" lIns="0" tIns="0" rIns="0" bIns="0" rtlCol="0" anchor="t">
            <a:noAutofit/>
          </a:bodyPr>
          <a:lstStyle/>
          <a:p>
            <a:pPr>
              <a:lnSpc>
                <a:spcPct val="105000"/>
              </a:lnSpc>
            </a:pPr>
            <a:r>
              <a:rPr lang="en-US" sz="1450" b="1">
                <a:solidFill>
                  <a:srgbClr val="142235"/>
                </a:solidFill>
                <a:latin typeface="Aptos" panose="020B0004020202020204" pitchFamily="34" charset="0"/>
              </a:rPr>
              <a:t>INSPECT + RECEIVE</a:t>
            </a:r>
          </a:p>
        </p:txBody>
      </p:sp>
      <p:sp>
        <p:nvSpPr>
          <p:cNvPr id="32" name="TextBox 31">
            <a:extLst>
              <a:ext uri="{FF2B5EF4-FFF2-40B4-BE49-F238E27FC236}">
                <a16:creationId xmlns:a16="http://schemas.microsoft.com/office/drawing/2014/main" id="{9FC4C33A-9C37-6D78-2EB8-096649176EB7}"/>
              </a:ext>
            </a:extLst>
          </p:cNvPr>
          <p:cNvSpPr txBox="1"/>
          <p:nvPr/>
        </p:nvSpPr>
        <p:spPr>
          <a:xfrm>
            <a:off x="9220200" y="2755900"/>
            <a:ext cx="2247900" cy="406400"/>
          </a:xfrm>
          <a:prstGeom prst="rect">
            <a:avLst/>
          </a:prstGeom>
          <a:noFill/>
        </p:spPr>
        <p:txBody>
          <a:bodyPr vert="horz" wrap="square" lIns="0" tIns="0" rIns="0" bIns="0" rtlCol="0" anchor="t">
            <a:noAutofit/>
          </a:bodyPr>
          <a:lstStyle/>
          <a:p>
            <a:pPr>
              <a:lnSpc>
                <a:spcPct val="105000"/>
              </a:lnSpc>
            </a:pPr>
            <a:r>
              <a:rPr lang="en-US" sz="1250" b="1">
                <a:solidFill>
                  <a:srgbClr val="142235"/>
                </a:solidFill>
                <a:latin typeface="Aptos" panose="020B0004020202020204" pitchFamily="34" charset="0"/>
              </a:rPr>
              <a:t>Named Engineer / Architect</a:t>
            </a:r>
          </a:p>
        </p:txBody>
      </p:sp>
      <p:sp>
        <p:nvSpPr>
          <p:cNvPr id="33" name="TextBox 32">
            <a:extLst>
              <a:ext uri="{FF2B5EF4-FFF2-40B4-BE49-F238E27FC236}">
                <a16:creationId xmlns:a16="http://schemas.microsoft.com/office/drawing/2014/main" id="{81F14C71-7413-7874-5B96-CFD4853878A2}"/>
              </a:ext>
            </a:extLst>
          </p:cNvPr>
          <p:cNvSpPr txBox="1"/>
          <p:nvPr/>
        </p:nvSpPr>
        <p:spPr>
          <a:xfrm>
            <a:off x="9220200" y="3238500"/>
            <a:ext cx="2247900" cy="469900"/>
          </a:xfrm>
          <a:prstGeom prst="rect">
            <a:avLst/>
          </a:prstGeom>
          <a:noFill/>
        </p:spPr>
        <p:txBody>
          <a:bodyPr vert="horz" wrap="square" lIns="0" tIns="0" rIns="0" bIns="0" rtlCol="0" anchor="t">
            <a:noAutofit/>
          </a:bodyPr>
          <a:lstStyle/>
          <a:p>
            <a:pPr>
              <a:lnSpc>
                <a:spcPct val="105000"/>
              </a:lnSpc>
            </a:pPr>
            <a:r>
              <a:rPr lang="en-US" sz="1250" b="1">
                <a:solidFill>
                  <a:srgbClr val="142235"/>
                </a:solidFill>
                <a:latin typeface="Aptos" panose="020B0004020202020204" pitchFamily="34" charset="0"/>
              </a:rPr>
              <a:t>request + transfer: received</a:t>
            </a:r>
          </a:p>
        </p:txBody>
      </p:sp>
      <p:sp>
        <p:nvSpPr>
          <p:cNvPr id="34" name="TextBox 33">
            <a:extLst>
              <a:ext uri="{FF2B5EF4-FFF2-40B4-BE49-F238E27FC236}">
                <a16:creationId xmlns:a16="http://schemas.microsoft.com/office/drawing/2014/main" id="{B33F5DF1-F503-280D-514C-1283895A5C83}"/>
              </a:ext>
            </a:extLst>
          </p:cNvPr>
          <p:cNvSpPr txBox="1"/>
          <p:nvPr/>
        </p:nvSpPr>
        <p:spPr>
          <a:xfrm>
            <a:off x="9220200" y="3810000"/>
            <a:ext cx="2247900" cy="609600"/>
          </a:xfrm>
          <a:prstGeom prst="rect">
            <a:avLst/>
          </a:prstGeom>
          <a:noFill/>
        </p:spPr>
        <p:txBody>
          <a:bodyPr vert="horz" wrap="square" lIns="0" tIns="0" rIns="0" bIns="0" rtlCol="0" anchor="t">
            <a:noAutofit/>
          </a:bodyPr>
          <a:lstStyle/>
          <a:p>
            <a:pPr>
              <a:lnSpc>
                <a:spcPct val="105000"/>
              </a:lnSpc>
            </a:pPr>
            <a:r>
              <a:rPr lang="en-US" sz="1200">
                <a:solidFill>
                  <a:srgbClr val="142235"/>
                </a:solidFill>
                <a:latin typeface="Aptos" panose="020B0004020202020204" pitchFamily="34" charset="0"/>
              </a:rPr>
              <a:t>Record every item’s condition</a:t>
            </a:r>
          </a:p>
          <a:p>
            <a:pPr>
              <a:lnSpc>
                <a:spcPct val="105000"/>
              </a:lnSpc>
            </a:pPr>
            <a:r>
              <a:rPr lang="en-US" sz="1200">
                <a:solidFill>
                  <a:srgbClr val="142235"/>
                </a:solidFill>
                <a:latin typeface="Aptos" panose="020B0004020202020204" pitchFamily="34" charset="0"/>
              </a:rPr>
              <a:t>and confirm physical testing.</a:t>
            </a:r>
          </a:p>
          <a:p>
            <a:pPr>
              <a:lnSpc>
                <a:spcPct val="105000"/>
              </a:lnSpc>
            </a:pPr>
            <a:r>
              <a:rPr lang="en-US" sz="1200">
                <a:solidFill>
                  <a:srgbClr val="142235"/>
                </a:solidFill>
                <a:latin typeface="Aptos" panose="020B0004020202020204" pitchFamily="34" charset="0"/>
              </a:rPr>
              <a:t>Accepted items change custody.</a:t>
            </a:r>
          </a:p>
        </p:txBody>
      </p:sp>
      <p:sp>
        <p:nvSpPr>
          <p:cNvPr id="35" name="TextBox 34">
            <a:extLst>
              <a:ext uri="{FF2B5EF4-FFF2-40B4-BE49-F238E27FC236}">
                <a16:creationId xmlns:a16="http://schemas.microsoft.com/office/drawing/2014/main" id="{16BDB5BD-D2DD-472B-4C75-4BFEA919D5EB}"/>
              </a:ext>
            </a:extLst>
          </p:cNvPr>
          <p:cNvSpPr txBox="1"/>
          <p:nvPr/>
        </p:nvSpPr>
        <p:spPr>
          <a:xfrm>
            <a:off x="9017000" y="1536700"/>
            <a:ext cx="2565400" cy="228600"/>
          </a:xfrm>
          <a:prstGeom prst="rect">
            <a:avLst/>
          </a:prstGeom>
          <a:noFill/>
        </p:spPr>
        <p:txBody>
          <a:bodyPr vert="horz" wrap="square" lIns="0" tIns="0" rIns="0" bIns="0" rtlCol="0" anchor="t">
            <a:noAutofit/>
          </a:bodyPr>
          <a:lstStyle/>
          <a:p>
            <a:pPr>
              <a:lnSpc>
                <a:spcPct val="105000"/>
              </a:lnSpc>
            </a:pPr>
            <a:r>
              <a:rPr lang="en-US" sz="1050" b="1">
                <a:solidFill>
                  <a:srgbClr val="C4A15A"/>
                </a:solidFill>
                <a:latin typeface="Aptos" panose="020B0004020202020204" pitchFamily="34" charset="0"/>
              </a:rPr>
              <a:t>CUSTODY CHANGES HERE</a:t>
            </a:r>
          </a:p>
        </p:txBody>
      </p:sp>
      <p:cxnSp>
        <p:nvCxnSpPr>
          <p:cNvPr id="36" name="Straight Connector 35">
            <a:extLst>
              <a:ext uri="{FF2B5EF4-FFF2-40B4-BE49-F238E27FC236}">
                <a16:creationId xmlns:a16="http://schemas.microsoft.com/office/drawing/2014/main" id="{4D403598-90EE-9A3D-F8F4-98977C75EAA8}"/>
              </a:ext>
            </a:extLst>
          </p:cNvPr>
          <p:cNvCxnSpPr/>
          <p:nvPr/>
        </p:nvCxnSpPr>
        <p:spPr>
          <a:xfrm>
            <a:off x="10312400" y="4521200"/>
            <a:ext cx="0" cy="165100"/>
          </a:xfrm>
          <a:prstGeom prst="line">
            <a:avLst/>
          </a:prstGeom>
          <a:ln w="17780">
            <a:solidFill>
              <a:srgbClr val="C4A15A"/>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2AE904FC-1283-4080-E3ED-F220165DFA75}"/>
              </a:ext>
            </a:extLst>
          </p:cNvPr>
          <p:cNvCxnSpPr/>
          <p:nvPr/>
        </p:nvCxnSpPr>
        <p:spPr>
          <a:xfrm>
            <a:off x="3263900" y="4686300"/>
            <a:ext cx="7048500" cy="0"/>
          </a:xfrm>
          <a:prstGeom prst="line">
            <a:avLst/>
          </a:prstGeom>
          <a:ln w="17780">
            <a:solidFill>
              <a:srgbClr val="C4A15A"/>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0E46BF3-412A-E262-44F5-6E8CEDA53340}"/>
              </a:ext>
            </a:extLst>
          </p:cNvPr>
          <p:cNvCxnSpPr/>
          <p:nvPr/>
        </p:nvCxnSpPr>
        <p:spPr>
          <a:xfrm>
            <a:off x="3263900" y="4686300"/>
            <a:ext cx="0" cy="127000"/>
          </a:xfrm>
          <a:prstGeom prst="line">
            <a:avLst/>
          </a:prstGeom>
          <a:ln w="17780">
            <a:solidFill>
              <a:srgbClr val="C4A15A"/>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B549FB6A-D2DC-F138-14E6-C96CF49B6A34}"/>
              </a:ext>
            </a:extLst>
          </p:cNvPr>
          <p:cNvCxnSpPr/>
          <p:nvPr/>
        </p:nvCxnSpPr>
        <p:spPr>
          <a:xfrm>
            <a:off x="10312400" y="4686300"/>
            <a:ext cx="0" cy="127000"/>
          </a:xfrm>
          <a:prstGeom prst="line">
            <a:avLst/>
          </a:prstGeom>
          <a:ln w="17780">
            <a:solidFill>
              <a:srgbClr val="C4A15A"/>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7D2D8DA9-A95E-9B7A-86B6-76C02585C607}"/>
              </a:ext>
            </a:extLst>
          </p:cNvPr>
          <p:cNvSpPr/>
          <p:nvPr/>
        </p:nvSpPr>
        <p:spPr>
          <a:xfrm>
            <a:off x="584200" y="4851400"/>
            <a:ext cx="5359400" cy="977900"/>
          </a:xfrm>
          <a:prstGeom prst="rect">
            <a:avLst/>
          </a:prstGeom>
          <a:solidFill>
            <a:srgbClr val="3A495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EFE69F9-51D4-A7C5-108B-86AE669D89EF}"/>
              </a:ext>
            </a:extLst>
          </p:cNvPr>
          <p:cNvSpPr/>
          <p:nvPr/>
        </p:nvSpPr>
        <p:spPr>
          <a:xfrm>
            <a:off x="6223000" y="4851400"/>
            <a:ext cx="5384800" cy="977900"/>
          </a:xfrm>
          <a:prstGeom prst="rect">
            <a:avLst/>
          </a:prstGeom>
          <a:solidFill>
            <a:srgbClr val="3A495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C693801A-EE8E-3CEE-4E3E-65EDD8EA11CB}"/>
              </a:ext>
            </a:extLst>
          </p:cNvPr>
          <p:cNvSpPr txBox="1"/>
          <p:nvPr/>
        </p:nvSpPr>
        <p:spPr>
          <a:xfrm>
            <a:off x="762000" y="5003800"/>
            <a:ext cx="4978400" cy="279400"/>
          </a:xfrm>
          <a:prstGeom prst="rect">
            <a:avLst/>
          </a:prstGeom>
          <a:noFill/>
        </p:spPr>
        <p:txBody>
          <a:bodyPr vert="horz" wrap="square" lIns="0" tIns="0" rIns="0" bIns="0" rtlCol="0" anchor="t">
            <a:noAutofit/>
          </a:bodyPr>
          <a:lstStyle/>
          <a:p>
            <a:pPr>
              <a:lnSpc>
                <a:spcPct val="105000"/>
              </a:lnSpc>
            </a:pPr>
            <a:r>
              <a:rPr lang="en-US" sz="1350" b="1">
                <a:solidFill>
                  <a:srgbClr val="FFFFFF"/>
                </a:solidFill>
                <a:latin typeface="Aptos" panose="020B0004020202020204" pitchFamily="34" charset="0"/>
              </a:rPr>
              <a:t>TRANSFER TO ANOTHER PROJECT</a:t>
            </a:r>
          </a:p>
        </p:txBody>
      </p:sp>
      <p:sp>
        <p:nvSpPr>
          <p:cNvPr id="43" name="TextBox 42">
            <a:extLst>
              <a:ext uri="{FF2B5EF4-FFF2-40B4-BE49-F238E27FC236}">
                <a16:creationId xmlns:a16="http://schemas.microsoft.com/office/drawing/2014/main" id="{2D640B8C-4F9C-A288-D797-D43F862F0EA8}"/>
              </a:ext>
            </a:extLst>
          </p:cNvPr>
          <p:cNvSpPr txBox="1"/>
          <p:nvPr/>
        </p:nvSpPr>
        <p:spPr>
          <a:xfrm>
            <a:off x="762000" y="5372100"/>
            <a:ext cx="4978400" cy="292100"/>
          </a:xfrm>
          <a:prstGeom prst="rect">
            <a:avLst/>
          </a:prstGeom>
          <a:noFill/>
        </p:spPr>
        <p:txBody>
          <a:bodyPr vert="horz" wrap="square" lIns="0" tIns="0" rIns="0" bIns="0" rtlCol="0" anchor="t">
            <a:noAutofit/>
          </a:bodyPr>
          <a:lstStyle/>
          <a:p>
            <a:pPr>
              <a:lnSpc>
                <a:spcPct val="105000"/>
              </a:lnSpc>
            </a:pPr>
            <a:r>
              <a:rPr lang="en-US" sz="1250">
                <a:solidFill>
                  <a:srgbClr val="D5DCE5"/>
                </a:solidFill>
                <a:latin typeface="Aptos" panose="020B0004020202020204" pitchFamily="34" charset="0"/>
              </a:rPr>
              <a:t>Engineer / Architect sends → named receiver inspects.</a:t>
            </a:r>
          </a:p>
        </p:txBody>
      </p:sp>
      <p:sp>
        <p:nvSpPr>
          <p:cNvPr id="44" name="TextBox 43">
            <a:extLst>
              <a:ext uri="{FF2B5EF4-FFF2-40B4-BE49-F238E27FC236}">
                <a16:creationId xmlns:a16="http://schemas.microsoft.com/office/drawing/2014/main" id="{AB90EAA3-3C6B-E2DA-72BD-39A8AEAD67BC}"/>
              </a:ext>
            </a:extLst>
          </p:cNvPr>
          <p:cNvSpPr txBox="1"/>
          <p:nvPr/>
        </p:nvSpPr>
        <p:spPr>
          <a:xfrm>
            <a:off x="6400800" y="5003800"/>
            <a:ext cx="4978400" cy="279400"/>
          </a:xfrm>
          <a:prstGeom prst="rect">
            <a:avLst/>
          </a:prstGeom>
          <a:noFill/>
        </p:spPr>
        <p:txBody>
          <a:bodyPr vert="horz" wrap="square" lIns="0" tIns="0" rIns="0" bIns="0" rtlCol="0" anchor="t">
            <a:noAutofit/>
          </a:bodyPr>
          <a:lstStyle/>
          <a:p>
            <a:pPr>
              <a:lnSpc>
                <a:spcPct val="105000"/>
              </a:lnSpc>
            </a:pPr>
            <a:r>
              <a:rPr lang="en-US" sz="1350" b="1">
                <a:solidFill>
                  <a:srgbClr val="FFFFFF"/>
                </a:solidFill>
                <a:latin typeface="Aptos" panose="020B0004020202020204" pitchFamily="34" charset="0"/>
              </a:rPr>
              <a:t>RETURN TO CONFIGURED OFFICE</a:t>
            </a:r>
          </a:p>
        </p:txBody>
      </p:sp>
      <p:sp>
        <p:nvSpPr>
          <p:cNvPr id="45" name="TextBox 44">
            <a:extLst>
              <a:ext uri="{FF2B5EF4-FFF2-40B4-BE49-F238E27FC236}">
                <a16:creationId xmlns:a16="http://schemas.microsoft.com/office/drawing/2014/main" id="{EABF250E-1E90-B520-6E63-EB4940B970E5}"/>
              </a:ext>
            </a:extLst>
          </p:cNvPr>
          <p:cNvSpPr txBox="1"/>
          <p:nvPr/>
        </p:nvSpPr>
        <p:spPr>
          <a:xfrm>
            <a:off x="6400800" y="5372100"/>
            <a:ext cx="4978400" cy="292100"/>
          </a:xfrm>
          <a:prstGeom prst="rect">
            <a:avLst/>
          </a:prstGeom>
          <a:noFill/>
        </p:spPr>
        <p:txBody>
          <a:bodyPr vert="horz" wrap="square" lIns="0" tIns="0" rIns="0" bIns="0" rtlCol="0" anchor="t">
            <a:noAutofit/>
          </a:bodyPr>
          <a:lstStyle/>
          <a:p>
            <a:pPr>
              <a:lnSpc>
                <a:spcPct val="105000"/>
              </a:lnSpc>
            </a:pPr>
            <a:r>
              <a:rPr lang="en-US" sz="1250">
                <a:solidFill>
                  <a:srgbClr val="D5DCE5"/>
                </a:solidFill>
                <a:latin typeface="Aptos" panose="020B0004020202020204" pitchFamily="34" charset="0"/>
              </a:rPr>
              <a:t>Engineer / Architect; good / damaged clear custody.</a:t>
            </a:r>
          </a:p>
        </p:txBody>
      </p:sp>
      <p:sp>
        <p:nvSpPr>
          <p:cNvPr id="46" name="TextBox 45">
            <a:extLst>
              <a:ext uri="{FF2B5EF4-FFF2-40B4-BE49-F238E27FC236}">
                <a16:creationId xmlns:a16="http://schemas.microsoft.com/office/drawing/2014/main" id="{35D04577-EC86-506D-352C-7467B3B16C2B}"/>
              </a:ext>
            </a:extLst>
          </p:cNvPr>
          <p:cNvSpPr txBox="1"/>
          <p:nvPr/>
        </p:nvSpPr>
        <p:spPr>
          <a:xfrm>
            <a:off x="584200" y="6083300"/>
            <a:ext cx="11023600" cy="241300"/>
          </a:xfrm>
          <a:prstGeom prst="rect">
            <a:avLst/>
          </a:prstGeom>
          <a:noFill/>
        </p:spPr>
        <p:txBody>
          <a:bodyPr vert="horz" wrap="square" lIns="0" tIns="0" rIns="0" bIns="0" rtlCol="0" anchor="t">
            <a:noAutofit/>
          </a:bodyPr>
          <a:lstStyle/>
          <a:p>
            <a:pPr>
              <a:lnSpc>
                <a:spcPct val="105000"/>
              </a:lnSpc>
            </a:pPr>
            <a:r>
              <a:rPr lang="en-US" sz="1150">
                <a:solidFill>
                  <a:srgbClr val="D5DCE5"/>
                </a:solidFill>
                <a:latin typeface="Aptos" panose="020B0004020202020204" pitchFamily="34" charset="0"/>
              </a:rPr>
              <a:t>Exceptions: accepted damage → repair case; missing item → prior holder and last recorded site retained.</a:t>
            </a:r>
          </a:p>
        </p:txBody>
      </p:sp>
    </p:spTree>
    <p:extLst>
      <p:ext uri="{BB962C8B-B14F-4D97-AF65-F5344CB8AC3E}">
        <p14:creationId xmlns:p14="http://schemas.microsoft.com/office/powerpoint/2010/main" val="3606284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22732E-6F5C-8E49-1484-E8443C5CBB77}"/>
              </a:ext>
            </a:extLst>
          </p:cNvPr>
          <p:cNvSpPr txBox="1"/>
          <p:nvPr/>
        </p:nvSpPr>
        <p:spPr>
          <a:xfrm>
            <a:off x="584200" y="317500"/>
            <a:ext cx="10160000" cy="215900"/>
          </a:xfrm>
          <a:prstGeom prst="rect">
            <a:avLst/>
          </a:prstGeom>
          <a:noFill/>
        </p:spPr>
        <p:txBody>
          <a:bodyPr vert="horz" wrap="square" lIns="0" tIns="0" rIns="0" bIns="0" rtlCol="0" anchor="t">
            <a:noAutofit/>
          </a:bodyPr>
          <a:lstStyle/>
          <a:p>
            <a:pPr>
              <a:lnSpc>
                <a:spcPct val="105000"/>
              </a:lnSpc>
            </a:pPr>
            <a:r>
              <a:rPr lang="en-US" sz="1050" b="1" spc="150">
                <a:solidFill>
                  <a:srgbClr val="C4A15A"/>
                </a:solidFill>
                <a:latin typeface="Aptos" panose="020B0004020202020204" pitchFamily="34" charset="0"/>
              </a:rPr>
              <a:t>PROJECT MANAGEMENT</a:t>
            </a:r>
          </a:p>
        </p:txBody>
      </p:sp>
      <p:sp>
        <p:nvSpPr>
          <p:cNvPr id="3" name="Slide title">
            <a:extLst>
              <a:ext uri="{FF2B5EF4-FFF2-40B4-BE49-F238E27FC236}">
                <a16:creationId xmlns:a16="http://schemas.microsoft.com/office/drawing/2014/main" id="{6C9CD641-2791-8F62-F993-60B516B4CFCD}"/>
              </a:ext>
            </a:extLst>
          </p:cNvPr>
          <p:cNvSpPr txBox="1"/>
          <p:nvPr/>
        </p:nvSpPr>
        <p:spPr>
          <a:xfrm>
            <a:off x="584200" y="698500"/>
            <a:ext cx="11023600" cy="914400"/>
          </a:xfrm>
          <a:prstGeom prst="rect">
            <a:avLst/>
          </a:prstGeom>
          <a:noFill/>
        </p:spPr>
        <p:txBody>
          <a:bodyPr vert="horz" wrap="square" lIns="0" tIns="0" rIns="0" bIns="0" rtlCol="0" anchor="t">
            <a:noAutofit/>
          </a:bodyPr>
          <a:lstStyle/>
          <a:p>
            <a:pPr>
              <a:lnSpc>
                <a:spcPct val="105000"/>
              </a:lnSpc>
            </a:pPr>
            <a:r>
              <a:rPr lang="en-US" sz="3000" b="1">
                <a:solidFill>
                  <a:srgbClr val="142235"/>
                </a:solidFill>
                <a:latin typeface="Aptos" panose="020B0004020202020204" pitchFamily="34" charset="0"/>
              </a:rPr>
              <a:t>Connecting Equipment to Construction Projects</a:t>
            </a:r>
          </a:p>
        </p:txBody>
      </p:sp>
      <p:cxnSp>
        <p:nvCxnSpPr>
          <p:cNvPr id="4" name="Straight Connector 3">
            <a:extLst>
              <a:ext uri="{FF2B5EF4-FFF2-40B4-BE49-F238E27FC236}">
                <a16:creationId xmlns:a16="http://schemas.microsoft.com/office/drawing/2014/main" id="{95AFEE77-25FE-C2F5-C1C2-8333E12441E0}"/>
              </a:ext>
            </a:extLst>
          </p:cNvPr>
          <p:cNvCxnSpPr/>
          <p:nvPr/>
        </p:nvCxnSpPr>
        <p:spPr>
          <a:xfrm>
            <a:off x="584200" y="6464300"/>
            <a:ext cx="11023600" cy="0"/>
          </a:xfrm>
          <a:prstGeom prst="line">
            <a:avLst/>
          </a:prstGeom>
          <a:ln w="8890">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A00C4016-2937-0CED-5735-D7FF69A7C63E}"/>
              </a:ext>
            </a:extLst>
          </p:cNvPr>
          <p:cNvSpPr txBox="1"/>
          <p:nvPr/>
        </p:nvSpPr>
        <p:spPr>
          <a:xfrm>
            <a:off x="584200" y="6578600"/>
            <a:ext cx="2349500" cy="177800"/>
          </a:xfrm>
          <a:prstGeom prst="rect">
            <a:avLst/>
          </a:prstGeom>
          <a:noFill/>
        </p:spPr>
        <p:txBody>
          <a:bodyPr vert="horz" wrap="square" lIns="0" tIns="0" rIns="0" bIns="0" rtlCol="0" anchor="t">
            <a:noAutofit/>
          </a:bodyPr>
          <a:lstStyle/>
          <a:p>
            <a:pPr>
              <a:lnSpc>
                <a:spcPct val="105000"/>
              </a:lnSpc>
            </a:pPr>
            <a:r>
              <a:rPr lang="en-US" sz="950" b="1">
                <a:solidFill>
                  <a:srgbClr val="66717D"/>
                </a:solidFill>
                <a:latin typeface="Aptos" panose="020B0004020202020204" pitchFamily="34" charset="0"/>
              </a:rPr>
              <a:t>MCPA / SITETRACE</a:t>
            </a:r>
          </a:p>
        </p:txBody>
      </p:sp>
      <p:sp>
        <p:nvSpPr>
          <p:cNvPr id="6" name="TextBox 5">
            <a:extLst>
              <a:ext uri="{FF2B5EF4-FFF2-40B4-BE49-F238E27FC236}">
                <a16:creationId xmlns:a16="http://schemas.microsoft.com/office/drawing/2014/main" id="{EEEB921B-8CF7-ADE8-0664-88F115BCA9E9}"/>
              </a:ext>
            </a:extLst>
          </p:cNvPr>
          <p:cNvSpPr txBox="1"/>
          <p:nvPr/>
        </p:nvSpPr>
        <p:spPr>
          <a:xfrm>
            <a:off x="3429000" y="6578600"/>
            <a:ext cx="7048500" cy="177800"/>
          </a:xfrm>
          <a:prstGeom prst="rect">
            <a:avLst/>
          </a:prstGeom>
          <a:noFill/>
        </p:spPr>
        <p:txBody>
          <a:bodyPr vert="horz" wrap="square" lIns="0" tIns="0" rIns="0" bIns="0" rtlCol="0" anchor="t">
            <a:noAutofit/>
          </a:bodyPr>
          <a:lstStyle/>
          <a:p>
            <a:pPr algn="r">
              <a:lnSpc>
                <a:spcPct val="105000"/>
              </a:lnSpc>
            </a:pPr>
            <a:r>
              <a:rPr lang="en-US" sz="950">
                <a:solidFill>
                  <a:srgbClr val="66717D"/>
                </a:solidFill>
                <a:latin typeface="Aptos" panose="020B0004020202020204" pitchFamily="34" charset="0"/>
              </a:rPr>
              <a:t>Code + isolated application evidence · 24 October 2026</a:t>
            </a:r>
          </a:p>
        </p:txBody>
      </p:sp>
      <p:sp>
        <p:nvSpPr>
          <p:cNvPr id="7" name="TextBox 6">
            <a:extLst>
              <a:ext uri="{FF2B5EF4-FFF2-40B4-BE49-F238E27FC236}">
                <a16:creationId xmlns:a16="http://schemas.microsoft.com/office/drawing/2014/main" id="{2802E590-72D9-E26F-2D2D-0839D875F506}"/>
              </a:ext>
            </a:extLst>
          </p:cNvPr>
          <p:cNvSpPr txBox="1"/>
          <p:nvPr/>
        </p:nvSpPr>
        <p:spPr>
          <a:xfrm>
            <a:off x="11010900" y="6553200"/>
            <a:ext cx="596900" cy="215900"/>
          </a:xfrm>
          <a:prstGeom prst="rect">
            <a:avLst/>
          </a:prstGeom>
          <a:noFill/>
        </p:spPr>
        <p:txBody>
          <a:bodyPr vert="horz" wrap="square" lIns="0" tIns="0" rIns="0" bIns="0" rtlCol="0" anchor="t">
            <a:noAutofit/>
          </a:bodyPr>
          <a:lstStyle/>
          <a:p>
            <a:pPr algn="r">
              <a:lnSpc>
                <a:spcPct val="105000"/>
              </a:lnSpc>
            </a:pPr>
            <a:r>
              <a:rPr lang="en-US" sz="1100" b="1">
                <a:solidFill>
                  <a:srgbClr val="142235"/>
                </a:solidFill>
                <a:latin typeface="Aptos" panose="020B0004020202020204" pitchFamily="34" charset="0"/>
              </a:rPr>
              <a:t>06</a:t>
            </a:r>
          </a:p>
        </p:txBody>
      </p:sp>
      <p:pic>
        <p:nvPicPr>
          <p:cNvPr id="9" name="Picture 8" descr="Actual SiteTrace application. Local isolated test environment, synthetic data. Source: project-detail.png">
            <a:extLst>
              <a:ext uri="{FF2B5EF4-FFF2-40B4-BE49-F238E27FC236}">
                <a16:creationId xmlns:a16="http://schemas.microsoft.com/office/drawing/2014/main" id="{0711ABA8-C801-6150-22BE-8DD37B727BD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06488" y="1841500"/>
            <a:ext cx="5635625" cy="4445000"/>
          </a:xfrm>
          <a:prstGeom prst="rect">
            <a:avLst/>
          </a:prstGeom>
        </p:spPr>
      </p:pic>
      <p:sp>
        <p:nvSpPr>
          <p:cNvPr id="10" name="TextBox 9">
            <a:extLst>
              <a:ext uri="{FF2B5EF4-FFF2-40B4-BE49-F238E27FC236}">
                <a16:creationId xmlns:a16="http://schemas.microsoft.com/office/drawing/2014/main" id="{D969D6AC-DEEA-07E6-BDE1-C949E7E97417}"/>
              </a:ext>
            </a:extLst>
          </p:cNvPr>
          <p:cNvSpPr txBox="1"/>
          <p:nvPr/>
        </p:nvSpPr>
        <p:spPr>
          <a:xfrm>
            <a:off x="7670800" y="1841500"/>
            <a:ext cx="3937000" cy="304800"/>
          </a:xfrm>
          <a:prstGeom prst="rect">
            <a:avLst/>
          </a:prstGeom>
          <a:noFill/>
        </p:spPr>
        <p:txBody>
          <a:bodyPr vert="horz" wrap="square" lIns="0" tIns="0" rIns="0" bIns="0" rtlCol="0" anchor="t">
            <a:noAutofit/>
          </a:bodyPr>
          <a:lstStyle/>
          <a:p>
            <a:pPr>
              <a:lnSpc>
                <a:spcPct val="105000"/>
              </a:lnSpc>
            </a:pPr>
            <a:r>
              <a:rPr lang="en-US" sz="1650" b="1">
                <a:solidFill>
                  <a:srgbClr val="142235"/>
                </a:solidFill>
                <a:latin typeface="Aptos" panose="020B0004020202020204" pitchFamily="34" charset="0"/>
              </a:rPr>
              <a:t>Assigned responsibility</a:t>
            </a:r>
          </a:p>
        </p:txBody>
      </p:sp>
      <p:sp>
        <p:nvSpPr>
          <p:cNvPr id="11" name="TextBox 10">
            <a:extLst>
              <a:ext uri="{FF2B5EF4-FFF2-40B4-BE49-F238E27FC236}">
                <a16:creationId xmlns:a16="http://schemas.microsoft.com/office/drawing/2014/main" id="{5A1BA9A1-AD60-3DBA-91F1-DDD96351BECC}"/>
              </a:ext>
            </a:extLst>
          </p:cNvPr>
          <p:cNvSpPr txBox="1"/>
          <p:nvPr/>
        </p:nvSpPr>
        <p:spPr>
          <a:xfrm>
            <a:off x="7670800" y="2197100"/>
            <a:ext cx="3937000" cy="533400"/>
          </a:xfrm>
          <a:prstGeom prst="rect">
            <a:avLst/>
          </a:prstGeom>
          <a:noFill/>
        </p:spPr>
        <p:txBody>
          <a:bodyPr vert="horz" wrap="square" lIns="0" tIns="0" rIns="0" bIns="0" rtlCol="0" anchor="t">
            <a:noAutofit/>
          </a:bodyPr>
          <a:lstStyle/>
          <a:p>
            <a:pPr>
              <a:lnSpc>
                <a:spcPct val="105000"/>
              </a:lnSpc>
            </a:pPr>
            <a:r>
              <a:rPr lang="en-US" sz="1450">
                <a:solidFill>
                  <a:srgbClr val="66717D"/>
                </a:solidFill>
                <a:latin typeface="Aptos" panose="020B0004020202020204" pitchFamily="34" charset="0"/>
              </a:rPr>
              <a:t>Project information links to an</a:t>
            </a:r>
          </a:p>
          <a:p>
            <a:pPr>
              <a:lnSpc>
                <a:spcPct val="105000"/>
              </a:lnSpc>
            </a:pPr>
            <a:r>
              <a:rPr lang="en-US" sz="1450">
                <a:solidFill>
                  <a:srgbClr val="66717D"/>
                </a:solidFill>
                <a:latin typeface="Aptos" panose="020B0004020202020204" pitchFamily="34" charset="0"/>
              </a:rPr>
              <a:t>Engineer / Architect profile.</a:t>
            </a:r>
          </a:p>
        </p:txBody>
      </p:sp>
      <p:sp>
        <p:nvSpPr>
          <p:cNvPr id="12" name="TextBox 11">
            <a:extLst>
              <a:ext uri="{FF2B5EF4-FFF2-40B4-BE49-F238E27FC236}">
                <a16:creationId xmlns:a16="http://schemas.microsoft.com/office/drawing/2014/main" id="{8814C03B-E6E5-8DC3-3090-14E487B90711}"/>
              </a:ext>
            </a:extLst>
          </p:cNvPr>
          <p:cNvSpPr txBox="1"/>
          <p:nvPr/>
        </p:nvSpPr>
        <p:spPr>
          <a:xfrm>
            <a:off x="7670800" y="2857500"/>
            <a:ext cx="3937000" cy="304800"/>
          </a:xfrm>
          <a:prstGeom prst="rect">
            <a:avLst/>
          </a:prstGeom>
          <a:noFill/>
        </p:spPr>
        <p:txBody>
          <a:bodyPr vert="horz" wrap="square" lIns="0" tIns="0" rIns="0" bIns="0" rtlCol="0" anchor="t">
            <a:noAutofit/>
          </a:bodyPr>
          <a:lstStyle/>
          <a:p>
            <a:pPr>
              <a:lnSpc>
                <a:spcPct val="105000"/>
              </a:lnSpc>
            </a:pPr>
            <a:r>
              <a:rPr lang="en-US" sz="1650" b="1">
                <a:solidFill>
                  <a:srgbClr val="142235"/>
                </a:solidFill>
                <a:latin typeface="Aptos" panose="020B0004020202020204" pitchFamily="34" charset="0"/>
              </a:rPr>
              <a:t>Deployment visibility</a:t>
            </a:r>
          </a:p>
        </p:txBody>
      </p:sp>
      <p:sp>
        <p:nvSpPr>
          <p:cNvPr id="13" name="TextBox 12">
            <a:extLst>
              <a:ext uri="{FF2B5EF4-FFF2-40B4-BE49-F238E27FC236}">
                <a16:creationId xmlns:a16="http://schemas.microsoft.com/office/drawing/2014/main" id="{A1FC0537-1991-D614-72CD-10F3D21E802A}"/>
              </a:ext>
            </a:extLst>
          </p:cNvPr>
          <p:cNvSpPr txBox="1"/>
          <p:nvPr/>
        </p:nvSpPr>
        <p:spPr>
          <a:xfrm>
            <a:off x="7670800" y="3213100"/>
            <a:ext cx="3937000" cy="533400"/>
          </a:xfrm>
          <a:prstGeom prst="rect">
            <a:avLst/>
          </a:prstGeom>
          <a:noFill/>
        </p:spPr>
        <p:txBody>
          <a:bodyPr vert="horz" wrap="square" lIns="0" tIns="0" rIns="0" bIns="0" rtlCol="0" anchor="t">
            <a:noAutofit/>
          </a:bodyPr>
          <a:lstStyle/>
          <a:p>
            <a:pPr>
              <a:lnSpc>
                <a:spcPct val="105000"/>
              </a:lnSpc>
            </a:pPr>
            <a:r>
              <a:rPr lang="en-US" sz="1450">
                <a:solidFill>
                  <a:srgbClr val="66717D"/>
                </a:solidFill>
                <a:latin typeface="Aptos" panose="020B0004020202020204" pitchFamily="34" charset="0"/>
              </a:rPr>
              <a:t>Review linked equipment, saved</a:t>
            </a:r>
          </a:p>
          <a:p>
            <a:pPr>
              <a:lnSpc>
                <a:spcPct val="105000"/>
              </a:lnSpc>
            </a:pPr>
            <a:r>
              <a:rPr lang="en-US" sz="1450">
                <a:solidFill>
                  <a:srgbClr val="66717D"/>
                </a:solidFill>
                <a:latin typeface="Aptos" panose="020B0004020202020204" pitchFamily="34" charset="0"/>
              </a:rPr>
              <a:t>holders and recorded statuses.</a:t>
            </a:r>
          </a:p>
        </p:txBody>
      </p:sp>
      <p:sp>
        <p:nvSpPr>
          <p:cNvPr id="14" name="TextBox 13">
            <a:extLst>
              <a:ext uri="{FF2B5EF4-FFF2-40B4-BE49-F238E27FC236}">
                <a16:creationId xmlns:a16="http://schemas.microsoft.com/office/drawing/2014/main" id="{72107720-9C6A-D4DD-CDCC-1B236097EB48}"/>
              </a:ext>
            </a:extLst>
          </p:cNvPr>
          <p:cNvSpPr txBox="1"/>
          <p:nvPr/>
        </p:nvSpPr>
        <p:spPr>
          <a:xfrm>
            <a:off x="7670800" y="3962400"/>
            <a:ext cx="3937000" cy="254000"/>
          </a:xfrm>
          <a:prstGeom prst="rect">
            <a:avLst/>
          </a:prstGeom>
          <a:noFill/>
        </p:spPr>
        <p:txBody>
          <a:bodyPr vert="horz" wrap="square" lIns="0" tIns="0" rIns="0" bIns="0" rtlCol="0" anchor="t">
            <a:noAutofit/>
          </a:bodyPr>
          <a:lstStyle/>
          <a:p>
            <a:pPr>
              <a:lnSpc>
                <a:spcPct val="105000"/>
              </a:lnSpc>
            </a:pPr>
            <a:r>
              <a:rPr lang="en-US" sz="1100" b="1">
                <a:solidFill>
                  <a:srgbClr val="66717D"/>
                </a:solidFill>
                <a:latin typeface="Aptos" panose="020B0004020202020204" pitchFamily="34" charset="0"/>
              </a:rPr>
              <a:t>WEIGHTED COMPLETION</a:t>
            </a:r>
          </a:p>
        </p:txBody>
      </p:sp>
      <p:pic>
        <p:nvPicPr>
          <p:cNvPr id="16" name="Picture 15" descr="Actual SiteTrace application. Local isolated test environment, synthetic data. Source: project-progress-focus.png">
            <a:extLst>
              <a:ext uri="{FF2B5EF4-FFF2-40B4-BE49-F238E27FC236}">
                <a16:creationId xmlns:a16="http://schemas.microsoft.com/office/drawing/2014/main" id="{1815F24A-31F9-37B2-6177-0C5D77EDFA5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675142" y="4305300"/>
            <a:ext cx="3928316" cy="977900"/>
          </a:xfrm>
          <a:prstGeom prst="rect">
            <a:avLst/>
          </a:prstGeom>
        </p:spPr>
      </p:pic>
      <p:sp>
        <p:nvSpPr>
          <p:cNvPr id="17" name="TextBox 16">
            <a:extLst>
              <a:ext uri="{FF2B5EF4-FFF2-40B4-BE49-F238E27FC236}">
                <a16:creationId xmlns:a16="http://schemas.microsoft.com/office/drawing/2014/main" id="{81422CD6-703C-58D7-A34E-0895AC6A14DC}"/>
              </a:ext>
            </a:extLst>
          </p:cNvPr>
          <p:cNvSpPr txBox="1"/>
          <p:nvPr/>
        </p:nvSpPr>
        <p:spPr>
          <a:xfrm>
            <a:off x="7670800" y="5461000"/>
            <a:ext cx="3937000" cy="685800"/>
          </a:xfrm>
          <a:prstGeom prst="rect">
            <a:avLst/>
          </a:prstGeom>
          <a:noFill/>
        </p:spPr>
        <p:txBody>
          <a:bodyPr vert="horz" wrap="square" lIns="0" tIns="0" rIns="0" bIns="0" rtlCol="0" anchor="t">
            <a:noAutofit/>
          </a:bodyPr>
          <a:lstStyle/>
          <a:p>
            <a:pPr>
              <a:lnSpc>
                <a:spcPct val="105000"/>
              </a:lnSpc>
            </a:pPr>
            <a:r>
              <a:rPr lang="en-US" sz="1350">
                <a:solidFill>
                  <a:srgbClr val="66717D"/>
                </a:solidFill>
                <a:latin typeface="Aptos" panose="020B0004020202020204" pitchFamily="34" charset="0"/>
              </a:rPr>
              <a:t>Calculated from configured work-area</a:t>
            </a:r>
          </a:p>
          <a:p>
            <a:pPr>
              <a:lnSpc>
                <a:spcPct val="105000"/>
              </a:lnSpc>
            </a:pPr>
            <a:r>
              <a:rPr lang="en-US" sz="1350">
                <a:solidFill>
                  <a:srgbClr val="66717D"/>
                </a:solidFill>
                <a:latin typeface="Aptos" panose="020B0004020202020204" pitchFamily="34" charset="0"/>
              </a:rPr>
              <a:t>weights. Locally verified upgrade;</a:t>
            </a:r>
          </a:p>
          <a:p>
            <a:pPr>
              <a:lnSpc>
                <a:spcPct val="105000"/>
              </a:lnSpc>
            </a:pPr>
            <a:r>
              <a:rPr lang="en-US" sz="1350">
                <a:solidFill>
                  <a:srgbClr val="66717D"/>
                </a:solidFill>
                <a:latin typeface="Aptos" panose="020B0004020202020204" pitchFamily="34" charset="0"/>
              </a:rPr>
              <a:t>production installation unconfirmed.</a:t>
            </a:r>
          </a:p>
        </p:txBody>
      </p:sp>
      <p:sp>
        <p:nvSpPr>
          <p:cNvPr id="18" name="TextBox 17">
            <a:extLst>
              <a:ext uri="{FF2B5EF4-FFF2-40B4-BE49-F238E27FC236}">
                <a16:creationId xmlns:a16="http://schemas.microsoft.com/office/drawing/2014/main" id="{73BBC82B-6CFB-2813-61C9-FCBDC564883A}"/>
              </a:ext>
            </a:extLst>
          </p:cNvPr>
          <p:cNvSpPr txBox="1"/>
          <p:nvPr/>
        </p:nvSpPr>
        <p:spPr>
          <a:xfrm>
            <a:off x="584200" y="6223000"/>
            <a:ext cx="6680200" cy="203200"/>
          </a:xfrm>
          <a:prstGeom prst="rect">
            <a:avLst/>
          </a:prstGeom>
          <a:noFill/>
        </p:spPr>
        <p:txBody>
          <a:bodyPr vert="horz" wrap="square" lIns="0" tIns="0" rIns="0" bIns="0" rtlCol="0" anchor="t">
            <a:noAutofit/>
          </a:bodyPr>
          <a:lstStyle/>
          <a:p>
            <a:pPr>
              <a:lnSpc>
                <a:spcPct val="105000"/>
              </a:lnSpc>
            </a:pPr>
            <a:r>
              <a:rPr lang="en-US" sz="950" b="1">
                <a:solidFill>
                  <a:srgbClr val="66717D"/>
                </a:solidFill>
                <a:latin typeface="Aptos" panose="020B0004020202020204" pitchFamily="34" charset="0"/>
              </a:rPr>
              <a:t>ACTUAL APPLICATION · LOCAL TEST ENVIRONMENT · SYNTHETIC DATA</a:t>
            </a:r>
          </a:p>
        </p:txBody>
      </p:sp>
    </p:spTree>
    <p:extLst>
      <p:ext uri="{BB962C8B-B14F-4D97-AF65-F5344CB8AC3E}">
        <p14:creationId xmlns:p14="http://schemas.microsoft.com/office/powerpoint/2010/main" val="3034261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0C95B0-582E-F562-55A4-AE50C1087EBF}"/>
              </a:ext>
            </a:extLst>
          </p:cNvPr>
          <p:cNvSpPr txBox="1"/>
          <p:nvPr/>
        </p:nvSpPr>
        <p:spPr>
          <a:xfrm>
            <a:off x="584200" y="317500"/>
            <a:ext cx="10160000" cy="215900"/>
          </a:xfrm>
          <a:prstGeom prst="rect">
            <a:avLst/>
          </a:prstGeom>
          <a:noFill/>
        </p:spPr>
        <p:txBody>
          <a:bodyPr vert="horz" wrap="square" lIns="0" tIns="0" rIns="0" bIns="0" rtlCol="0" anchor="t">
            <a:noAutofit/>
          </a:bodyPr>
          <a:lstStyle/>
          <a:p>
            <a:pPr>
              <a:lnSpc>
                <a:spcPct val="105000"/>
              </a:lnSpc>
            </a:pPr>
            <a:r>
              <a:rPr lang="en-US" sz="1050" b="1" spc="150">
                <a:solidFill>
                  <a:srgbClr val="C4A15A"/>
                </a:solidFill>
                <a:latin typeface="Aptos" panose="020B0004020202020204" pitchFamily="34" charset="0"/>
              </a:rPr>
              <a:t>CONSUMABLES INVENTORY</a:t>
            </a:r>
          </a:p>
        </p:txBody>
      </p:sp>
      <p:sp>
        <p:nvSpPr>
          <p:cNvPr id="3" name="Slide title">
            <a:extLst>
              <a:ext uri="{FF2B5EF4-FFF2-40B4-BE49-F238E27FC236}">
                <a16:creationId xmlns:a16="http://schemas.microsoft.com/office/drawing/2014/main" id="{EFEE40B0-5CB1-1D15-7BF9-6EB1DADD8D94}"/>
              </a:ext>
            </a:extLst>
          </p:cNvPr>
          <p:cNvSpPr txBox="1"/>
          <p:nvPr/>
        </p:nvSpPr>
        <p:spPr>
          <a:xfrm>
            <a:off x="584200" y="698500"/>
            <a:ext cx="11023600" cy="914400"/>
          </a:xfrm>
          <a:prstGeom prst="rect">
            <a:avLst/>
          </a:prstGeom>
          <a:noFill/>
        </p:spPr>
        <p:txBody>
          <a:bodyPr vert="horz" wrap="square" lIns="0" tIns="0" rIns="0" bIns="0" rtlCol="0" anchor="t">
            <a:noAutofit/>
          </a:bodyPr>
          <a:lstStyle/>
          <a:p>
            <a:pPr>
              <a:lnSpc>
                <a:spcPct val="105000"/>
              </a:lnSpc>
            </a:pPr>
            <a:r>
              <a:rPr lang="en-US" sz="3000" b="1">
                <a:solidFill>
                  <a:srgbClr val="142235"/>
                </a:solidFill>
                <a:latin typeface="Aptos" panose="020B0004020202020204" pitchFamily="34" charset="0"/>
              </a:rPr>
              <a:t>Managing Materials and Consumable Stock</a:t>
            </a:r>
          </a:p>
        </p:txBody>
      </p:sp>
      <p:cxnSp>
        <p:nvCxnSpPr>
          <p:cNvPr id="4" name="Straight Connector 3">
            <a:extLst>
              <a:ext uri="{FF2B5EF4-FFF2-40B4-BE49-F238E27FC236}">
                <a16:creationId xmlns:a16="http://schemas.microsoft.com/office/drawing/2014/main" id="{8F3FED9A-945A-FEEB-E219-28B8DE3E54CA}"/>
              </a:ext>
            </a:extLst>
          </p:cNvPr>
          <p:cNvCxnSpPr/>
          <p:nvPr/>
        </p:nvCxnSpPr>
        <p:spPr>
          <a:xfrm>
            <a:off x="584200" y="6464300"/>
            <a:ext cx="11023600" cy="0"/>
          </a:xfrm>
          <a:prstGeom prst="line">
            <a:avLst/>
          </a:prstGeom>
          <a:ln w="8890">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C68B473-6714-DB47-A828-0137A70251A3}"/>
              </a:ext>
            </a:extLst>
          </p:cNvPr>
          <p:cNvSpPr txBox="1"/>
          <p:nvPr/>
        </p:nvSpPr>
        <p:spPr>
          <a:xfrm>
            <a:off x="584200" y="6578600"/>
            <a:ext cx="2349500" cy="177800"/>
          </a:xfrm>
          <a:prstGeom prst="rect">
            <a:avLst/>
          </a:prstGeom>
          <a:noFill/>
        </p:spPr>
        <p:txBody>
          <a:bodyPr vert="horz" wrap="square" lIns="0" tIns="0" rIns="0" bIns="0" rtlCol="0" anchor="t">
            <a:noAutofit/>
          </a:bodyPr>
          <a:lstStyle/>
          <a:p>
            <a:pPr>
              <a:lnSpc>
                <a:spcPct val="105000"/>
              </a:lnSpc>
            </a:pPr>
            <a:r>
              <a:rPr lang="en-US" sz="950" b="1">
                <a:solidFill>
                  <a:srgbClr val="66717D"/>
                </a:solidFill>
                <a:latin typeface="Aptos" panose="020B0004020202020204" pitchFamily="34" charset="0"/>
              </a:rPr>
              <a:t>MCPA / SITETRACE</a:t>
            </a:r>
          </a:p>
        </p:txBody>
      </p:sp>
      <p:sp>
        <p:nvSpPr>
          <p:cNvPr id="6" name="TextBox 5">
            <a:extLst>
              <a:ext uri="{FF2B5EF4-FFF2-40B4-BE49-F238E27FC236}">
                <a16:creationId xmlns:a16="http://schemas.microsoft.com/office/drawing/2014/main" id="{9273ADBD-7660-4187-DB1C-E5641F125524}"/>
              </a:ext>
            </a:extLst>
          </p:cNvPr>
          <p:cNvSpPr txBox="1"/>
          <p:nvPr/>
        </p:nvSpPr>
        <p:spPr>
          <a:xfrm>
            <a:off x="3429000" y="6578600"/>
            <a:ext cx="7048500" cy="177800"/>
          </a:xfrm>
          <a:prstGeom prst="rect">
            <a:avLst/>
          </a:prstGeom>
          <a:noFill/>
        </p:spPr>
        <p:txBody>
          <a:bodyPr vert="horz" wrap="square" lIns="0" tIns="0" rIns="0" bIns="0" rtlCol="0" anchor="t">
            <a:noAutofit/>
          </a:bodyPr>
          <a:lstStyle/>
          <a:p>
            <a:pPr algn="r">
              <a:lnSpc>
                <a:spcPct val="105000"/>
              </a:lnSpc>
            </a:pPr>
            <a:r>
              <a:rPr lang="en-US" sz="950">
                <a:solidFill>
                  <a:srgbClr val="66717D"/>
                </a:solidFill>
                <a:latin typeface="Aptos" panose="020B0004020202020204" pitchFamily="34" charset="0"/>
              </a:rPr>
              <a:t>Code + isolated application evidence · 24 October 2026</a:t>
            </a:r>
          </a:p>
        </p:txBody>
      </p:sp>
      <p:sp>
        <p:nvSpPr>
          <p:cNvPr id="7" name="TextBox 6">
            <a:extLst>
              <a:ext uri="{FF2B5EF4-FFF2-40B4-BE49-F238E27FC236}">
                <a16:creationId xmlns:a16="http://schemas.microsoft.com/office/drawing/2014/main" id="{90728F5E-0C2B-81A9-5468-D9402C00DA22}"/>
              </a:ext>
            </a:extLst>
          </p:cNvPr>
          <p:cNvSpPr txBox="1"/>
          <p:nvPr/>
        </p:nvSpPr>
        <p:spPr>
          <a:xfrm>
            <a:off x="11010900" y="6553200"/>
            <a:ext cx="596900" cy="215900"/>
          </a:xfrm>
          <a:prstGeom prst="rect">
            <a:avLst/>
          </a:prstGeom>
          <a:noFill/>
        </p:spPr>
        <p:txBody>
          <a:bodyPr vert="horz" wrap="square" lIns="0" tIns="0" rIns="0" bIns="0" rtlCol="0" anchor="t">
            <a:noAutofit/>
          </a:bodyPr>
          <a:lstStyle/>
          <a:p>
            <a:pPr algn="r">
              <a:lnSpc>
                <a:spcPct val="105000"/>
              </a:lnSpc>
            </a:pPr>
            <a:r>
              <a:rPr lang="en-US" sz="1100" b="1">
                <a:solidFill>
                  <a:srgbClr val="142235"/>
                </a:solidFill>
                <a:latin typeface="Aptos" panose="020B0004020202020204" pitchFamily="34" charset="0"/>
              </a:rPr>
              <a:t>07</a:t>
            </a:r>
          </a:p>
        </p:txBody>
      </p:sp>
      <p:pic>
        <p:nvPicPr>
          <p:cNvPr id="9" name="Picture 8" descr="Actual SiteTrace application. Local isolated test environment, synthetic data. Source: consumables-focus.png">
            <a:extLst>
              <a:ext uri="{FF2B5EF4-FFF2-40B4-BE49-F238E27FC236}">
                <a16:creationId xmlns:a16="http://schemas.microsoft.com/office/drawing/2014/main" id="{9B3E3B10-5DAA-842E-510B-C6558F3990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84200" y="1905434"/>
            <a:ext cx="7620000" cy="4088531"/>
          </a:xfrm>
          <a:prstGeom prst="rect">
            <a:avLst/>
          </a:prstGeom>
        </p:spPr>
      </p:pic>
      <p:sp>
        <p:nvSpPr>
          <p:cNvPr id="10" name="TextBox 9">
            <a:extLst>
              <a:ext uri="{FF2B5EF4-FFF2-40B4-BE49-F238E27FC236}">
                <a16:creationId xmlns:a16="http://schemas.microsoft.com/office/drawing/2014/main" id="{CBF17ED3-5BC1-D977-5DCC-830AC1F031F8}"/>
              </a:ext>
            </a:extLst>
          </p:cNvPr>
          <p:cNvSpPr txBox="1"/>
          <p:nvPr/>
        </p:nvSpPr>
        <p:spPr>
          <a:xfrm>
            <a:off x="8597900" y="1841500"/>
            <a:ext cx="3009900" cy="304800"/>
          </a:xfrm>
          <a:prstGeom prst="rect">
            <a:avLst/>
          </a:prstGeom>
          <a:noFill/>
        </p:spPr>
        <p:txBody>
          <a:bodyPr vert="horz" wrap="square" lIns="0" tIns="0" rIns="0" bIns="0" rtlCol="0" anchor="t">
            <a:noAutofit/>
          </a:bodyPr>
          <a:lstStyle/>
          <a:p>
            <a:pPr>
              <a:lnSpc>
                <a:spcPct val="105000"/>
              </a:lnSpc>
            </a:pPr>
            <a:r>
              <a:rPr lang="en-US" sz="1650" b="1">
                <a:solidFill>
                  <a:srgbClr val="142235"/>
                </a:solidFill>
                <a:latin typeface="Aptos" panose="020B0004020202020204" pitchFamily="34" charset="0"/>
              </a:rPr>
              <a:t>Organized catalog</a:t>
            </a:r>
          </a:p>
        </p:txBody>
      </p:sp>
      <p:sp>
        <p:nvSpPr>
          <p:cNvPr id="11" name="TextBox 10">
            <a:extLst>
              <a:ext uri="{FF2B5EF4-FFF2-40B4-BE49-F238E27FC236}">
                <a16:creationId xmlns:a16="http://schemas.microsoft.com/office/drawing/2014/main" id="{CFCB3848-E32C-67F8-6637-BF2222AD29C0}"/>
              </a:ext>
            </a:extLst>
          </p:cNvPr>
          <p:cNvSpPr txBox="1"/>
          <p:nvPr/>
        </p:nvSpPr>
        <p:spPr>
          <a:xfrm>
            <a:off x="8597900" y="2197100"/>
            <a:ext cx="3009900" cy="533400"/>
          </a:xfrm>
          <a:prstGeom prst="rect">
            <a:avLst/>
          </a:prstGeom>
          <a:noFill/>
        </p:spPr>
        <p:txBody>
          <a:bodyPr vert="horz" wrap="square" lIns="0" tIns="0" rIns="0" bIns="0" rtlCol="0" anchor="t">
            <a:noAutofit/>
          </a:bodyPr>
          <a:lstStyle/>
          <a:p>
            <a:pPr>
              <a:lnSpc>
                <a:spcPct val="105000"/>
              </a:lnSpc>
            </a:pPr>
            <a:r>
              <a:rPr lang="en-US" sz="1450">
                <a:solidFill>
                  <a:srgbClr val="66717D"/>
                </a:solidFill>
                <a:latin typeface="Aptos" panose="020B0004020202020204" pitchFamily="34" charset="0"/>
              </a:rPr>
              <a:t>Item codes, categories, variants</a:t>
            </a:r>
          </a:p>
          <a:p>
            <a:pPr>
              <a:lnSpc>
                <a:spcPct val="105000"/>
              </a:lnSpc>
            </a:pPr>
            <a:r>
              <a:rPr lang="en-US" sz="1450">
                <a:solidFill>
                  <a:srgbClr val="66717D"/>
                </a:solidFill>
                <a:latin typeface="Aptos" panose="020B0004020202020204" pitchFamily="34" charset="0"/>
              </a:rPr>
              <a:t>and specifications.</a:t>
            </a:r>
          </a:p>
        </p:txBody>
      </p:sp>
      <p:sp>
        <p:nvSpPr>
          <p:cNvPr id="12" name="TextBox 11">
            <a:extLst>
              <a:ext uri="{FF2B5EF4-FFF2-40B4-BE49-F238E27FC236}">
                <a16:creationId xmlns:a16="http://schemas.microsoft.com/office/drawing/2014/main" id="{F08359C6-BD09-2F9C-7F7D-35BD63742F27}"/>
              </a:ext>
            </a:extLst>
          </p:cNvPr>
          <p:cNvSpPr txBox="1"/>
          <p:nvPr/>
        </p:nvSpPr>
        <p:spPr>
          <a:xfrm>
            <a:off x="8597900" y="3086100"/>
            <a:ext cx="3009900" cy="304800"/>
          </a:xfrm>
          <a:prstGeom prst="rect">
            <a:avLst/>
          </a:prstGeom>
          <a:noFill/>
        </p:spPr>
        <p:txBody>
          <a:bodyPr vert="horz" wrap="square" lIns="0" tIns="0" rIns="0" bIns="0" rtlCol="0" anchor="t">
            <a:noAutofit/>
          </a:bodyPr>
          <a:lstStyle/>
          <a:p>
            <a:pPr>
              <a:lnSpc>
                <a:spcPct val="105000"/>
              </a:lnSpc>
            </a:pPr>
            <a:r>
              <a:rPr lang="en-US" sz="1650" b="1">
                <a:solidFill>
                  <a:srgbClr val="142235"/>
                </a:solidFill>
                <a:latin typeface="Aptos" panose="020B0004020202020204" pitchFamily="34" charset="0"/>
              </a:rPr>
              <a:t>Stock visibility</a:t>
            </a:r>
          </a:p>
        </p:txBody>
      </p:sp>
      <p:sp>
        <p:nvSpPr>
          <p:cNvPr id="13" name="TextBox 12">
            <a:extLst>
              <a:ext uri="{FF2B5EF4-FFF2-40B4-BE49-F238E27FC236}">
                <a16:creationId xmlns:a16="http://schemas.microsoft.com/office/drawing/2014/main" id="{613225E9-83BA-5727-E8BA-4954E3714552}"/>
              </a:ext>
            </a:extLst>
          </p:cNvPr>
          <p:cNvSpPr txBox="1"/>
          <p:nvPr/>
        </p:nvSpPr>
        <p:spPr>
          <a:xfrm>
            <a:off x="8597900" y="3441700"/>
            <a:ext cx="3009900" cy="533400"/>
          </a:xfrm>
          <a:prstGeom prst="rect">
            <a:avLst/>
          </a:prstGeom>
          <a:noFill/>
        </p:spPr>
        <p:txBody>
          <a:bodyPr vert="horz" wrap="square" lIns="0" tIns="0" rIns="0" bIns="0" rtlCol="0" anchor="t">
            <a:noAutofit/>
          </a:bodyPr>
          <a:lstStyle/>
          <a:p>
            <a:pPr>
              <a:lnSpc>
                <a:spcPct val="105000"/>
              </a:lnSpc>
            </a:pPr>
            <a:r>
              <a:rPr lang="en-US" sz="1450">
                <a:solidFill>
                  <a:srgbClr val="66717D"/>
                </a:solidFill>
                <a:latin typeface="Aptos" panose="020B0004020202020204" pitchFamily="34" charset="0"/>
              </a:rPr>
              <a:t>Saved quantity, minimum level</a:t>
            </a:r>
          </a:p>
          <a:p>
            <a:pPr>
              <a:lnSpc>
                <a:spcPct val="105000"/>
              </a:lnSpc>
            </a:pPr>
            <a:r>
              <a:rPr lang="en-US" sz="1450">
                <a:solidFill>
                  <a:srgbClr val="66717D"/>
                </a:solidFill>
                <a:latin typeface="Aptos" panose="020B0004020202020204" pitchFamily="34" charset="0"/>
              </a:rPr>
              <a:t>and low-stock indicators.</a:t>
            </a:r>
          </a:p>
        </p:txBody>
      </p:sp>
      <p:sp>
        <p:nvSpPr>
          <p:cNvPr id="14" name="TextBox 13">
            <a:extLst>
              <a:ext uri="{FF2B5EF4-FFF2-40B4-BE49-F238E27FC236}">
                <a16:creationId xmlns:a16="http://schemas.microsoft.com/office/drawing/2014/main" id="{2470D46D-2626-8371-4255-410B2AE83FD5}"/>
              </a:ext>
            </a:extLst>
          </p:cNvPr>
          <p:cNvSpPr txBox="1"/>
          <p:nvPr/>
        </p:nvSpPr>
        <p:spPr>
          <a:xfrm>
            <a:off x="8597900" y="4330700"/>
            <a:ext cx="3009900" cy="304800"/>
          </a:xfrm>
          <a:prstGeom prst="rect">
            <a:avLst/>
          </a:prstGeom>
          <a:noFill/>
        </p:spPr>
        <p:txBody>
          <a:bodyPr vert="horz" wrap="square" lIns="0" tIns="0" rIns="0" bIns="0" rtlCol="0" anchor="t">
            <a:noAutofit/>
          </a:bodyPr>
          <a:lstStyle/>
          <a:p>
            <a:pPr>
              <a:lnSpc>
                <a:spcPct val="105000"/>
              </a:lnSpc>
            </a:pPr>
            <a:r>
              <a:rPr lang="en-US" sz="1650" b="1">
                <a:solidFill>
                  <a:srgbClr val="142235"/>
                </a:solidFill>
                <a:latin typeface="Aptos" panose="020B0004020202020204" pitchFamily="34" charset="0"/>
              </a:rPr>
              <a:t>Controlled movements</a:t>
            </a:r>
          </a:p>
        </p:txBody>
      </p:sp>
      <p:sp>
        <p:nvSpPr>
          <p:cNvPr id="15" name="TextBox 14">
            <a:extLst>
              <a:ext uri="{FF2B5EF4-FFF2-40B4-BE49-F238E27FC236}">
                <a16:creationId xmlns:a16="http://schemas.microsoft.com/office/drawing/2014/main" id="{4A354E08-719A-DF47-50C9-FD4C91E041F3}"/>
              </a:ext>
            </a:extLst>
          </p:cNvPr>
          <p:cNvSpPr txBox="1"/>
          <p:nvPr/>
        </p:nvSpPr>
        <p:spPr>
          <a:xfrm>
            <a:off x="8597900" y="4686300"/>
            <a:ext cx="3009900" cy="533400"/>
          </a:xfrm>
          <a:prstGeom prst="rect">
            <a:avLst/>
          </a:prstGeom>
          <a:noFill/>
        </p:spPr>
        <p:txBody>
          <a:bodyPr vert="horz" wrap="square" lIns="0" tIns="0" rIns="0" bIns="0" rtlCol="0" anchor="t">
            <a:noAutofit/>
          </a:bodyPr>
          <a:lstStyle/>
          <a:p>
            <a:pPr>
              <a:lnSpc>
                <a:spcPct val="105000"/>
              </a:lnSpc>
            </a:pPr>
            <a:r>
              <a:rPr lang="en-US" sz="1450">
                <a:solidFill>
                  <a:srgbClr val="66717D"/>
                </a:solidFill>
                <a:latin typeface="Aptos" panose="020B0004020202020204" pitchFamily="34" charset="0"/>
              </a:rPr>
              <a:t>Restock, usage and adjustments;</a:t>
            </a:r>
          </a:p>
          <a:p>
            <a:pPr>
              <a:lnSpc>
                <a:spcPct val="105000"/>
              </a:lnSpc>
            </a:pPr>
            <a:r>
              <a:rPr lang="en-US" sz="1450">
                <a:solidFill>
                  <a:srgbClr val="66717D"/>
                </a:solidFill>
                <a:latin typeface="Aptos" panose="020B0004020202020204" pitchFamily="34" charset="0"/>
              </a:rPr>
              <a:t>request receipt updates stock.</a:t>
            </a:r>
          </a:p>
        </p:txBody>
      </p:sp>
      <p:sp>
        <p:nvSpPr>
          <p:cNvPr id="16" name="TextBox 15">
            <a:extLst>
              <a:ext uri="{FF2B5EF4-FFF2-40B4-BE49-F238E27FC236}">
                <a16:creationId xmlns:a16="http://schemas.microsoft.com/office/drawing/2014/main" id="{A2EB5992-0847-96D0-07B0-CE2CEC9DCB6F}"/>
              </a:ext>
            </a:extLst>
          </p:cNvPr>
          <p:cNvSpPr txBox="1"/>
          <p:nvPr/>
        </p:nvSpPr>
        <p:spPr>
          <a:xfrm>
            <a:off x="584200" y="6121400"/>
            <a:ext cx="11023600" cy="203200"/>
          </a:xfrm>
          <a:prstGeom prst="rect">
            <a:avLst/>
          </a:prstGeom>
          <a:noFill/>
        </p:spPr>
        <p:txBody>
          <a:bodyPr vert="horz" wrap="square" lIns="0" tIns="0" rIns="0" bIns="0" rtlCol="0" anchor="t">
            <a:noAutofit/>
          </a:bodyPr>
          <a:lstStyle/>
          <a:p>
            <a:pPr>
              <a:lnSpc>
                <a:spcPct val="105000"/>
              </a:lnSpc>
            </a:pPr>
            <a:r>
              <a:rPr lang="en-US" sz="950" b="1">
                <a:solidFill>
                  <a:srgbClr val="66717D"/>
                </a:solidFill>
                <a:latin typeface="Aptos" panose="020B0004020202020204" pitchFamily="34" charset="0"/>
              </a:rPr>
              <a:t>ACTUAL APPLICATION · LOCAL TEST ENVIRONMENT · SYNTHETIC DATA</a:t>
            </a:r>
          </a:p>
        </p:txBody>
      </p:sp>
    </p:spTree>
    <p:extLst>
      <p:ext uri="{BB962C8B-B14F-4D97-AF65-F5344CB8AC3E}">
        <p14:creationId xmlns:p14="http://schemas.microsoft.com/office/powerpoint/2010/main" val="980024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F655B6-5598-C905-2781-E844A1162934}"/>
              </a:ext>
            </a:extLst>
          </p:cNvPr>
          <p:cNvSpPr txBox="1"/>
          <p:nvPr/>
        </p:nvSpPr>
        <p:spPr>
          <a:xfrm>
            <a:off x="584200" y="317500"/>
            <a:ext cx="10160000" cy="215900"/>
          </a:xfrm>
          <a:prstGeom prst="rect">
            <a:avLst/>
          </a:prstGeom>
          <a:noFill/>
        </p:spPr>
        <p:txBody>
          <a:bodyPr vert="horz" wrap="square" lIns="0" tIns="0" rIns="0" bIns="0" rtlCol="0" anchor="t">
            <a:noAutofit/>
          </a:bodyPr>
          <a:lstStyle/>
          <a:p>
            <a:pPr>
              <a:lnSpc>
                <a:spcPct val="105000"/>
              </a:lnSpc>
            </a:pPr>
            <a:r>
              <a:rPr lang="en-US" sz="1050" b="1" spc="150">
                <a:solidFill>
                  <a:srgbClr val="C4A15A"/>
                </a:solidFill>
                <a:latin typeface="Aptos" panose="020B0004020202020204" pitchFamily="34" charset="0"/>
              </a:rPr>
              <a:t>PURCHASING, REPORTING &amp; CONTROLS</a:t>
            </a:r>
          </a:p>
        </p:txBody>
      </p:sp>
      <p:sp>
        <p:nvSpPr>
          <p:cNvPr id="3" name="Slide title">
            <a:extLst>
              <a:ext uri="{FF2B5EF4-FFF2-40B4-BE49-F238E27FC236}">
                <a16:creationId xmlns:a16="http://schemas.microsoft.com/office/drawing/2014/main" id="{0CB9ED53-8ED2-348F-6E6E-3BFDB9EBDC5C}"/>
              </a:ext>
            </a:extLst>
          </p:cNvPr>
          <p:cNvSpPr txBox="1"/>
          <p:nvPr/>
        </p:nvSpPr>
        <p:spPr>
          <a:xfrm>
            <a:off x="584200" y="698500"/>
            <a:ext cx="11023600" cy="914400"/>
          </a:xfrm>
          <a:prstGeom prst="rect">
            <a:avLst/>
          </a:prstGeom>
          <a:noFill/>
        </p:spPr>
        <p:txBody>
          <a:bodyPr vert="horz" wrap="square" lIns="0" tIns="0" rIns="0" bIns="0" rtlCol="0" anchor="t">
            <a:noAutofit/>
          </a:bodyPr>
          <a:lstStyle/>
          <a:p>
            <a:pPr>
              <a:lnSpc>
                <a:spcPct val="105000"/>
              </a:lnSpc>
            </a:pPr>
            <a:r>
              <a:rPr lang="en-US" sz="3000" b="1">
                <a:solidFill>
                  <a:srgbClr val="142235"/>
                </a:solidFill>
                <a:latin typeface="Aptos" panose="020B0004020202020204" pitchFamily="34" charset="0"/>
              </a:rPr>
              <a:t>Records That Support Operational Traceability</a:t>
            </a:r>
          </a:p>
        </p:txBody>
      </p:sp>
      <p:cxnSp>
        <p:nvCxnSpPr>
          <p:cNvPr id="4" name="Straight Connector 3">
            <a:extLst>
              <a:ext uri="{FF2B5EF4-FFF2-40B4-BE49-F238E27FC236}">
                <a16:creationId xmlns:a16="http://schemas.microsoft.com/office/drawing/2014/main" id="{82235487-9F4D-8A53-F53D-15CA72E96A94}"/>
              </a:ext>
            </a:extLst>
          </p:cNvPr>
          <p:cNvCxnSpPr/>
          <p:nvPr/>
        </p:nvCxnSpPr>
        <p:spPr>
          <a:xfrm>
            <a:off x="584200" y="6464300"/>
            <a:ext cx="11023600" cy="0"/>
          </a:xfrm>
          <a:prstGeom prst="line">
            <a:avLst/>
          </a:prstGeom>
          <a:ln w="8890">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98B9B9E-070C-527A-D34D-1F9C9DEC5C0E}"/>
              </a:ext>
            </a:extLst>
          </p:cNvPr>
          <p:cNvSpPr txBox="1"/>
          <p:nvPr/>
        </p:nvSpPr>
        <p:spPr>
          <a:xfrm>
            <a:off x="584200" y="6578600"/>
            <a:ext cx="2349500" cy="177800"/>
          </a:xfrm>
          <a:prstGeom prst="rect">
            <a:avLst/>
          </a:prstGeom>
          <a:noFill/>
        </p:spPr>
        <p:txBody>
          <a:bodyPr vert="horz" wrap="square" lIns="0" tIns="0" rIns="0" bIns="0" rtlCol="0" anchor="t">
            <a:noAutofit/>
          </a:bodyPr>
          <a:lstStyle/>
          <a:p>
            <a:pPr>
              <a:lnSpc>
                <a:spcPct val="105000"/>
              </a:lnSpc>
            </a:pPr>
            <a:r>
              <a:rPr lang="en-US" sz="950" b="1">
                <a:solidFill>
                  <a:srgbClr val="66717D"/>
                </a:solidFill>
                <a:latin typeface="Aptos" panose="020B0004020202020204" pitchFamily="34" charset="0"/>
              </a:rPr>
              <a:t>MCPA / SITETRACE</a:t>
            </a:r>
          </a:p>
        </p:txBody>
      </p:sp>
      <p:sp>
        <p:nvSpPr>
          <p:cNvPr id="6" name="TextBox 5">
            <a:extLst>
              <a:ext uri="{FF2B5EF4-FFF2-40B4-BE49-F238E27FC236}">
                <a16:creationId xmlns:a16="http://schemas.microsoft.com/office/drawing/2014/main" id="{45414A45-E425-589B-36AD-AF193F336B54}"/>
              </a:ext>
            </a:extLst>
          </p:cNvPr>
          <p:cNvSpPr txBox="1"/>
          <p:nvPr/>
        </p:nvSpPr>
        <p:spPr>
          <a:xfrm>
            <a:off x="3429000" y="6578600"/>
            <a:ext cx="7048500" cy="177800"/>
          </a:xfrm>
          <a:prstGeom prst="rect">
            <a:avLst/>
          </a:prstGeom>
          <a:noFill/>
        </p:spPr>
        <p:txBody>
          <a:bodyPr vert="horz" wrap="square" lIns="0" tIns="0" rIns="0" bIns="0" rtlCol="0" anchor="t">
            <a:noAutofit/>
          </a:bodyPr>
          <a:lstStyle/>
          <a:p>
            <a:pPr algn="r">
              <a:lnSpc>
                <a:spcPct val="105000"/>
              </a:lnSpc>
            </a:pPr>
            <a:r>
              <a:rPr lang="en-US" sz="950">
                <a:solidFill>
                  <a:srgbClr val="66717D"/>
                </a:solidFill>
                <a:latin typeface="Aptos" panose="020B0004020202020204" pitchFamily="34" charset="0"/>
              </a:rPr>
              <a:t>Code + isolated application evidence · 24 October 2026</a:t>
            </a:r>
          </a:p>
        </p:txBody>
      </p:sp>
      <p:sp>
        <p:nvSpPr>
          <p:cNvPr id="7" name="TextBox 6">
            <a:extLst>
              <a:ext uri="{FF2B5EF4-FFF2-40B4-BE49-F238E27FC236}">
                <a16:creationId xmlns:a16="http://schemas.microsoft.com/office/drawing/2014/main" id="{C0631AB4-50B4-B635-EB2A-379E84F6C141}"/>
              </a:ext>
            </a:extLst>
          </p:cNvPr>
          <p:cNvSpPr txBox="1"/>
          <p:nvPr/>
        </p:nvSpPr>
        <p:spPr>
          <a:xfrm>
            <a:off x="11010900" y="6553200"/>
            <a:ext cx="596900" cy="215900"/>
          </a:xfrm>
          <a:prstGeom prst="rect">
            <a:avLst/>
          </a:prstGeom>
          <a:noFill/>
        </p:spPr>
        <p:txBody>
          <a:bodyPr vert="horz" wrap="square" lIns="0" tIns="0" rIns="0" bIns="0" rtlCol="0" anchor="t">
            <a:noAutofit/>
          </a:bodyPr>
          <a:lstStyle/>
          <a:p>
            <a:pPr algn="r">
              <a:lnSpc>
                <a:spcPct val="105000"/>
              </a:lnSpc>
            </a:pPr>
            <a:r>
              <a:rPr lang="en-US" sz="1100" b="1">
                <a:solidFill>
                  <a:srgbClr val="142235"/>
                </a:solidFill>
                <a:latin typeface="Aptos" panose="020B0004020202020204" pitchFamily="34" charset="0"/>
              </a:rPr>
              <a:t>08</a:t>
            </a:r>
          </a:p>
        </p:txBody>
      </p:sp>
      <p:sp>
        <p:nvSpPr>
          <p:cNvPr id="8" name="TextBox 7">
            <a:extLst>
              <a:ext uri="{FF2B5EF4-FFF2-40B4-BE49-F238E27FC236}">
                <a16:creationId xmlns:a16="http://schemas.microsoft.com/office/drawing/2014/main" id="{8FB3EEE1-C4C6-CE86-3019-DD44DBFB47B6}"/>
              </a:ext>
            </a:extLst>
          </p:cNvPr>
          <p:cNvSpPr txBox="1"/>
          <p:nvPr/>
        </p:nvSpPr>
        <p:spPr>
          <a:xfrm>
            <a:off x="584200" y="1676400"/>
            <a:ext cx="5207000" cy="228600"/>
          </a:xfrm>
          <a:prstGeom prst="rect">
            <a:avLst/>
          </a:prstGeom>
          <a:noFill/>
        </p:spPr>
        <p:txBody>
          <a:bodyPr vert="horz" wrap="square" lIns="0" tIns="0" rIns="0" bIns="0" rtlCol="0" anchor="t">
            <a:noAutofit/>
          </a:bodyPr>
          <a:lstStyle/>
          <a:p>
            <a:pPr>
              <a:lnSpc>
                <a:spcPct val="105000"/>
              </a:lnSpc>
            </a:pPr>
            <a:r>
              <a:rPr lang="en-US" sz="1100" b="1">
                <a:solidFill>
                  <a:srgbClr val="66717D"/>
                </a:solidFill>
                <a:latin typeface="Aptos" panose="020B0004020202020204" pitchFamily="34" charset="0"/>
              </a:rPr>
              <a:t>PURCHASING LEDGER</a:t>
            </a:r>
          </a:p>
        </p:txBody>
      </p:sp>
      <p:pic>
        <p:nvPicPr>
          <p:cNvPr id="10" name="Picture 9" descr="Actual SiteTrace application. Local isolated test environment, synthetic data. Source: purchases.png">
            <a:extLst>
              <a:ext uri="{FF2B5EF4-FFF2-40B4-BE49-F238E27FC236}">
                <a16:creationId xmlns:a16="http://schemas.microsoft.com/office/drawing/2014/main" id="{E6CC6EF7-02C9-EDDE-3C8E-087FAC314FC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84200" y="2138835"/>
            <a:ext cx="5334000" cy="1678631"/>
          </a:xfrm>
          <a:prstGeom prst="rect">
            <a:avLst/>
          </a:prstGeom>
        </p:spPr>
      </p:pic>
      <p:sp>
        <p:nvSpPr>
          <p:cNvPr id="11" name="TextBox 10">
            <a:extLst>
              <a:ext uri="{FF2B5EF4-FFF2-40B4-BE49-F238E27FC236}">
                <a16:creationId xmlns:a16="http://schemas.microsoft.com/office/drawing/2014/main" id="{CB5FD332-7536-AC95-DF93-43C5AD88144F}"/>
              </a:ext>
            </a:extLst>
          </p:cNvPr>
          <p:cNvSpPr txBox="1"/>
          <p:nvPr/>
        </p:nvSpPr>
        <p:spPr>
          <a:xfrm>
            <a:off x="584200" y="4191000"/>
            <a:ext cx="5334000" cy="228600"/>
          </a:xfrm>
          <a:prstGeom prst="rect">
            <a:avLst/>
          </a:prstGeom>
          <a:noFill/>
        </p:spPr>
        <p:txBody>
          <a:bodyPr vert="horz" wrap="square" lIns="0" tIns="0" rIns="0" bIns="0" rtlCol="0" anchor="t">
            <a:noAutofit/>
          </a:bodyPr>
          <a:lstStyle/>
          <a:p>
            <a:pPr>
              <a:lnSpc>
                <a:spcPct val="105000"/>
              </a:lnSpc>
            </a:pPr>
            <a:r>
              <a:rPr lang="en-US" sz="1100" b="1">
                <a:solidFill>
                  <a:srgbClr val="66717D"/>
                </a:solidFill>
                <a:latin typeface="Aptos" panose="020B0004020202020204" pitchFamily="34" charset="0"/>
              </a:rPr>
              <a:t>CURRENT INVENTORY REPORT</a:t>
            </a:r>
          </a:p>
        </p:txBody>
      </p:sp>
      <p:pic>
        <p:nvPicPr>
          <p:cNvPr id="13" name="Picture 12" descr="Actual SiteTrace application. Local isolated test environment, synthetic data. Source: report-focus.png">
            <a:extLst>
              <a:ext uri="{FF2B5EF4-FFF2-40B4-BE49-F238E27FC236}">
                <a16:creationId xmlns:a16="http://schemas.microsoft.com/office/drawing/2014/main" id="{8956EF6E-9EFC-C4EB-DB30-7466528F013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92144" y="4495800"/>
            <a:ext cx="5318111" cy="1676400"/>
          </a:xfrm>
          <a:prstGeom prst="rect">
            <a:avLst/>
          </a:prstGeom>
        </p:spPr>
      </p:pic>
      <p:sp>
        <p:nvSpPr>
          <p:cNvPr id="14" name="TextBox 13">
            <a:extLst>
              <a:ext uri="{FF2B5EF4-FFF2-40B4-BE49-F238E27FC236}">
                <a16:creationId xmlns:a16="http://schemas.microsoft.com/office/drawing/2014/main" id="{5931AE46-5ED1-D675-3698-B1D8AE72F544}"/>
              </a:ext>
            </a:extLst>
          </p:cNvPr>
          <p:cNvSpPr txBox="1"/>
          <p:nvPr/>
        </p:nvSpPr>
        <p:spPr>
          <a:xfrm>
            <a:off x="6350000" y="1676400"/>
            <a:ext cx="5257800" cy="228600"/>
          </a:xfrm>
          <a:prstGeom prst="rect">
            <a:avLst/>
          </a:prstGeom>
          <a:noFill/>
        </p:spPr>
        <p:txBody>
          <a:bodyPr vert="horz" wrap="square" lIns="0" tIns="0" rIns="0" bIns="0" rtlCol="0" anchor="t">
            <a:noAutofit/>
          </a:bodyPr>
          <a:lstStyle/>
          <a:p>
            <a:pPr>
              <a:lnSpc>
                <a:spcPct val="105000"/>
              </a:lnSpc>
            </a:pPr>
            <a:r>
              <a:rPr lang="en-US" sz="1100" b="1">
                <a:solidFill>
                  <a:srgbClr val="66717D"/>
                </a:solidFill>
                <a:latin typeface="Aptos" panose="020B0004020202020204" pitchFamily="34" charset="0"/>
              </a:rPr>
              <a:t>MOVEMENT ACTIVITY</a:t>
            </a:r>
          </a:p>
        </p:txBody>
      </p:sp>
      <p:pic>
        <p:nvPicPr>
          <p:cNvPr id="16" name="Picture 15" descr="Actual SiteTrace application. Local isolated test environment, synthetic data. Source: activity.png">
            <a:extLst>
              <a:ext uri="{FF2B5EF4-FFF2-40B4-BE49-F238E27FC236}">
                <a16:creationId xmlns:a16="http://schemas.microsoft.com/office/drawing/2014/main" id="{C97A6A46-0711-3AF6-1165-14B23A7A912E}"/>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657764" y="1993900"/>
            <a:ext cx="4642272" cy="2044700"/>
          </a:xfrm>
          <a:prstGeom prst="rect">
            <a:avLst/>
          </a:prstGeom>
        </p:spPr>
      </p:pic>
      <p:sp>
        <p:nvSpPr>
          <p:cNvPr id="17" name="Rectangle 16">
            <a:extLst>
              <a:ext uri="{FF2B5EF4-FFF2-40B4-BE49-F238E27FC236}">
                <a16:creationId xmlns:a16="http://schemas.microsoft.com/office/drawing/2014/main" id="{984FB9A9-6742-A486-14EB-4836F0FB0CA2}"/>
              </a:ext>
            </a:extLst>
          </p:cNvPr>
          <p:cNvSpPr/>
          <p:nvPr/>
        </p:nvSpPr>
        <p:spPr>
          <a:xfrm>
            <a:off x="6350000" y="4318000"/>
            <a:ext cx="5257800" cy="17018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EF9C686-C198-E635-1FCF-5F1A1A1448F0}"/>
              </a:ext>
            </a:extLst>
          </p:cNvPr>
          <p:cNvSpPr txBox="1"/>
          <p:nvPr/>
        </p:nvSpPr>
        <p:spPr>
          <a:xfrm>
            <a:off x="6553200" y="4495800"/>
            <a:ext cx="4838700" cy="292100"/>
          </a:xfrm>
          <a:prstGeom prst="rect">
            <a:avLst/>
          </a:prstGeom>
          <a:noFill/>
        </p:spPr>
        <p:txBody>
          <a:bodyPr vert="horz" wrap="square" lIns="0" tIns="0" rIns="0" bIns="0" rtlCol="0" anchor="t">
            <a:noAutofit/>
          </a:bodyPr>
          <a:lstStyle/>
          <a:p>
            <a:pPr>
              <a:lnSpc>
                <a:spcPct val="105000"/>
              </a:lnSpc>
            </a:pPr>
            <a:r>
              <a:rPr lang="en-US" sz="1700" b="1">
                <a:solidFill>
                  <a:srgbClr val="142235"/>
                </a:solidFill>
                <a:latin typeface="Aptos" panose="020B0004020202020204" pitchFamily="34" charset="0"/>
              </a:rPr>
              <a:t>Retained evidence</a:t>
            </a:r>
          </a:p>
        </p:txBody>
      </p:sp>
      <p:sp>
        <p:nvSpPr>
          <p:cNvPr id="19" name="TextBox 18">
            <a:extLst>
              <a:ext uri="{FF2B5EF4-FFF2-40B4-BE49-F238E27FC236}">
                <a16:creationId xmlns:a16="http://schemas.microsoft.com/office/drawing/2014/main" id="{B6304CF3-F6F6-D2F6-F7D4-910DAC171139}"/>
              </a:ext>
            </a:extLst>
          </p:cNvPr>
          <p:cNvSpPr txBox="1"/>
          <p:nvPr/>
        </p:nvSpPr>
        <p:spPr>
          <a:xfrm>
            <a:off x="6553200" y="4927600"/>
            <a:ext cx="4838700" cy="927100"/>
          </a:xfrm>
          <a:prstGeom prst="rect">
            <a:avLst/>
          </a:prstGeom>
          <a:noFill/>
        </p:spPr>
        <p:txBody>
          <a:bodyPr vert="horz" wrap="square" lIns="0" tIns="0" rIns="0" bIns="0" rtlCol="0" anchor="t">
            <a:noAutofit/>
          </a:bodyPr>
          <a:lstStyle/>
          <a:p>
            <a:pPr>
              <a:lnSpc>
                <a:spcPct val="105000"/>
              </a:lnSpc>
            </a:pPr>
            <a:r>
              <a:rPr lang="en-US" sz="1500">
                <a:solidFill>
                  <a:srgbClr val="242B33"/>
                </a:solidFill>
                <a:latin typeface="Aptos" panose="020B0004020202020204" pitchFamily="34" charset="0"/>
              </a:rPr>
              <a:t>Purchase history and private receipt files</a:t>
            </a:r>
          </a:p>
          <a:p>
            <a:pPr>
              <a:lnSpc>
                <a:spcPct val="105000"/>
              </a:lnSpc>
            </a:pPr>
            <a:r>
              <a:rPr lang="en-US" sz="1500">
                <a:solidFill>
                  <a:srgbClr val="242B33"/>
                </a:solidFill>
                <a:latin typeface="Aptos" panose="020B0004020202020204" pitchFamily="34" charset="0"/>
              </a:rPr>
              <a:t>Movement actors, timestamps and references</a:t>
            </a:r>
          </a:p>
          <a:p>
            <a:pPr>
              <a:lnSpc>
                <a:spcPct val="105000"/>
              </a:lnSpc>
            </a:pPr>
            <a:r>
              <a:rPr lang="en-US" sz="1500">
                <a:solidFill>
                  <a:srgbClr val="242B33"/>
                </a:solidFill>
                <a:latin typeface="Aptos" panose="020B0004020202020204" pitchFamily="34" charset="0"/>
              </a:rPr>
              <a:t>Server-side role and record checks</a:t>
            </a:r>
          </a:p>
        </p:txBody>
      </p:sp>
      <p:sp>
        <p:nvSpPr>
          <p:cNvPr id="20" name="TextBox 19">
            <a:extLst>
              <a:ext uri="{FF2B5EF4-FFF2-40B4-BE49-F238E27FC236}">
                <a16:creationId xmlns:a16="http://schemas.microsoft.com/office/drawing/2014/main" id="{18DD5FF8-A4F4-0A77-4C99-BB4D90EE976D}"/>
              </a:ext>
            </a:extLst>
          </p:cNvPr>
          <p:cNvSpPr txBox="1"/>
          <p:nvPr/>
        </p:nvSpPr>
        <p:spPr>
          <a:xfrm>
            <a:off x="584200" y="6223000"/>
            <a:ext cx="11023600" cy="203200"/>
          </a:xfrm>
          <a:prstGeom prst="rect">
            <a:avLst/>
          </a:prstGeom>
          <a:noFill/>
        </p:spPr>
        <p:txBody>
          <a:bodyPr vert="horz" wrap="square" lIns="0" tIns="0" rIns="0" bIns="0" rtlCol="0" anchor="t">
            <a:noAutofit/>
          </a:bodyPr>
          <a:lstStyle/>
          <a:p>
            <a:pPr>
              <a:lnSpc>
                <a:spcPct val="105000"/>
              </a:lnSpc>
            </a:pPr>
            <a:r>
              <a:rPr lang="en-US" sz="950" b="1">
                <a:solidFill>
                  <a:srgbClr val="66717D"/>
                </a:solidFill>
                <a:latin typeface="Aptos" panose="020B0004020202020204" pitchFamily="34" charset="0"/>
              </a:rPr>
              <a:t>ACTUAL APPLICATION · LOCAL TEST ENVIRONMENT · SYNTHETIC DATA</a:t>
            </a:r>
          </a:p>
        </p:txBody>
      </p:sp>
    </p:spTree>
    <p:extLst>
      <p:ext uri="{BB962C8B-B14F-4D97-AF65-F5344CB8AC3E}">
        <p14:creationId xmlns:p14="http://schemas.microsoft.com/office/powerpoint/2010/main" val="1614248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F4BE68-512A-F9E6-9801-CB19689AE67E}"/>
              </a:ext>
            </a:extLst>
          </p:cNvPr>
          <p:cNvSpPr txBox="1"/>
          <p:nvPr/>
        </p:nvSpPr>
        <p:spPr>
          <a:xfrm>
            <a:off x="584200" y="317500"/>
            <a:ext cx="10160000" cy="215900"/>
          </a:xfrm>
          <a:prstGeom prst="rect">
            <a:avLst/>
          </a:prstGeom>
          <a:noFill/>
        </p:spPr>
        <p:txBody>
          <a:bodyPr vert="horz" wrap="square" lIns="0" tIns="0" rIns="0" bIns="0" rtlCol="0" anchor="t">
            <a:noAutofit/>
          </a:bodyPr>
          <a:lstStyle/>
          <a:p>
            <a:pPr>
              <a:lnSpc>
                <a:spcPct val="105000"/>
              </a:lnSpc>
            </a:pPr>
            <a:r>
              <a:rPr lang="en-US" sz="1050" b="1" spc="150">
                <a:solidFill>
                  <a:srgbClr val="C4A15A"/>
                </a:solidFill>
                <a:latin typeface="Aptos" panose="020B0004020202020204" pitchFamily="34" charset="0"/>
              </a:rPr>
              <a:t>EXECUTED LOCAL DEMONSTRATION</a:t>
            </a:r>
          </a:p>
        </p:txBody>
      </p:sp>
      <p:sp>
        <p:nvSpPr>
          <p:cNvPr id="3" name="Slide title">
            <a:extLst>
              <a:ext uri="{FF2B5EF4-FFF2-40B4-BE49-F238E27FC236}">
                <a16:creationId xmlns:a16="http://schemas.microsoft.com/office/drawing/2014/main" id="{7746880E-67EA-12D1-E59F-7F53A902BA6A}"/>
              </a:ext>
            </a:extLst>
          </p:cNvPr>
          <p:cNvSpPr txBox="1"/>
          <p:nvPr/>
        </p:nvSpPr>
        <p:spPr>
          <a:xfrm>
            <a:off x="584200" y="698500"/>
            <a:ext cx="11023600" cy="914400"/>
          </a:xfrm>
          <a:prstGeom prst="rect">
            <a:avLst/>
          </a:prstGeom>
          <a:noFill/>
        </p:spPr>
        <p:txBody>
          <a:bodyPr vert="horz" wrap="square" lIns="0" tIns="0" rIns="0" bIns="0" rtlCol="0" anchor="t">
            <a:noAutofit/>
          </a:bodyPr>
          <a:lstStyle/>
          <a:p>
            <a:pPr>
              <a:lnSpc>
                <a:spcPct val="105000"/>
              </a:lnSpc>
            </a:pPr>
            <a:r>
              <a:rPr lang="en-US" sz="3000" b="1">
                <a:solidFill>
                  <a:srgbClr val="142235"/>
                </a:solidFill>
                <a:latin typeface="Aptos" panose="020B0004020202020204" pitchFamily="34" charset="0"/>
              </a:rPr>
              <a:t>A Practical Equipment Request Scenario</a:t>
            </a:r>
          </a:p>
        </p:txBody>
      </p:sp>
      <p:cxnSp>
        <p:nvCxnSpPr>
          <p:cNvPr id="4" name="Straight Connector 3">
            <a:extLst>
              <a:ext uri="{FF2B5EF4-FFF2-40B4-BE49-F238E27FC236}">
                <a16:creationId xmlns:a16="http://schemas.microsoft.com/office/drawing/2014/main" id="{D55EBF17-C13B-E342-AE9C-7FA757F6DB9B}"/>
              </a:ext>
            </a:extLst>
          </p:cNvPr>
          <p:cNvCxnSpPr/>
          <p:nvPr/>
        </p:nvCxnSpPr>
        <p:spPr>
          <a:xfrm>
            <a:off x="584200" y="6464300"/>
            <a:ext cx="11023600" cy="0"/>
          </a:xfrm>
          <a:prstGeom prst="line">
            <a:avLst/>
          </a:prstGeom>
          <a:ln w="8890">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C6145F3A-B620-FF4E-233B-2B9636661E59}"/>
              </a:ext>
            </a:extLst>
          </p:cNvPr>
          <p:cNvSpPr txBox="1"/>
          <p:nvPr/>
        </p:nvSpPr>
        <p:spPr>
          <a:xfrm>
            <a:off x="584200" y="6578600"/>
            <a:ext cx="2349500" cy="177800"/>
          </a:xfrm>
          <a:prstGeom prst="rect">
            <a:avLst/>
          </a:prstGeom>
          <a:noFill/>
        </p:spPr>
        <p:txBody>
          <a:bodyPr vert="horz" wrap="square" lIns="0" tIns="0" rIns="0" bIns="0" rtlCol="0" anchor="t">
            <a:noAutofit/>
          </a:bodyPr>
          <a:lstStyle/>
          <a:p>
            <a:pPr>
              <a:lnSpc>
                <a:spcPct val="105000"/>
              </a:lnSpc>
            </a:pPr>
            <a:r>
              <a:rPr lang="en-US" sz="950" b="1">
                <a:solidFill>
                  <a:srgbClr val="66717D"/>
                </a:solidFill>
                <a:latin typeface="Aptos" panose="020B0004020202020204" pitchFamily="34" charset="0"/>
              </a:rPr>
              <a:t>MCPA / SITETRACE</a:t>
            </a:r>
          </a:p>
        </p:txBody>
      </p:sp>
      <p:sp>
        <p:nvSpPr>
          <p:cNvPr id="6" name="TextBox 5">
            <a:extLst>
              <a:ext uri="{FF2B5EF4-FFF2-40B4-BE49-F238E27FC236}">
                <a16:creationId xmlns:a16="http://schemas.microsoft.com/office/drawing/2014/main" id="{56B8A6B1-2802-4326-7F1A-9E98D76CB78F}"/>
              </a:ext>
            </a:extLst>
          </p:cNvPr>
          <p:cNvSpPr txBox="1"/>
          <p:nvPr/>
        </p:nvSpPr>
        <p:spPr>
          <a:xfrm>
            <a:off x="3429000" y="6578600"/>
            <a:ext cx="7048500" cy="177800"/>
          </a:xfrm>
          <a:prstGeom prst="rect">
            <a:avLst/>
          </a:prstGeom>
          <a:noFill/>
        </p:spPr>
        <p:txBody>
          <a:bodyPr vert="horz" wrap="square" lIns="0" tIns="0" rIns="0" bIns="0" rtlCol="0" anchor="t">
            <a:noAutofit/>
          </a:bodyPr>
          <a:lstStyle/>
          <a:p>
            <a:pPr algn="r">
              <a:lnSpc>
                <a:spcPct val="105000"/>
              </a:lnSpc>
            </a:pPr>
            <a:r>
              <a:rPr lang="en-US" sz="950">
                <a:solidFill>
                  <a:srgbClr val="66717D"/>
                </a:solidFill>
                <a:latin typeface="Aptos" panose="020B0004020202020204" pitchFamily="34" charset="0"/>
              </a:rPr>
              <a:t>Code + isolated application evidence · 24 October 2026</a:t>
            </a:r>
          </a:p>
        </p:txBody>
      </p:sp>
      <p:sp>
        <p:nvSpPr>
          <p:cNvPr id="7" name="TextBox 6">
            <a:extLst>
              <a:ext uri="{FF2B5EF4-FFF2-40B4-BE49-F238E27FC236}">
                <a16:creationId xmlns:a16="http://schemas.microsoft.com/office/drawing/2014/main" id="{A329FE93-9529-FC03-67AB-5930F8BD869A}"/>
              </a:ext>
            </a:extLst>
          </p:cNvPr>
          <p:cNvSpPr txBox="1"/>
          <p:nvPr/>
        </p:nvSpPr>
        <p:spPr>
          <a:xfrm>
            <a:off x="11010900" y="6553200"/>
            <a:ext cx="596900" cy="215900"/>
          </a:xfrm>
          <a:prstGeom prst="rect">
            <a:avLst/>
          </a:prstGeom>
          <a:noFill/>
        </p:spPr>
        <p:txBody>
          <a:bodyPr vert="horz" wrap="square" lIns="0" tIns="0" rIns="0" bIns="0" rtlCol="0" anchor="t">
            <a:noAutofit/>
          </a:bodyPr>
          <a:lstStyle/>
          <a:p>
            <a:pPr algn="r">
              <a:lnSpc>
                <a:spcPct val="105000"/>
              </a:lnSpc>
            </a:pPr>
            <a:r>
              <a:rPr lang="en-US" sz="1100" b="1">
                <a:solidFill>
                  <a:srgbClr val="142235"/>
                </a:solidFill>
                <a:latin typeface="Aptos" panose="020B0004020202020204" pitchFamily="34" charset="0"/>
              </a:rPr>
              <a:t>09</a:t>
            </a:r>
          </a:p>
        </p:txBody>
      </p:sp>
      <p:sp>
        <p:nvSpPr>
          <p:cNvPr id="8" name="Rectangle 7">
            <a:extLst>
              <a:ext uri="{FF2B5EF4-FFF2-40B4-BE49-F238E27FC236}">
                <a16:creationId xmlns:a16="http://schemas.microsoft.com/office/drawing/2014/main" id="{6534C7DA-60C9-EF95-7DE8-0EC7132C3080}"/>
              </a:ext>
            </a:extLst>
          </p:cNvPr>
          <p:cNvSpPr/>
          <p:nvPr/>
        </p:nvSpPr>
        <p:spPr>
          <a:xfrm>
            <a:off x="584200" y="1612900"/>
            <a:ext cx="5473700" cy="279400"/>
          </a:xfrm>
          <a:prstGeom prst="rect">
            <a:avLst/>
          </a:prstGeom>
          <a:solidFill>
            <a:srgbClr val="F3F5F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89A1A1E-5C7F-C66D-613D-24851B7CF6FA}"/>
              </a:ext>
            </a:extLst>
          </p:cNvPr>
          <p:cNvSpPr txBox="1"/>
          <p:nvPr/>
        </p:nvSpPr>
        <p:spPr>
          <a:xfrm>
            <a:off x="685800" y="1663700"/>
            <a:ext cx="5270500" cy="190500"/>
          </a:xfrm>
          <a:prstGeom prst="rect">
            <a:avLst/>
          </a:prstGeom>
          <a:noFill/>
        </p:spPr>
        <p:txBody>
          <a:bodyPr vert="horz" wrap="square" lIns="0" tIns="0" rIns="0" bIns="0" rtlCol="0" anchor="t">
            <a:noAutofit/>
          </a:bodyPr>
          <a:lstStyle/>
          <a:p>
            <a:pPr>
              <a:lnSpc>
                <a:spcPct val="105000"/>
              </a:lnSpc>
            </a:pPr>
            <a:r>
              <a:rPr lang="en-US" sz="1050" b="1">
                <a:solidFill>
                  <a:srgbClr val="66717D"/>
                </a:solidFill>
                <a:latin typeface="Aptos" panose="020B0004020202020204" pitchFamily="34" charset="0"/>
              </a:rPr>
              <a:t>DEMO-EQ-001 · Training concrete vibrator</a:t>
            </a:r>
          </a:p>
        </p:txBody>
      </p:sp>
      <p:sp>
        <p:nvSpPr>
          <p:cNvPr id="10" name="TextBox 9">
            <a:extLst>
              <a:ext uri="{FF2B5EF4-FFF2-40B4-BE49-F238E27FC236}">
                <a16:creationId xmlns:a16="http://schemas.microsoft.com/office/drawing/2014/main" id="{A49493A2-2610-69B3-434D-1C83061B3536}"/>
              </a:ext>
            </a:extLst>
          </p:cNvPr>
          <p:cNvSpPr txBox="1"/>
          <p:nvPr/>
        </p:nvSpPr>
        <p:spPr>
          <a:xfrm>
            <a:off x="6350000" y="1651000"/>
            <a:ext cx="5257800" cy="381000"/>
          </a:xfrm>
          <a:prstGeom prst="rect">
            <a:avLst/>
          </a:prstGeom>
          <a:noFill/>
        </p:spPr>
        <p:txBody>
          <a:bodyPr vert="horz" wrap="square" lIns="0" tIns="0" rIns="0" bIns="0" rtlCol="0" anchor="t">
            <a:noAutofit/>
          </a:bodyPr>
          <a:lstStyle/>
          <a:p>
            <a:pPr>
              <a:lnSpc>
                <a:spcPct val="105000"/>
              </a:lnSpc>
            </a:pPr>
            <a:r>
              <a:rPr lang="en-US" sz="1250">
                <a:solidFill>
                  <a:srgbClr val="66717D"/>
                </a:solidFill>
                <a:latin typeface="Aptos" panose="020B0004020202020204" pitchFamily="34" charset="0"/>
              </a:rPr>
              <a:t>Executed in the local test application; no production transaction.</a:t>
            </a:r>
          </a:p>
        </p:txBody>
      </p:sp>
      <p:sp>
        <p:nvSpPr>
          <p:cNvPr id="11" name="TextBox 10">
            <a:extLst>
              <a:ext uri="{FF2B5EF4-FFF2-40B4-BE49-F238E27FC236}">
                <a16:creationId xmlns:a16="http://schemas.microsoft.com/office/drawing/2014/main" id="{55755CD6-AA10-0B4B-499F-682C4C7750B4}"/>
              </a:ext>
            </a:extLst>
          </p:cNvPr>
          <p:cNvSpPr txBox="1"/>
          <p:nvPr/>
        </p:nvSpPr>
        <p:spPr>
          <a:xfrm>
            <a:off x="584200" y="2235200"/>
            <a:ext cx="3530600" cy="254000"/>
          </a:xfrm>
          <a:prstGeom prst="rect">
            <a:avLst/>
          </a:prstGeom>
          <a:noFill/>
        </p:spPr>
        <p:txBody>
          <a:bodyPr vert="horz" wrap="square" lIns="0" tIns="0" rIns="0" bIns="0" rtlCol="0" anchor="t">
            <a:noAutofit/>
          </a:bodyPr>
          <a:lstStyle/>
          <a:p>
            <a:pPr>
              <a:lnSpc>
                <a:spcPct val="105000"/>
              </a:lnSpc>
            </a:pPr>
            <a:r>
              <a:rPr lang="en-US" sz="1200" b="1">
                <a:solidFill>
                  <a:srgbClr val="142235"/>
                </a:solidFill>
                <a:latin typeface="Aptos" panose="020B0004020202020204" pitchFamily="34" charset="0"/>
              </a:rPr>
              <a:t>01  REQUEST + REVIEW</a:t>
            </a:r>
          </a:p>
        </p:txBody>
      </p:sp>
      <p:sp>
        <p:nvSpPr>
          <p:cNvPr id="12" name="TextBox 11">
            <a:extLst>
              <a:ext uri="{FF2B5EF4-FFF2-40B4-BE49-F238E27FC236}">
                <a16:creationId xmlns:a16="http://schemas.microsoft.com/office/drawing/2014/main" id="{B4955B82-C4B9-8C3B-3972-52531E6EE609}"/>
              </a:ext>
            </a:extLst>
          </p:cNvPr>
          <p:cNvSpPr txBox="1"/>
          <p:nvPr/>
        </p:nvSpPr>
        <p:spPr>
          <a:xfrm>
            <a:off x="4330700" y="2235200"/>
            <a:ext cx="3530600" cy="254000"/>
          </a:xfrm>
          <a:prstGeom prst="rect">
            <a:avLst/>
          </a:prstGeom>
          <a:noFill/>
        </p:spPr>
        <p:txBody>
          <a:bodyPr vert="horz" wrap="square" lIns="0" tIns="0" rIns="0" bIns="0" rtlCol="0" anchor="t">
            <a:noAutofit/>
          </a:bodyPr>
          <a:lstStyle/>
          <a:p>
            <a:pPr>
              <a:lnSpc>
                <a:spcPct val="105000"/>
              </a:lnSpc>
            </a:pPr>
            <a:r>
              <a:rPr lang="en-US" sz="1200" b="1">
                <a:solidFill>
                  <a:srgbClr val="142235"/>
                </a:solidFill>
                <a:latin typeface="Aptos" panose="020B0004020202020204" pitchFamily="34" charset="0"/>
              </a:rPr>
              <a:t>02  RELEASE + INSPECTION</a:t>
            </a:r>
          </a:p>
        </p:txBody>
      </p:sp>
      <p:sp>
        <p:nvSpPr>
          <p:cNvPr id="13" name="TextBox 12">
            <a:extLst>
              <a:ext uri="{FF2B5EF4-FFF2-40B4-BE49-F238E27FC236}">
                <a16:creationId xmlns:a16="http://schemas.microsoft.com/office/drawing/2014/main" id="{9F087EF7-70EB-4941-A6CD-F33F66ED42F1}"/>
              </a:ext>
            </a:extLst>
          </p:cNvPr>
          <p:cNvSpPr txBox="1"/>
          <p:nvPr/>
        </p:nvSpPr>
        <p:spPr>
          <a:xfrm>
            <a:off x="8077200" y="2235200"/>
            <a:ext cx="3530600" cy="254000"/>
          </a:xfrm>
          <a:prstGeom prst="rect">
            <a:avLst/>
          </a:prstGeom>
          <a:noFill/>
        </p:spPr>
        <p:txBody>
          <a:bodyPr vert="horz" wrap="square" lIns="0" tIns="0" rIns="0" bIns="0" rtlCol="0" anchor="t">
            <a:noAutofit/>
          </a:bodyPr>
          <a:lstStyle/>
          <a:p>
            <a:pPr>
              <a:lnSpc>
                <a:spcPct val="105000"/>
              </a:lnSpc>
            </a:pPr>
            <a:r>
              <a:rPr lang="en-US" sz="1200" b="1">
                <a:solidFill>
                  <a:srgbClr val="142235"/>
                </a:solidFill>
                <a:latin typeface="Aptos" panose="020B0004020202020204" pitchFamily="34" charset="0"/>
              </a:rPr>
              <a:t>03  UPDATED CUSTODY</a:t>
            </a:r>
          </a:p>
        </p:txBody>
      </p:sp>
      <p:pic>
        <p:nvPicPr>
          <p:cNvPr id="15" name="Picture 14" descr="Actual SiteTrace application. Local isolated test environment, synthetic data. Source: approval.png">
            <a:extLst>
              <a:ext uri="{FF2B5EF4-FFF2-40B4-BE49-F238E27FC236}">
                <a16:creationId xmlns:a16="http://schemas.microsoft.com/office/drawing/2014/main" id="{4DA58875-0DB4-4300-36F4-D1FC8E0E8B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14942" y="2628900"/>
            <a:ext cx="3469116" cy="2781300"/>
          </a:xfrm>
          <a:prstGeom prst="rect">
            <a:avLst/>
          </a:prstGeom>
        </p:spPr>
      </p:pic>
      <p:pic>
        <p:nvPicPr>
          <p:cNvPr id="17" name="Picture 16" descr="Actual SiteTrace application. Local isolated test environment, synthetic data. Source: inspection-focus.png">
            <a:extLst>
              <a:ext uri="{FF2B5EF4-FFF2-40B4-BE49-F238E27FC236}">
                <a16:creationId xmlns:a16="http://schemas.microsoft.com/office/drawing/2014/main" id="{3743F1F9-8198-5316-6987-EDF00285A8F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330700" y="3115452"/>
            <a:ext cx="3530600" cy="1808195"/>
          </a:xfrm>
          <a:prstGeom prst="rect">
            <a:avLst/>
          </a:prstGeom>
        </p:spPr>
      </p:pic>
      <p:pic>
        <p:nvPicPr>
          <p:cNvPr id="19" name="Picture 18" descr="Actual SiteTrace application. Local isolated test environment, synthetic data. Source: received-detail.png">
            <a:extLst>
              <a:ext uri="{FF2B5EF4-FFF2-40B4-BE49-F238E27FC236}">
                <a16:creationId xmlns:a16="http://schemas.microsoft.com/office/drawing/2014/main" id="{B289B9A7-1398-D4A8-C685-0B9D92B7107D}"/>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077200" y="2631671"/>
            <a:ext cx="3530600" cy="3296459"/>
          </a:xfrm>
          <a:prstGeom prst="rect">
            <a:avLst/>
          </a:prstGeom>
        </p:spPr>
      </p:pic>
      <p:cxnSp>
        <p:nvCxnSpPr>
          <p:cNvPr id="20" name="Straight Connector 19">
            <a:extLst>
              <a:ext uri="{FF2B5EF4-FFF2-40B4-BE49-F238E27FC236}">
                <a16:creationId xmlns:a16="http://schemas.microsoft.com/office/drawing/2014/main" id="{B0BD170D-9A39-99B1-4190-26B57ECBF25B}"/>
              </a:ext>
            </a:extLst>
          </p:cNvPr>
          <p:cNvCxnSpPr/>
          <p:nvPr/>
        </p:nvCxnSpPr>
        <p:spPr>
          <a:xfrm>
            <a:off x="4127500" y="3987800"/>
            <a:ext cx="165100" cy="0"/>
          </a:xfrm>
          <a:prstGeom prst="line">
            <a:avLst/>
          </a:prstGeom>
          <a:ln w="20320">
            <a:solidFill>
              <a:srgbClr val="C4A15A"/>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2B81223-B46B-4CBF-7AB5-CE1EABFB7CD4}"/>
              </a:ext>
            </a:extLst>
          </p:cNvPr>
          <p:cNvCxnSpPr/>
          <p:nvPr/>
        </p:nvCxnSpPr>
        <p:spPr>
          <a:xfrm>
            <a:off x="7874000" y="3987800"/>
            <a:ext cx="165100" cy="0"/>
          </a:xfrm>
          <a:prstGeom prst="line">
            <a:avLst/>
          </a:prstGeom>
          <a:ln w="20320">
            <a:solidFill>
              <a:srgbClr val="C4A15A"/>
            </a:solidFill>
            <a:tailEnd type="arrow"/>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10058E05-DE3F-5555-5B65-93F0F898BBA2}"/>
              </a:ext>
            </a:extLst>
          </p:cNvPr>
          <p:cNvSpPr txBox="1"/>
          <p:nvPr/>
        </p:nvSpPr>
        <p:spPr>
          <a:xfrm>
            <a:off x="584200" y="5588000"/>
            <a:ext cx="3530600" cy="469900"/>
          </a:xfrm>
          <a:prstGeom prst="rect">
            <a:avLst/>
          </a:prstGeom>
          <a:noFill/>
        </p:spPr>
        <p:txBody>
          <a:bodyPr vert="horz" wrap="square" lIns="0" tIns="0" rIns="0" bIns="0" rtlCol="0" anchor="t">
            <a:noAutofit/>
          </a:bodyPr>
          <a:lstStyle/>
          <a:p>
            <a:pPr>
              <a:lnSpc>
                <a:spcPct val="105000"/>
              </a:lnSpc>
            </a:pPr>
            <a:r>
              <a:rPr lang="en-US" sz="1400">
                <a:solidFill>
                  <a:srgbClr val="242B33"/>
                </a:solidFill>
                <a:latin typeface="Aptos" panose="020B0004020202020204" pitchFamily="34" charset="0"/>
              </a:rPr>
              <a:t>pending → approved</a:t>
            </a:r>
          </a:p>
          <a:p>
            <a:pPr>
              <a:lnSpc>
                <a:spcPct val="105000"/>
              </a:lnSpc>
            </a:pPr>
            <a:r>
              <a:rPr lang="en-US" sz="1400">
                <a:solidFill>
                  <a:srgbClr val="242B33"/>
                </a:solidFill>
                <a:latin typeface="Aptos" panose="020B0004020202020204" pitchFamily="34" charset="0"/>
              </a:rPr>
              <a:t>Holder remains unassigned.</a:t>
            </a:r>
          </a:p>
        </p:txBody>
      </p:sp>
      <p:sp>
        <p:nvSpPr>
          <p:cNvPr id="23" name="TextBox 22">
            <a:extLst>
              <a:ext uri="{FF2B5EF4-FFF2-40B4-BE49-F238E27FC236}">
                <a16:creationId xmlns:a16="http://schemas.microsoft.com/office/drawing/2014/main" id="{4443275A-501C-C7FA-8C29-03632590569A}"/>
              </a:ext>
            </a:extLst>
          </p:cNvPr>
          <p:cNvSpPr txBox="1"/>
          <p:nvPr/>
        </p:nvSpPr>
        <p:spPr>
          <a:xfrm>
            <a:off x="4330700" y="5588000"/>
            <a:ext cx="3530600" cy="469900"/>
          </a:xfrm>
          <a:prstGeom prst="rect">
            <a:avLst/>
          </a:prstGeom>
          <a:noFill/>
        </p:spPr>
        <p:txBody>
          <a:bodyPr vert="horz" wrap="square" lIns="0" tIns="0" rIns="0" bIns="0" rtlCol="0" anchor="t">
            <a:noAutofit/>
          </a:bodyPr>
          <a:lstStyle/>
          <a:p>
            <a:pPr>
              <a:lnSpc>
                <a:spcPct val="105000"/>
              </a:lnSpc>
            </a:pPr>
            <a:r>
              <a:rPr lang="en-US" sz="1400">
                <a:solidFill>
                  <a:srgbClr val="242B33"/>
                </a:solidFill>
                <a:latin typeface="Aptos" panose="020B0004020202020204" pitchFamily="34" charset="0"/>
              </a:rPr>
              <a:t>released → received</a:t>
            </a:r>
          </a:p>
          <a:p>
            <a:pPr>
              <a:lnSpc>
                <a:spcPct val="105000"/>
              </a:lnSpc>
            </a:pPr>
            <a:r>
              <a:rPr lang="en-US" sz="1400">
                <a:solidFill>
                  <a:srgbClr val="242B33"/>
                </a:solidFill>
                <a:latin typeface="Aptos" panose="020B0004020202020204" pitchFamily="34" charset="0"/>
              </a:rPr>
              <a:t>Test + condition required.</a:t>
            </a:r>
          </a:p>
        </p:txBody>
      </p:sp>
      <p:sp>
        <p:nvSpPr>
          <p:cNvPr id="24" name="TextBox 23">
            <a:extLst>
              <a:ext uri="{FF2B5EF4-FFF2-40B4-BE49-F238E27FC236}">
                <a16:creationId xmlns:a16="http://schemas.microsoft.com/office/drawing/2014/main" id="{2F0C4A0C-10AA-9903-04CE-C619AEC59695}"/>
              </a:ext>
            </a:extLst>
          </p:cNvPr>
          <p:cNvSpPr txBox="1"/>
          <p:nvPr/>
        </p:nvSpPr>
        <p:spPr>
          <a:xfrm>
            <a:off x="584200" y="6223000"/>
            <a:ext cx="11023600" cy="203200"/>
          </a:xfrm>
          <a:prstGeom prst="rect">
            <a:avLst/>
          </a:prstGeom>
          <a:noFill/>
        </p:spPr>
        <p:txBody>
          <a:bodyPr vert="horz" wrap="square" lIns="0" tIns="0" rIns="0" bIns="0" rtlCol="0" anchor="t">
            <a:noAutofit/>
          </a:bodyPr>
          <a:lstStyle/>
          <a:p>
            <a:pPr>
              <a:lnSpc>
                <a:spcPct val="105000"/>
              </a:lnSpc>
            </a:pPr>
            <a:r>
              <a:rPr lang="en-US" sz="950" b="1">
                <a:solidFill>
                  <a:srgbClr val="66717D"/>
                </a:solidFill>
                <a:latin typeface="Aptos" panose="020B0004020202020204" pitchFamily="34" charset="0"/>
              </a:rPr>
              <a:t>ACTUAL APPLICATION · LOCAL TEST ENVIRONMENT · SYNTHETIC DATA</a:t>
            </a:r>
          </a:p>
        </p:txBody>
      </p:sp>
    </p:spTree>
    <p:extLst>
      <p:ext uri="{BB962C8B-B14F-4D97-AF65-F5344CB8AC3E}">
        <p14:creationId xmlns:p14="http://schemas.microsoft.com/office/powerpoint/2010/main" val="1736431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23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97A253-C825-E7DF-FDB5-620C12D054A1}"/>
              </a:ext>
            </a:extLst>
          </p:cNvPr>
          <p:cNvSpPr txBox="1"/>
          <p:nvPr/>
        </p:nvSpPr>
        <p:spPr>
          <a:xfrm>
            <a:off x="584200" y="317500"/>
            <a:ext cx="10160000" cy="215900"/>
          </a:xfrm>
          <a:prstGeom prst="rect">
            <a:avLst/>
          </a:prstGeom>
          <a:noFill/>
        </p:spPr>
        <p:txBody>
          <a:bodyPr vert="horz" wrap="square" lIns="0" tIns="0" rIns="0" bIns="0" rtlCol="0" anchor="t">
            <a:noAutofit/>
          </a:bodyPr>
          <a:lstStyle/>
          <a:p>
            <a:pPr>
              <a:lnSpc>
                <a:spcPct val="105000"/>
              </a:lnSpc>
            </a:pPr>
            <a:r>
              <a:rPr lang="en-US" sz="1050" b="1" spc="150">
                <a:solidFill>
                  <a:srgbClr val="C4A15A"/>
                </a:solidFill>
                <a:latin typeface="Aptos" panose="020B0004020202020204" pitchFamily="34" charset="0"/>
              </a:rPr>
              <a:t>CONCLUSION</a:t>
            </a:r>
          </a:p>
        </p:txBody>
      </p:sp>
      <p:sp>
        <p:nvSpPr>
          <p:cNvPr id="3" name="Slide title">
            <a:extLst>
              <a:ext uri="{FF2B5EF4-FFF2-40B4-BE49-F238E27FC236}">
                <a16:creationId xmlns:a16="http://schemas.microsoft.com/office/drawing/2014/main" id="{A1BDF87E-1326-283F-C2E0-F3DD65C018B8}"/>
              </a:ext>
            </a:extLst>
          </p:cNvPr>
          <p:cNvSpPr txBox="1"/>
          <p:nvPr/>
        </p:nvSpPr>
        <p:spPr>
          <a:xfrm>
            <a:off x="584200" y="698500"/>
            <a:ext cx="11023600" cy="914400"/>
          </a:xfrm>
          <a:prstGeom prst="rect">
            <a:avLst/>
          </a:prstGeom>
          <a:noFill/>
        </p:spPr>
        <p:txBody>
          <a:bodyPr vert="horz" wrap="square" lIns="0" tIns="0" rIns="0" bIns="0" rtlCol="0" anchor="t">
            <a:noAutofit/>
          </a:bodyPr>
          <a:lstStyle/>
          <a:p>
            <a:pPr>
              <a:lnSpc>
                <a:spcPct val="105000"/>
              </a:lnSpc>
            </a:pPr>
            <a:r>
              <a:rPr lang="en-US" sz="3000" b="1">
                <a:solidFill>
                  <a:srgbClr val="FFFFFF"/>
                </a:solidFill>
                <a:latin typeface="Aptos" panose="020B0004020202020204" pitchFamily="34" charset="0"/>
              </a:rPr>
              <a:t>Building Accountability Into Construction Operations</a:t>
            </a:r>
          </a:p>
        </p:txBody>
      </p:sp>
      <p:cxnSp>
        <p:nvCxnSpPr>
          <p:cNvPr id="4" name="Straight Connector 3">
            <a:extLst>
              <a:ext uri="{FF2B5EF4-FFF2-40B4-BE49-F238E27FC236}">
                <a16:creationId xmlns:a16="http://schemas.microsoft.com/office/drawing/2014/main" id="{03006B44-94CD-AE2E-1689-F28C243B47A7}"/>
              </a:ext>
            </a:extLst>
          </p:cNvPr>
          <p:cNvCxnSpPr/>
          <p:nvPr/>
        </p:nvCxnSpPr>
        <p:spPr>
          <a:xfrm>
            <a:off x="584200" y="6464300"/>
            <a:ext cx="11023600" cy="0"/>
          </a:xfrm>
          <a:prstGeom prst="line">
            <a:avLst/>
          </a:prstGeom>
          <a:ln w="8890">
            <a:solidFill>
              <a:srgbClr val="3A495C"/>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E2FEF06-8127-36E7-19E1-F5ACD5F9F439}"/>
              </a:ext>
            </a:extLst>
          </p:cNvPr>
          <p:cNvSpPr txBox="1"/>
          <p:nvPr/>
        </p:nvSpPr>
        <p:spPr>
          <a:xfrm>
            <a:off x="584200" y="6578600"/>
            <a:ext cx="2349500" cy="177800"/>
          </a:xfrm>
          <a:prstGeom prst="rect">
            <a:avLst/>
          </a:prstGeom>
          <a:noFill/>
        </p:spPr>
        <p:txBody>
          <a:bodyPr vert="horz" wrap="square" lIns="0" tIns="0" rIns="0" bIns="0" rtlCol="0" anchor="t">
            <a:noAutofit/>
          </a:bodyPr>
          <a:lstStyle/>
          <a:p>
            <a:pPr>
              <a:lnSpc>
                <a:spcPct val="105000"/>
              </a:lnSpc>
            </a:pPr>
            <a:r>
              <a:rPr lang="en-US" sz="950" b="1">
                <a:solidFill>
                  <a:srgbClr val="C4CDD7"/>
                </a:solidFill>
                <a:latin typeface="Aptos" panose="020B0004020202020204" pitchFamily="34" charset="0"/>
              </a:rPr>
              <a:t>MCPA / SITETRACE</a:t>
            </a:r>
          </a:p>
        </p:txBody>
      </p:sp>
      <p:sp>
        <p:nvSpPr>
          <p:cNvPr id="6" name="TextBox 5">
            <a:extLst>
              <a:ext uri="{FF2B5EF4-FFF2-40B4-BE49-F238E27FC236}">
                <a16:creationId xmlns:a16="http://schemas.microsoft.com/office/drawing/2014/main" id="{FE0A748D-5B09-A23B-2246-9C31BE717180}"/>
              </a:ext>
            </a:extLst>
          </p:cNvPr>
          <p:cNvSpPr txBox="1"/>
          <p:nvPr/>
        </p:nvSpPr>
        <p:spPr>
          <a:xfrm>
            <a:off x="3429000" y="6578600"/>
            <a:ext cx="7048500" cy="177800"/>
          </a:xfrm>
          <a:prstGeom prst="rect">
            <a:avLst/>
          </a:prstGeom>
          <a:noFill/>
        </p:spPr>
        <p:txBody>
          <a:bodyPr vert="horz" wrap="square" lIns="0" tIns="0" rIns="0" bIns="0" rtlCol="0" anchor="t">
            <a:noAutofit/>
          </a:bodyPr>
          <a:lstStyle/>
          <a:p>
            <a:pPr algn="r">
              <a:lnSpc>
                <a:spcPct val="105000"/>
              </a:lnSpc>
            </a:pPr>
            <a:r>
              <a:rPr lang="en-US" sz="950">
                <a:solidFill>
                  <a:srgbClr val="C4CDD7"/>
                </a:solidFill>
                <a:latin typeface="Aptos" panose="020B0004020202020204" pitchFamily="34" charset="0"/>
              </a:rPr>
              <a:t>Code + isolated application evidence · 24 October 2026</a:t>
            </a:r>
          </a:p>
        </p:txBody>
      </p:sp>
      <p:sp>
        <p:nvSpPr>
          <p:cNvPr id="7" name="TextBox 6">
            <a:extLst>
              <a:ext uri="{FF2B5EF4-FFF2-40B4-BE49-F238E27FC236}">
                <a16:creationId xmlns:a16="http://schemas.microsoft.com/office/drawing/2014/main" id="{2C2AD3D7-257A-130B-A077-3E05C8FDD5A7}"/>
              </a:ext>
            </a:extLst>
          </p:cNvPr>
          <p:cNvSpPr txBox="1"/>
          <p:nvPr/>
        </p:nvSpPr>
        <p:spPr>
          <a:xfrm>
            <a:off x="11010900" y="6553200"/>
            <a:ext cx="596900" cy="215900"/>
          </a:xfrm>
          <a:prstGeom prst="rect">
            <a:avLst/>
          </a:prstGeom>
          <a:noFill/>
        </p:spPr>
        <p:txBody>
          <a:bodyPr vert="horz" wrap="square" lIns="0" tIns="0" rIns="0" bIns="0" rtlCol="0" anchor="t">
            <a:noAutofit/>
          </a:bodyPr>
          <a:lstStyle/>
          <a:p>
            <a:pPr algn="r">
              <a:lnSpc>
                <a:spcPct val="105000"/>
              </a:lnSpc>
            </a:pPr>
            <a:r>
              <a:rPr lang="en-US" sz="1100" b="1">
                <a:solidFill>
                  <a:srgbClr val="C4A15A"/>
                </a:solidFill>
                <a:latin typeface="Aptos" panose="020B0004020202020204" pitchFamily="34" charset="0"/>
              </a:rPr>
              <a:t>10</a:t>
            </a:r>
          </a:p>
        </p:txBody>
      </p:sp>
      <p:sp>
        <p:nvSpPr>
          <p:cNvPr id="8" name="Rectangle 7">
            <a:extLst>
              <a:ext uri="{FF2B5EF4-FFF2-40B4-BE49-F238E27FC236}">
                <a16:creationId xmlns:a16="http://schemas.microsoft.com/office/drawing/2014/main" id="{7C66CF84-E8C6-858A-13E0-36C201DB184B}"/>
              </a:ext>
            </a:extLst>
          </p:cNvPr>
          <p:cNvSpPr/>
          <p:nvPr/>
        </p:nvSpPr>
        <p:spPr>
          <a:xfrm>
            <a:off x="584200" y="1993900"/>
            <a:ext cx="88900" cy="88900"/>
          </a:xfrm>
          <a:prstGeom prst="rect">
            <a:avLst/>
          </a:prstGeom>
          <a:solidFill>
            <a:srgbClr val="C4A1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21304D7-584B-5BE2-FB0C-E4CE468ECC86}"/>
              </a:ext>
            </a:extLst>
          </p:cNvPr>
          <p:cNvSpPr txBox="1"/>
          <p:nvPr/>
        </p:nvSpPr>
        <p:spPr>
          <a:xfrm>
            <a:off x="889000" y="1917700"/>
            <a:ext cx="10414000" cy="381000"/>
          </a:xfrm>
          <a:prstGeom prst="rect">
            <a:avLst/>
          </a:prstGeom>
          <a:noFill/>
        </p:spPr>
        <p:txBody>
          <a:bodyPr vert="horz" wrap="square" lIns="0" tIns="0" rIns="0" bIns="0" rtlCol="0" anchor="t">
            <a:noAutofit/>
          </a:bodyPr>
          <a:lstStyle/>
          <a:p>
            <a:pPr>
              <a:lnSpc>
                <a:spcPct val="105000"/>
              </a:lnSpc>
            </a:pPr>
            <a:r>
              <a:rPr lang="en-US" sz="2200">
                <a:solidFill>
                  <a:srgbClr val="FFFFFF"/>
                </a:solidFill>
                <a:latin typeface="Aptos" panose="020B0004020202020204" pitchFamily="34" charset="0"/>
              </a:rPr>
              <a:t>Centralized equipment information</a:t>
            </a:r>
          </a:p>
        </p:txBody>
      </p:sp>
      <p:sp>
        <p:nvSpPr>
          <p:cNvPr id="10" name="Rectangle 9">
            <a:extLst>
              <a:ext uri="{FF2B5EF4-FFF2-40B4-BE49-F238E27FC236}">
                <a16:creationId xmlns:a16="http://schemas.microsoft.com/office/drawing/2014/main" id="{410A8B24-23E0-FAC9-AE77-EA6AA78C4DF5}"/>
              </a:ext>
            </a:extLst>
          </p:cNvPr>
          <p:cNvSpPr/>
          <p:nvPr/>
        </p:nvSpPr>
        <p:spPr>
          <a:xfrm>
            <a:off x="584200" y="2590800"/>
            <a:ext cx="88900" cy="88900"/>
          </a:xfrm>
          <a:prstGeom prst="rect">
            <a:avLst/>
          </a:prstGeom>
          <a:solidFill>
            <a:srgbClr val="C4A1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00D6CEE-2B2F-9DAF-AFD0-2BD7DDB0F002}"/>
              </a:ext>
            </a:extLst>
          </p:cNvPr>
          <p:cNvSpPr txBox="1"/>
          <p:nvPr/>
        </p:nvSpPr>
        <p:spPr>
          <a:xfrm>
            <a:off x="889000" y="2514600"/>
            <a:ext cx="10414000" cy="381000"/>
          </a:xfrm>
          <a:prstGeom prst="rect">
            <a:avLst/>
          </a:prstGeom>
          <a:noFill/>
        </p:spPr>
        <p:txBody>
          <a:bodyPr vert="horz" wrap="square" lIns="0" tIns="0" rIns="0" bIns="0" rtlCol="0" anchor="t">
            <a:noAutofit/>
          </a:bodyPr>
          <a:lstStyle/>
          <a:p>
            <a:pPr>
              <a:lnSpc>
                <a:spcPct val="105000"/>
              </a:lnSpc>
            </a:pPr>
            <a:r>
              <a:rPr lang="en-US" sz="2200">
                <a:solidFill>
                  <a:srgbClr val="FFFFFF"/>
                </a:solidFill>
                <a:latin typeface="Aptos" panose="020B0004020202020204" pitchFamily="34" charset="0"/>
              </a:rPr>
              <a:t>Clearer recorded responsibility</a:t>
            </a:r>
          </a:p>
        </p:txBody>
      </p:sp>
      <p:sp>
        <p:nvSpPr>
          <p:cNvPr id="12" name="Rectangle 11">
            <a:extLst>
              <a:ext uri="{FF2B5EF4-FFF2-40B4-BE49-F238E27FC236}">
                <a16:creationId xmlns:a16="http://schemas.microsoft.com/office/drawing/2014/main" id="{363BC68A-5314-3D82-F5A9-A6AD82389238}"/>
              </a:ext>
            </a:extLst>
          </p:cNvPr>
          <p:cNvSpPr/>
          <p:nvPr/>
        </p:nvSpPr>
        <p:spPr>
          <a:xfrm>
            <a:off x="584200" y="3187700"/>
            <a:ext cx="88900" cy="88900"/>
          </a:xfrm>
          <a:prstGeom prst="rect">
            <a:avLst/>
          </a:prstGeom>
          <a:solidFill>
            <a:srgbClr val="C4A1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2C9DBEB-4023-10B4-5AD1-18CA6EAE17E3}"/>
              </a:ext>
            </a:extLst>
          </p:cNvPr>
          <p:cNvSpPr txBox="1"/>
          <p:nvPr/>
        </p:nvSpPr>
        <p:spPr>
          <a:xfrm>
            <a:off x="889000" y="3111500"/>
            <a:ext cx="10414000" cy="381000"/>
          </a:xfrm>
          <a:prstGeom prst="rect">
            <a:avLst/>
          </a:prstGeom>
          <a:noFill/>
        </p:spPr>
        <p:txBody>
          <a:bodyPr vert="horz" wrap="square" lIns="0" tIns="0" rIns="0" bIns="0" rtlCol="0" anchor="t">
            <a:noAutofit/>
          </a:bodyPr>
          <a:lstStyle/>
          <a:p>
            <a:pPr>
              <a:lnSpc>
                <a:spcPct val="105000"/>
              </a:lnSpc>
            </a:pPr>
            <a:r>
              <a:rPr lang="en-US" sz="2200" b="1">
                <a:solidFill>
                  <a:srgbClr val="FFFFFF"/>
                </a:solidFill>
                <a:latin typeface="Aptos" panose="020B0004020202020204" pitchFamily="34" charset="0"/>
              </a:rPr>
              <a:t>Traceable saved equipment movements</a:t>
            </a:r>
          </a:p>
        </p:txBody>
      </p:sp>
      <p:sp>
        <p:nvSpPr>
          <p:cNvPr id="14" name="Rectangle 13">
            <a:extLst>
              <a:ext uri="{FF2B5EF4-FFF2-40B4-BE49-F238E27FC236}">
                <a16:creationId xmlns:a16="http://schemas.microsoft.com/office/drawing/2014/main" id="{2B54F1E8-7DB0-1856-B1CD-973EEE3D4D46}"/>
              </a:ext>
            </a:extLst>
          </p:cNvPr>
          <p:cNvSpPr/>
          <p:nvPr/>
        </p:nvSpPr>
        <p:spPr>
          <a:xfrm>
            <a:off x="584200" y="3784600"/>
            <a:ext cx="88900" cy="88900"/>
          </a:xfrm>
          <a:prstGeom prst="rect">
            <a:avLst/>
          </a:prstGeom>
          <a:solidFill>
            <a:srgbClr val="C4A1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B575491-9A79-A61F-4A77-4E4232C17153}"/>
              </a:ext>
            </a:extLst>
          </p:cNvPr>
          <p:cNvSpPr txBox="1"/>
          <p:nvPr/>
        </p:nvSpPr>
        <p:spPr>
          <a:xfrm>
            <a:off x="889000" y="3708400"/>
            <a:ext cx="10414000" cy="381000"/>
          </a:xfrm>
          <a:prstGeom prst="rect">
            <a:avLst/>
          </a:prstGeom>
          <a:noFill/>
        </p:spPr>
        <p:txBody>
          <a:bodyPr vert="horz" wrap="square" lIns="0" tIns="0" rIns="0" bIns="0" rtlCol="0" anchor="t">
            <a:noAutofit/>
          </a:bodyPr>
          <a:lstStyle/>
          <a:p>
            <a:pPr>
              <a:lnSpc>
                <a:spcPct val="105000"/>
              </a:lnSpc>
            </a:pPr>
            <a:r>
              <a:rPr lang="en-US" sz="2200">
                <a:solidFill>
                  <a:srgbClr val="FFFFFF"/>
                </a:solidFill>
                <a:latin typeface="Aptos" panose="020B0004020202020204" pitchFamily="34" charset="0"/>
              </a:rPr>
              <a:t>Visible project deployments</a:t>
            </a:r>
          </a:p>
        </p:txBody>
      </p:sp>
      <p:sp>
        <p:nvSpPr>
          <p:cNvPr id="16" name="Rectangle 15">
            <a:extLst>
              <a:ext uri="{FF2B5EF4-FFF2-40B4-BE49-F238E27FC236}">
                <a16:creationId xmlns:a16="http://schemas.microsoft.com/office/drawing/2014/main" id="{2A7D6AEF-C862-69D3-A57D-2356FCE707C2}"/>
              </a:ext>
            </a:extLst>
          </p:cNvPr>
          <p:cNvSpPr/>
          <p:nvPr/>
        </p:nvSpPr>
        <p:spPr>
          <a:xfrm>
            <a:off x="584200" y="4381500"/>
            <a:ext cx="88900" cy="88900"/>
          </a:xfrm>
          <a:prstGeom prst="rect">
            <a:avLst/>
          </a:prstGeom>
          <a:solidFill>
            <a:srgbClr val="C4A1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04D3495-D30C-AB81-2A0D-877C6DD43DB8}"/>
              </a:ext>
            </a:extLst>
          </p:cNvPr>
          <p:cNvSpPr txBox="1"/>
          <p:nvPr/>
        </p:nvSpPr>
        <p:spPr>
          <a:xfrm>
            <a:off x="889000" y="4305300"/>
            <a:ext cx="10414000" cy="381000"/>
          </a:xfrm>
          <a:prstGeom prst="rect">
            <a:avLst/>
          </a:prstGeom>
          <a:noFill/>
        </p:spPr>
        <p:txBody>
          <a:bodyPr vert="horz" wrap="square" lIns="0" tIns="0" rIns="0" bIns="0" rtlCol="0" anchor="t">
            <a:noAutofit/>
          </a:bodyPr>
          <a:lstStyle/>
          <a:p>
            <a:pPr>
              <a:lnSpc>
                <a:spcPct val="105000"/>
              </a:lnSpc>
            </a:pPr>
            <a:r>
              <a:rPr lang="en-US" sz="2200">
                <a:solidFill>
                  <a:srgbClr val="FFFFFF"/>
                </a:solidFill>
                <a:latin typeface="Aptos" panose="020B0004020202020204" pitchFamily="34" charset="0"/>
              </a:rPr>
              <a:t>Organized consumable stock records</a:t>
            </a:r>
          </a:p>
        </p:txBody>
      </p:sp>
      <p:cxnSp>
        <p:nvCxnSpPr>
          <p:cNvPr id="18" name="Straight Connector 17">
            <a:extLst>
              <a:ext uri="{FF2B5EF4-FFF2-40B4-BE49-F238E27FC236}">
                <a16:creationId xmlns:a16="http://schemas.microsoft.com/office/drawing/2014/main" id="{A3677CDA-D5A3-1380-389C-7A1CB022ED25}"/>
              </a:ext>
            </a:extLst>
          </p:cNvPr>
          <p:cNvCxnSpPr/>
          <p:nvPr/>
        </p:nvCxnSpPr>
        <p:spPr>
          <a:xfrm>
            <a:off x="584200" y="5181600"/>
            <a:ext cx="11023600" cy="0"/>
          </a:xfrm>
          <a:prstGeom prst="line">
            <a:avLst/>
          </a:prstGeom>
          <a:ln w="12700">
            <a:solidFill>
              <a:srgbClr val="3A495C"/>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87CC59EE-3896-8224-721B-A1AD016A112D}"/>
              </a:ext>
            </a:extLst>
          </p:cNvPr>
          <p:cNvSpPr txBox="1"/>
          <p:nvPr/>
        </p:nvSpPr>
        <p:spPr>
          <a:xfrm>
            <a:off x="584200" y="5461000"/>
            <a:ext cx="11023600" cy="698500"/>
          </a:xfrm>
          <a:prstGeom prst="rect">
            <a:avLst/>
          </a:prstGeom>
          <a:noFill/>
        </p:spPr>
        <p:txBody>
          <a:bodyPr vert="horz" wrap="square" lIns="0" tIns="0" rIns="0" bIns="0" rtlCol="0" anchor="t">
            <a:noAutofit/>
          </a:bodyPr>
          <a:lstStyle/>
          <a:p>
            <a:pPr>
              <a:lnSpc>
                <a:spcPct val="105000"/>
              </a:lnSpc>
            </a:pPr>
            <a:r>
              <a:rPr lang="en-US" sz="2200" b="1">
                <a:solidFill>
                  <a:srgbClr val="C4A15A"/>
                </a:solidFill>
                <a:latin typeface="Aptos" panose="020B0004020202020204" pitchFamily="34" charset="0"/>
              </a:rPr>
              <a:t>MCPA / SiteTrace — Every Asset Accounted For.</a:t>
            </a:r>
          </a:p>
          <a:p>
            <a:pPr>
              <a:lnSpc>
                <a:spcPct val="105000"/>
              </a:lnSpc>
            </a:pPr>
            <a:r>
              <a:rPr lang="en-US" sz="2200" b="1">
                <a:solidFill>
                  <a:srgbClr val="C4A15A"/>
                </a:solidFill>
                <a:latin typeface="Aptos" panose="020B0004020202020204" pitchFamily="34" charset="0"/>
              </a:rPr>
              <a:t>Every Movement Traceable.</a:t>
            </a:r>
          </a:p>
        </p:txBody>
      </p:sp>
      <p:sp>
        <p:nvSpPr>
          <p:cNvPr id="20" name="TextBox 19">
            <a:extLst>
              <a:ext uri="{FF2B5EF4-FFF2-40B4-BE49-F238E27FC236}">
                <a16:creationId xmlns:a16="http://schemas.microsoft.com/office/drawing/2014/main" id="{5B784A04-E74F-F83C-AFE3-FBEC881DD5DA}"/>
              </a:ext>
            </a:extLst>
          </p:cNvPr>
          <p:cNvSpPr txBox="1"/>
          <p:nvPr/>
        </p:nvSpPr>
        <p:spPr>
          <a:xfrm>
            <a:off x="584200" y="6210300"/>
            <a:ext cx="11023600" cy="177800"/>
          </a:xfrm>
          <a:prstGeom prst="rect">
            <a:avLst/>
          </a:prstGeom>
          <a:noFill/>
        </p:spPr>
        <p:txBody>
          <a:bodyPr vert="horz" wrap="square" lIns="0" tIns="0" rIns="0" bIns="0" rtlCol="0" anchor="t">
            <a:noAutofit/>
          </a:bodyPr>
          <a:lstStyle/>
          <a:p>
            <a:pPr>
              <a:lnSpc>
                <a:spcPct val="105000"/>
              </a:lnSpc>
            </a:pPr>
            <a:r>
              <a:rPr lang="en-US" sz="950">
                <a:solidFill>
                  <a:srgbClr val="C4CDD7"/>
                </a:solidFill>
                <a:latin typeface="Aptos" panose="020B0004020202020204" pitchFamily="34" charset="0"/>
              </a:rPr>
              <a:t>SYSTEM VISION · supported capabilities, not measured business outcomes</a:t>
            </a:r>
          </a:p>
        </p:txBody>
      </p:sp>
    </p:spTree>
    <p:extLst>
      <p:ext uri="{BB962C8B-B14F-4D97-AF65-F5344CB8AC3E}">
        <p14:creationId xmlns:p14="http://schemas.microsoft.com/office/powerpoint/2010/main" val="3020374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5028</Words>
  <Application>Microsoft Office PowerPoint</Application>
  <PresentationFormat>Custom</PresentationFormat>
  <Paragraphs>285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javillana@outlook.com</dc:creator>
  <cp:lastModifiedBy>javillana@outlook.com</cp:lastModifiedBy>
  <cp:revision>1</cp:revision>
  <dcterms:created xsi:type="dcterms:W3CDTF">2026-10-23T18:29:46Z</dcterms:created>
  <dcterms:modified xsi:type="dcterms:W3CDTF">2026-10-23T18:29:46Z</dcterms:modified>
</cp:coreProperties>
</file>