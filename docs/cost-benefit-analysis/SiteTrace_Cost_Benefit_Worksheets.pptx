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figures are illustrative, editable planning estimates authorized by the user. They are not company actuals. Only the green inventory image supplies company quantities. Labor savings represent released capacity, not payroll reduction. Sources and timing assumptions appear on the final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figures are illustrative, editable planning estimates authorized by the user. They are not company actuals. Only the green inventory image supplies company quantities. Labor savings represent released capacity, not payroll reduction. Sources and timing assumptions appear on the final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figures are illustrative, editable planning estimates authorized by the user. They are not company actuals. Only the green inventory image supplies company quantities. Labor savings represent released capacity, not payroll reduction. Sources and timing assumptions appear on the final page.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figures are illustrative, editable planning estimates authorized by the user. They are not company actuals. Only the green inventory image supplies company quantities. Labor savings represent released capacity, not payroll reduction. Sources and timing assumptions appear on the final 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Financial figures are illustrative, editable planning estimates authorized by the user. They are not company actuals. Only the green inventory image supplies company quantities. Labor savings represent released capacity, not payroll reduction. Sources and timing assumptions appear on the final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041400"/>
            <a:ext cx="6438900" cy="736600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59500" y="7594600"/>
            <a:ext cx="673100" cy="457200"/>
          </a:xfrm>
          <a:prstGeom prst="rect">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8800" y="558800"/>
            <a:ext cx="6438900" cy="228600"/>
          </a:xfrm>
          <a:prstGeom prst="rect">
            <a:avLst/>
          </a:prstGeom>
          <a:solidFill>
            <a:srgbClr val="6A1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NIT 2: Systems Planning | PLANNING ESTIMATES (PHP)"/>
          <p:cNvSpPr txBox="1"/>
          <p:nvPr/>
        </p:nvSpPr>
        <p:spPr>
          <a:xfrm>
            <a:off x="558800" y="558800"/>
            <a:ext cx="6438900" cy="228600"/>
          </a:xfrm>
          <a:prstGeom prst="rect">
            <a:avLst/>
          </a:prstGeom>
          <a:noFill/>
        </p:spPr>
        <p:txBody>
          <a:bodyPr wrap="none" anchor="t" lIns="39369" rIns="39369" tIns="39369" bIns="39369">
            <a:spAutoFit/>
          </a:bodyPr>
          <a:lstStyle/>
          <a:p>
            <a:pPr algn="l">
              <a:lnSpc>
                <a:spcPts val="1120"/>
              </a:lnSpc>
              <a:spcBef>
                <a:spcPts val="0"/>
              </a:spcBef>
              <a:spcAft>
                <a:spcPts val="0"/>
              </a:spcAft>
            </a:pPr>
            <a:r>
              <a:rPr sz="1000" b="1">
                <a:solidFill>
                  <a:srgbClr val="FFFFFF"/>
                </a:solidFill>
                <a:latin typeface="Arial Narrow"/>
              </a:rPr>
              <a:t>UNIT 2: Systems Planning | PLANNING ESTIMATES (PHP)</a:t>
            </a:r>
          </a:p>
        </p:txBody>
      </p:sp>
      <p:sp>
        <p:nvSpPr>
          <p:cNvPr id="6" name="IT303: SYSTEMS ANALYSIS AND DESIGN"/>
          <p:cNvSpPr txBox="1"/>
          <p:nvPr/>
        </p:nvSpPr>
        <p:spPr>
          <a:xfrm>
            <a:off x="558800" y="10172700"/>
            <a:ext cx="57785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IT303: SYSTEMS ANALYSIS AND DESIGN</a:t>
            </a:r>
          </a:p>
        </p:txBody>
      </p:sp>
      <p:sp>
        <p:nvSpPr>
          <p:cNvPr id="7" name="1"/>
          <p:cNvSpPr txBox="1"/>
          <p:nvPr/>
        </p:nvSpPr>
        <p:spPr>
          <a:xfrm>
            <a:off x="64389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1</a:t>
            </a:r>
          </a:p>
        </p:txBody>
      </p:sp>
      <p:sp>
        <p:nvSpPr>
          <p:cNvPr id="8" name="BREAKDOWN OF ONE TIME COST WORKSHEET"/>
          <p:cNvSpPr txBox="1"/>
          <p:nvPr/>
        </p:nvSpPr>
        <p:spPr>
          <a:xfrm>
            <a:off x="685800" y="1155700"/>
            <a:ext cx="6159500" cy="241300"/>
          </a:xfrm>
          <a:prstGeom prst="rect">
            <a:avLst/>
          </a:prstGeom>
          <a:noFill/>
        </p:spPr>
        <p:txBody>
          <a:bodyPr wrap="none" anchor="t" lIns="25400" rIns="25400" tIns="25400" bIns="25400">
            <a:spAutoFit/>
          </a:bodyPr>
          <a:lstStyle/>
          <a:p>
            <a:pPr algn="ctr">
              <a:lnSpc>
                <a:spcPts val="1344"/>
              </a:lnSpc>
              <a:spcBef>
                <a:spcPts val="0"/>
              </a:spcBef>
              <a:spcAft>
                <a:spcPts val="0"/>
              </a:spcAft>
            </a:pPr>
            <a:r>
              <a:rPr sz="1200" b="1">
                <a:solidFill>
                  <a:srgbClr val="000000"/>
                </a:solidFill>
                <a:latin typeface="Arial Narrow"/>
              </a:rPr>
              <a:t>BREAKDOWN OF ONE TIME COST WORKSHEET</a:t>
            </a:r>
          </a:p>
        </p:txBody>
      </p:sp>
      <p:sp>
        <p:nvSpPr>
          <p:cNvPr id="9" name="Assumed project development duration: 3 MONTHS (part-time project"/>
          <p:cNvSpPr txBox="1"/>
          <p:nvPr/>
        </p:nvSpPr>
        <p:spPr>
          <a:xfrm>
            <a:off x="685800" y="1485900"/>
            <a:ext cx="6159500" cy="254000"/>
          </a:xfrm>
          <a:prstGeom prst="rect">
            <a:avLst/>
          </a:prstGeom>
          <a:noFill/>
        </p:spPr>
        <p:txBody>
          <a:bodyPr wrap="none" anchor="t" lIns="25400" rIns="25400" tIns="25400" bIns="25400">
            <a:spAutoFit/>
          </a:bodyPr>
          <a:lstStyle/>
          <a:p>
            <a:pPr algn="l">
              <a:lnSpc>
                <a:spcPts val="1176"/>
              </a:lnSpc>
              <a:spcBef>
                <a:spcPts val="0"/>
              </a:spcBef>
              <a:spcAft>
                <a:spcPts val="0"/>
              </a:spcAft>
            </a:pPr>
            <a:r>
              <a:rPr sz="1050" b="0">
                <a:solidFill>
                  <a:srgbClr val="000000"/>
                </a:solidFill>
                <a:latin typeface="Arial Narrow"/>
              </a:rPr>
              <a:t>Assumed project development duration: 3 MONTHS (part-time project fees)</a:t>
            </a:r>
          </a:p>
        </p:txBody>
      </p:sp>
      <p:sp>
        <p:nvSpPr>
          <p:cNvPr id="10" name="A. Development Cost"/>
          <p:cNvSpPr txBox="1"/>
          <p:nvPr/>
        </p:nvSpPr>
        <p:spPr>
          <a:xfrm>
            <a:off x="685800" y="1905000"/>
            <a:ext cx="2844800" cy="254000"/>
          </a:xfrm>
          <a:prstGeom prst="rect">
            <a:avLst/>
          </a:prstGeom>
          <a:noFill/>
        </p:spPr>
        <p:txBody>
          <a:bodyPr wrap="none" anchor="t" lIns="25400" rIns="25400" tIns="25400" bIns="25400">
            <a:spAutoFit/>
          </a:bodyPr>
          <a:lstStyle/>
          <a:p>
            <a:pPr algn="l">
              <a:lnSpc>
                <a:spcPts val="1232"/>
              </a:lnSpc>
              <a:spcBef>
                <a:spcPts val="0"/>
              </a:spcBef>
              <a:spcAft>
                <a:spcPts val="0"/>
              </a:spcAft>
            </a:pPr>
            <a:r>
              <a:rPr sz="1100" b="0">
                <a:solidFill>
                  <a:srgbClr val="000000"/>
                </a:solidFill>
                <a:latin typeface="Arial Narrow"/>
              </a:rPr>
              <a:t>A. Development Cost</a:t>
            </a:r>
          </a:p>
        </p:txBody>
      </p:sp>
      <p:sp>
        <p:nvSpPr>
          <p:cNvPr id="11" name="Rectangle 10"/>
          <p:cNvSpPr/>
          <p:nvPr/>
        </p:nvSpPr>
        <p:spPr>
          <a:xfrm>
            <a:off x="685800" y="2260600"/>
            <a:ext cx="11049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scription"/>
          <p:cNvSpPr txBox="1"/>
          <p:nvPr/>
        </p:nvSpPr>
        <p:spPr>
          <a:xfrm>
            <a:off x="685800" y="2260600"/>
            <a:ext cx="11049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Description</a:t>
            </a:r>
          </a:p>
        </p:txBody>
      </p:sp>
      <p:sp>
        <p:nvSpPr>
          <p:cNvPr id="13" name="Rectangle 12"/>
          <p:cNvSpPr/>
          <p:nvPr/>
        </p:nvSpPr>
        <p:spPr>
          <a:xfrm>
            <a:off x="1790700" y="2260600"/>
            <a:ext cx="7493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ee/Month"/>
          <p:cNvSpPr txBox="1"/>
          <p:nvPr/>
        </p:nvSpPr>
        <p:spPr>
          <a:xfrm>
            <a:off x="1790700" y="2260600"/>
            <a:ext cx="7493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Fee/Month</a:t>
            </a:r>
          </a:p>
        </p:txBody>
      </p:sp>
      <p:sp>
        <p:nvSpPr>
          <p:cNvPr id="15" name="Rectangle 14"/>
          <p:cNvSpPr/>
          <p:nvPr/>
        </p:nvSpPr>
        <p:spPr>
          <a:xfrm>
            <a:off x="2540000" y="2260600"/>
            <a:ext cx="2921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o."/>
          <p:cNvSpPr txBox="1"/>
          <p:nvPr/>
        </p:nvSpPr>
        <p:spPr>
          <a:xfrm>
            <a:off x="2540000" y="2260600"/>
            <a:ext cx="2921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Mo.</a:t>
            </a:r>
          </a:p>
        </p:txBody>
      </p:sp>
      <p:sp>
        <p:nvSpPr>
          <p:cNvPr id="17" name="Rectangle 16"/>
          <p:cNvSpPr/>
          <p:nvPr/>
        </p:nvSpPr>
        <p:spPr>
          <a:xfrm>
            <a:off x="2832100" y="2260600"/>
            <a:ext cx="6985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ub_Total"/>
          <p:cNvSpPr txBox="1"/>
          <p:nvPr/>
        </p:nvSpPr>
        <p:spPr>
          <a:xfrm>
            <a:off x="2832100" y="2260600"/>
            <a:ext cx="698500" cy="241300"/>
          </a:xfrm>
          <a:prstGeom prst="rect">
            <a:avLst/>
          </a:prstGeom>
          <a:noFill/>
        </p:spPr>
        <p:txBody>
          <a:bodyPr wrap="none" anchor="t" lIns="25400" rIns="25400" tIns="25400" bIns="25400">
            <a:spAutoFit/>
          </a:bodyPr>
          <a:lstStyle/>
          <a:p>
            <a:pPr algn="l">
              <a:lnSpc>
                <a:spcPts val="974"/>
              </a:lnSpc>
              <a:spcBef>
                <a:spcPts val="0"/>
              </a:spcBef>
              <a:spcAft>
                <a:spcPts val="0"/>
              </a:spcAft>
            </a:pPr>
            <a:r>
              <a:rPr sz="869" b="1">
                <a:solidFill>
                  <a:srgbClr val="000000"/>
                </a:solidFill>
                <a:latin typeface="Arial Narrow"/>
              </a:rPr>
              <a:t>Sub_Total</a:t>
            </a:r>
          </a:p>
        </p:txBody>
      </p:sp>
      <p:sp>
        <p:nvSpPr>
          <p:cNvPr id="19" name="Rectangle 18"/>
          <p:cNvSpPr/>
          <p:nvPr/>
        </p:nvSpPr>
        <p:spPr>
          <a:xfrm>
            <a:off x="685800" y="2501900"/>
            <a:ext cx="1104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ystem Analyst (PT)"/>
          <p:cNvSpPr txBox="1"/>
          <p:nvPr/>
        </p:nvSpPr>
        <p:spPr>
          <a:xfrm>
            <a:off x="685800" y="2501900"/>
            <a:ext cx="1104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System Analyst (PT)</a:t>
            </a:r>
          </a:p>
        </p:txBody>
      </p:sp>
      <p:sp>
        <p:nvSpPr>
          <p:cNvPr id="21" name="dev1_rate"/>
          <p:cNvSpPr/>
          <p:nvPr/>
        </p:nvSpPr>
        <p:spPr>
          <a:xfrm>
            <a:off x="1790700" y="2501900"/>
            <a:ext cx="7493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ev1_rate"/>
          <p:cNvSpPr txBox="1"/>
          <p:nvPr/>
        </p:nvSpPr>
        <p:spPr>
          <a:xfrm>
            <a:off x="1790700" y="2501900"/>
            <a:ext cx="7493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10,000.00</a:t>
            </a:r>
          </a:p>
        </p:txBody>
      </p:sp>
      <p:sp>
        <p:nvSpPr>
          <p:cNvPr id="23" name="dev1_months"/>
          <p:cNvSpPr/>
          <p:nvPr/>
        </p:nvSpPr>
        <p:spPr>
          <a:xfrm>
            <a:off x="2540000" y="2501900"/>
            <a:ext cx="292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dev1_months"/>
          <p:cNvSpPr txBox="1"/>
          <p:nvPr/>
        </p:nvSpPr>
        <p:spPr>
          <a:xfrm>
            <a:off x="2540000" y="2501900"/>
            <a:ext cx="292100" cy="241300"/>
          </a:xfrm>
          <a:prstGeom prst="rect">
            <a:avLst/>
          </a:prstGeom>
          <a:noFill/>
        </p:spPr>
        <p:txBody>
          <a:bodyPr wrap="none" anchor="t" lIns="25400" rIns="25400" tIns="25400" bIns="25400">
            <a:spAutoFit/>
          </a:bodyPr>
          <a:lstStyle/>
          <a:p>
            <a:pPr algn="ctr">
              <a:lnSpc>
                <a:spcPts val="1008"/>
              </a:lnSpc>
              <a:spcBef>
                <a:spcPts val="0"/>
              </a:spcBef>
              <a:spcAft>
                <a:spcPts val="0"/>
              </a:spcAft>
            </a:pPr>
            <a:r>
              <a:rPr sz="900" b="0">
                <a:solidFill>
                  <a:srgbClr val="000000"/>
                </a:solidFill>
                <a:latin typeface="Arial Narrow"/>
              </a:rPr>
              <a:t>3</a:t>
            </a:r>
          </a:p>
        </p:txBody>
      </p:sp>
      <p:sp>
        <p:nvSpPr>
          <p:cNvPr id="25" name="dev1_subtotal"/>
          <p:cNvSpPr/>
          <p:nvPr/>
        </p:nvSpPr>
        <p:spPr>
          <a:xfrm>
            <a:off x="2832100" y="2501900"/>
            <a:ext cx="698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ev1_subtotal"/>
          <p:cNvSpPr txBox="1"/>
          <p:nvPr/>
        </p:nvSpPr>
        <p:spPr>
          <a:xfrm>
            <a:off x="2832100" y="2501900"/>
            <a:ext cx="6985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30,000.00</a:t>
            </a:r>
          </a:p>
        </p:txBody>
      </p:sp>
      <p:sp>
        <p:nvSpPr>
          <p:cNvPr id="27" name="Rectangle 26"/>
          <p:cNvSpPr/>
          <p:nvPr/>
        </p:nvSpPr>
        <p:spPr>
          <a:xfrm>
            <a:off x="685800" y="2743200"/>
            <a:ext cx="1104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rogrammer (PT)"/>
          <p:cNvSpPr txBox="1"/>
          <p:nvPr/>
        </p:nvSpPr>
        <p:spPr>
          <a:xfrm>
            <a:off x="685800" y="2743200"/>
            <a:ext cx="1104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Programmer (PT)</a:t>
            </a:r>
          </a:p>
        </p:txBody>
      </p:sp>
      <p:sp>
        <p:nvSpPr>
          <p:cNvPr id="29" name="dev2_rate"/>
          <p:cNvSpPr/>
          <p:nvPr/>
        </p:nvSpPr>
        <p:spPr>
          <a:xfrm>
            <a:off x="1790700" y="2743200"/>
            <a:ext cx="7493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v2_rate"/>
          <p:cNvSpPr txBox="1"/>
          <p:nvPr/>
        </p:nvSpPr>
        <p:spPr>
          <a:xfrm>
            <a:off x="1790700" y="2743200"/>
            <a:ext cx="7493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20,000.00</a:t>
            </a:r>
          </a:p>
        </p:txBody>
      </p:sp>
      <p:sp>
        <p:nvSpPr>
          <p:cNvPr id="31" name="dev2_months"/>
          <p:cNvSpPr/>
          <p:nvPr/>
        </p:nvSpPr>
        <p:spPr>
          <a:xfrm>
            <a:off x="2540000" y="2743200"/>
            <a:ext cx="292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ev2_months"/>
          <p:cNvSpPr txBox="1"/>
          <p:nvPr/>
        </p:nvSpPr>
        <p:spPr>
          <a:xfrm>
            <a:off x="2540000" y="2743200"/>
            <a:ext cx="292100" cy="241300"/>
          </a:xfrm>
          <a:prstGeom prst="rect">
            <a:avLst/>
          </a:prstGeom>
          <a:noFill/>
        </p:spPr>
        <p:txBody>
          <a:bodyPr wrap="none" anchor="t" lIns="25400" rIns="25400" tIns="25400" bIns="25400">
            <a:spAutoFit/>
          </a:bodyPr>
          <a:lstStyle/>
          <a:p>
            <a:pPr algn="ctr">
              <a:lnSpc>
                <a:spcPts val="1008"/>
              </a:lnSpc>
              <a:spcBef>
                <a:spcPts val="0"/>
              </a:spcBef>
              <a:spcAft>
                <a:spcPts val="0"/>
              </a:spcAft>
            </a:pPr>
            <a:r>
              <a:rPr sz="900" b="0">
                <a:solidFill>
                  <a:srgbClr val="000000"/>
                </a:solidFill>
                <a:latin typeface="Arial Narrow"/>
              </a:rPr>
              <a:t>3</a:t>
            </a:r>
          </a:p>
        </p:txBody>
      </p:sp>
      <p:sp>
        <p:nvSpPr>
          <p:cNvPr id="33" name="dev2_subtotal"/>
          <p:cNvSpPr/>
          <p:nvPr/>
        </p:nvSpPr>
        <p:spPr>
          <a:xfrm>
            <a:off x="2832100" y="2743200"/>
            <a:ext cx="698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ev2_subtotal"/>
          <p:cNvSpPr txBox="1"/>
          <p:nvPr/>
        </p:nvSpPr>
        <p:spPr>
          <a:xfrm>
            <a:off x="2832100" y="2743200"/>
            <a:ext cx="6985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60,000.00</a:t>
            </a:r>
          </a:p>
        </p:txBody>
      </p:sp>
      <p:sp>
        <p:nvSpPr>
          <p:cNvPr id="35" name="Rectangle 34"/>
          <p:cNvSpPr/>
          <p:nvPr/>
        </p:nvSpPr>
        <p:spPr>
          <a:xfrm>
            <a:off x="685800" y="2984500"/>
            <a:ext cx="1104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Encoder (PT)"/>
          <p:cNvSpPr txBox="1"/>
          <p:nvPr/>
        </p:nvSpPr>
        <p:spPr>
          <a:xfrm>
            <a:off x="685800" y="2984500"/>
            <a:ext cx="1104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Encoder (PT)</a:t>
            </a:r>
          </a:p>
        </p:txBody>
      </p:sp>
      <p:sp>
        <p:nvSpPr>
          <p:cNvPr id="37" name="dev3_rate"/>
          <p:cNvSpPr/>
          <p:nvPr/>
        </p:nvSpPr>
        <p:spPr>
          <a:xfrm>
            <a:off x="1790700" y="2984500"/>
            <a:ext cx="7493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dev3_rate"/>
          <p:cNvSpPr txBox="1"/>
          <p:nvPr/>
        </p:nvSpPr>
        <p:spPr>
          <a:xfrm>
            <a:off x="1790700" y="2984500"/>
            <a:ext cx="7493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5,000.00</a:t>
            </a:r>
          </a:p>
        </p:txBody>
      </p:sp>
      <p:sp>
        <p:nvSpPr>
          <p:cNvPr id="39" name="dev3_months"/>
          <p:cNvSpPr/>
          <p:nvPr/>
        </p:nvSpPr>
        <p:spPr>
          <a:xfrm>
            <a:off x="2540000" y="2984500"/>
            <a:ext cx="292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dev3_months"/>
          <p:cNvSpPr txBox="1"/>
          <p:nvPr/>
        </p:nvSpPr>
        <p:spPr>
          <a:xfrm>
            <a:off x="2540000" y="2984500"/>
            <a:ext cx="292100" cy="241300"/>
          </a:xfrm>
          <a:prstGeom prst="rect">
            <a:avLst/>
          </a:prstGeom>
          <a:noFill/>
        </p:spPr>
        <p:txBody>
          <a:bodyPr wrap="none" anchor="t" lIns="25400" rIns="25400" tIns="25400" bIns="25400">
            <a:spAutoFit/>
          </a:bodyPr>
          <a:lstStyle/>
          <a:p>
            <a:pPr algn="ctr">
              <a:lnSpc>
                <a:spcPts val="1008"/>
              </a:lnSpc>
              <a:spcBef>
                <a:spcPts val="0"/>
              </a:spcBef>
              <a:spcAft>
                <a:spcPts val="0"/>
              </a:spcAft>
            </a:pPr>
            <a:r>
              <a:rPr sz="900" b="0">
                <a:solidFill>
                  <a:srgbClr val="000000"/>
                </a:solidFill>
                <a:latin typeface="Arial Narrow"/>
              </a:rPr>
              <a:t>1</a:t>
            </a:r>
          </a:p>
        </p:txBody>
      </p:sp>
      <p:sp>
        <p:nvSpPr>
          <p:cNvPr id="41" name="dev3_subtotal"/>
          <p:cNvSpPr/>
          <p:nvPr/>
        </p:nvSpPr>
        <p:spPr>
          <a:xfrm>
            <a:off x="2832100" y="2984500"/>
            <a:ext cx="698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dev3_subtotal"/>
          <p:cNvSpPr txBox="1"/>
          <p:nvPr/>
        </p:nvSpPr>
        <p:spPr>
          <a:xfrm>
            <a:off x="2832100" y="2984500"/>
            <a:ext cx="6985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5,000.00</a:t>
            </a:r>
          </a:p>
        </p:txBody>
      </p:sp>
      <p:sp>
        <p:nvSpPr>
          <p:cNvPr id="43" name="Rectangle 42"/>
          <p:cNvSpPr/>
          <p:nvPr/>
        </p:nvSpPr>
        <p:spPr>
          <a:xfrm>
            <a:off x="685800" y="3225800"/>
            <a:ext cx="1104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search / QA (PT)"/>
          <p:cNvSpPr txBox="1"/>
          <p:nvPr/>
        </p:nvSpPr>
        <p:spPr>
          <a:xfrm>
            <a:off x="685800" y="3225800"/>
            <a:ext cx="1104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Research / QA (PT)</a:t>
            </a:r>
          </a:p>
        </p:txBody>
      </p:sp>
      <p:sp>
        <p:nvSpPr>
          <p:cNvPr id="45" name="dev4_rate"/>
          <p:cNvSpPr/>
          <p:nvPr/>
        </p:nvSpPr>
        <p:spPr>
          <a:xfrm>
            <a:off x="1790700" y="3225800"/>
            <a:ext cx="7493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dev4_rate"/>
          <p:cNvSpPr txBox="1"/>
          <p:nvPr/>
        </p:nvSpPr>
        <p:spPr>
          <a:xfrm>
            <a:off x="1790700" y="3225800"/>
            <a:ext cx="7493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6,000.00</a:t>
            </a:r>
          </a:p>
        </p:txBody>
      </p:sp>
      <p:sp>
        <p:nvSpPr>
          <p:cNvPr id="47" name="dev4_months"/>
          <p:cNvSpPr/>
          <p:nvPr/>
        </p:nvSpPr>
        <p:spPr>
          <a:xfrm>
            <a:off x="2540000" y="3225800"/>
            <a:ext cx="292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dev4_months"/>
          <p:cNvSpPr txBox="1"/>
          <p:nvPr/>
        </p:nvSpPr>
        <p:spPr>
          <a:xfrm>
            <a:off x="2540000" y="3225800"/>
            <a:ext cx="292100" cy="241300"/>
          </a:xfrm>
          <a:prstGeom prst="rect">
            <a:avLst/>
          </a:prstGeom>
          <a:noFill/>
        </p:spPr>
        <p:txBody>
          <a:bodyPr wrap="none" anchor="t" lIns="25400" rIns="25400" tIns="25400" bIns="25400">
            <a:spAutoFit/>
          </a:bodyPr>
          <a:lstStyle/>
          <a:p>
            <a:pPr algn="ctr">
              <a:lnSpc>
                <a:spcPts val="1008"/>
              </a:lnSpc>
              <a:spcBef>
                <a:spcPts val="0"/>
              </a:spcBef>
              <a:spcAft>
                <a:spcPts val="0"/>
              </a:spcAft>
            </a:pPr>
            <a:r>
              <a:rPr sz="900" b="0">
                <a:solidFill>
                  <a:srgbClr val="000000"/>
                </a:solidFill>
                <a:latin typeface="Arial Narrow"/>
              </a:rPr>
              <a:t>2</a:t>
            </a:r>
          </a:p>
        </p:txBody>
      </p:sp>
      <p:sp>
        <p:nvSpPr>
          <p:cNvPr id="49" name="dev4_subtotal"/>
          <p:cNvSpPr/>
          <p:nvPr/>
        </p:nvSpPr>
        <p:spPr>
          <a:xfrm>
            <a:off x="2832100" y="3225800"/>
            <a:ext cx="6985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dev4_subtotal"/>
          <p:cNvSpPr txBox="1"/>
          <p:nvPr/>
        </p:nvSpPr>
        <p:spPr>
          <a:xfrm>
            <a:off x="2832100" y="3225800"/>
            <a:ext cx="6985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12,000.00</a:t>
            </a:r>
          </a:p>
        </p:txBody>
      </p:sp>
      <p:sp>
        <p:nvSpPr>
          <p:cNvPr id="51" name="Rectangle 50"/>
          <p:cNvSpPr/>
          <p:nvPr/>
        </p:nvSpPr>
        <p:spPr>
          <a:xfrm>
            <a:off x="685800" y="3467100"/>
            <a:ext cx="21463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OTAL"/>
          <p:cNvSpPr txBox="1"/>
          <p:nvPr/>
        </p:nvSpPr>
        <p:spPr>
          <a:xfrm>
            <a:off x="685800" y="3467100"/>
            <a:ext cx="21463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53" name="development_total"/>
          <p:cNvSpPr/>
          <p:nvPr/>
        </p:nvSpPr>
        <p:spPr>
          <a:xfrm>
            <a:off x="2832100" y="3467100"/>
            <a:ext cx="698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development_total"/>
          <p:cNvSpPr txBox="1"/>
          <p:nvPr/>
        </p:nvSpPr>
        <p:spPr>
          <a:xfrm>
            <a:off x="2832100" y="3467100"/>
            <a:ext cx="6985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107,000.00</a:t>
            </a:r>
          </a:p>
        </p:txBody>
      </p:sp>
      <p:sp>
        <p:nvSpPr>
          <p:cNvPr id="55" name="B. User Training"/>
          <p:cNvSpPr txBox="1"/>
          <p:nvPr/>
        </p:nvSpPr>
        <p:spPr>
          <a:xfrm>
            <a:off x="685800" y="3962400"/>
            <a:ext cx="2844800" cy="254000"/>
          </a:xfrm>
          <a:prstGeom prst="rect">
            <a:avLst/>
          </a:prstGeom>
          <a:noFill/>
        </p:spPr>
        <p:txBody>
          <a:bodyPr wrap="none" anchor="t" lIns="25400" rIns="25400" tIns="25400" bIns="25400">
            <a:spAutoFit/>
          </a:bodyPr>
          <a:lstStyle/>
          <a:p>
            <a:pPr algn="l">
              <a:lnSpc>
                <a:spcPts val="1232"/>
              </a:lnSpc>
              <a:spcBef>
                <a:spcPts val="0"/>
              </a:spcBef>
              <a:spcAft>
                <a:spcPts val="0"/>
              </a:spcAft>
            </a:pPr>
            <a:r>
              <a:rPr sz="1100" b="0">
                <a:solidFill>
                  <a:srgbClr val="000000"/>
                </a:solidFill>
                <a:latin typeface="Arial Narrow"/>
              </a:rPr>
              <a:t>B. User Training</a:t>
            </a:r>
          </a:p>
        </p:txBody>
      </p:sp>
      <p:sp>
        <p:nvSpPr>
          <p:cNvPr id="56" name="Rectangle 55"/>
          <p:cNvSpPr/>
          <p:nvPr/>
        </p:nvSpPr>
        <p:spPr>
          <a:xfrm>
            <a:off x="685800" y="43307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escription"/>
          <p:cNvSpPr txBox="1"/>
          <p:nvPr/>
        </p:nvSpPr>
        <p:spPr>
          <a:xfrm>
            <a:off x="685800" y="4330700"/>
            <a:ext cx="1320800" cy="241300"/>
          </a:xfrm>
          <a:prstGeom prst="rect">
            <a:avLst/>
          </a:prstGeom>
          <a:noFill/>
        </p:spPr>
        <p:txBody>
          <a:bodyPr wrap="none" anchor="t" lIns="25400" rIns="25400" tIns="25400" bIns="25400">
            <a:spAutoFit/>
          </a:bodyPr>
          <a:lstStyle/>
          <a:p>
            <a:pPr algn="l">
              <a:lnSpc>
                <a:spcPts val="996"/>
              </a:lnSpc>
              <a:spcBef>
                <a:spcPts val="0"/>
              </a:spcBef>
              <a:spcAft>
                <a:spcPts val="0"/>
              </a:spcAft>
            </a:pPr>
            <a:r>
              <a:rPr sz="890" b="1">
                <a:solidFill>
                  <a:srgbClr val="000000"/>
                </a:solidFill>
                <a:latin typeface="Arial Narrow"/>
              </a:rPr>
              <a:t>Description</a:t>
            </a:r>
          </a:p>
        </p:txBody>
      </p:sp>
      <p:sp>
        <p:nvSpPr>
          <p:cNvPr id="58" name="Rectangle 57"/>
          <p:cNvSpPr/>
          <p:nvPr/>
        </p:nvSpPr>
        <p:spPr>
          <a:xfrm>
            <a:off x="2006600" y="4330700"/>
            <a:ext cx="889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Honoraria/day"/>
          <p:cNvSpPr txBox="1"/>
          <p:nvPr/>
        </p:nvSpPr>
        <p:spPr>
          <a:xfrm>
            <a:off x="2006600" y="4330700"/>
            <a:ext cx="889000" cy="241300"/>
          </a:xfrm>
          <a:prstGeom prst="rect">
            <a:avLst/>
          </a:prstGeom>
          <a:noFill/>
        </p:spPr>
        <p:txBody>
          <a:bodyPr wrap="none" anchor="t" lIns="25400" rIns="25400" tIns="25400" bIns="25400">
            <a:spAutoFit/>
          </a:bodyPr>
          <a:lstStyle/>
          <a:p>
            <a:pPr algn="l">
              <a:lnSpc>
                <a:spcPts val="996"/>
              </a:lnSpc>
              <a:spcBef>
                <a:spcPts val="0"/>
              </a:spcBef>
              <a:spcAft>
                <a:spcPts val="0"/>
              </a:spcAft>
            </a:pPr>
            <a:r>
              <a:rPr sz="890" b="1">
                <a:solidFill>
                  <a:srgbClr val="000000"/>
                </a:solidFill>
                <a:latin typeface="Arial Narrow"/>
              </a:rPr>
              <a:t>Honoraria/day</a:t>
            </a:r>
          </a:p>
        </p:txBody>
      </p:sp>
      <p:sp>
        <p:nvSpPr>
          <p:cNvPr id="60" name="Rectangle 59"/>
          <p:cNvSpPr/>
          <p:nvPr/>
        </p:nvSpPr>
        <p:spPr>
          <a:xfrm>
            <a:off x="2895600" y="4330700"/>
            <a:ext cx="635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ub_Total"/>
          <p:cNvSpPr txBox="1"/>
          <p:nvPr/>
        </p:nvSpPr>
        <p:spPr>
          <a:xfrm>
            <a:off x="2895600" y="4330700"/>
            <a:ext cx="635000" cy="241300"/>
          </a:xfrm>
          <a:prstGeom prst="rect">
            <a:avLst/>
          </a:prstGeom>
          <a:noFill/>
        </p:spPr>
        <p:txBody>
          <a:bodyPr wrap="none" anchor="t" lIns="25400" rIns="25400" tIns="25400" bIns="25400">
            <a:spAutoFit/>
          </a:bodyPr>
          <a:lstStyle/>
          <a:p>
            <a:pPr algn="l">
              <a:lnSpc>
                <a:spcPts val="996"/>
              </a:lnSpc>
              <a:spcBef>
                <a:spcPts val="0"/>
              </a:spcBef>
              <a:spcAft>
                <a:spcPts val="0"/>
              </a:spcAft>
            </a:pPr>
            <a:r>
              <a:rPr sz="890" b="1">
                <a:solidFill>
                  <a:srgbClr val="000000"/>
                </a:solidFill>
                <a:latin typeface="Arial Narrow"/>
              </a:rPr>
              <a:t>Sub_Total</a:t>
            </a:r>
          </a:p>
        </p:txBody>
      </p:sp>
      <p:sp>
        <p:nvSpPr>
          <p:cNvPr id="62" name="Rectangle 61"/>
          <p:cNvSpPr/>
          <p:nvPr/>
        </p:nvSpPr>
        <p:spPr>
          <a:xfrm>
            <a:off x="685800" y="45720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User Training (2 days)"/>
          <p:cNvSpPr txBox="1"/>
          <p:nvPr/>
        </p:nvSpPr>
        <p:spPr>
          <a:xfrm>
            <a:off x="685800" y="45720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User Training (2 days)</a:t>
            </a:r>
          </a:p>
        </p:txBody>
      </p:sp>
      <p:sp>
        <p:nvSpPr>
          <p:cNvPr id="64" name="training_rate"/>
          <p:cNvSpPr/>
          <p:nvPr/>
        </p:nvSpPr>
        <p:spPr>
          <a:xfrm>
            <a:off x="2006600" y="45720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raining_rate"/>
          <p:cNvSpPr txBox="1"/>
          <p:nvPr/>
        </p:nvSpPr>
        <p:spPr>
          <a:xfrm>
            <a:off x="2006600" y="45720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1,500.00</a:t>
            </a:r>
          </a:p>
        </p:txBody>
      </p:sp>
      <p:sp>
        <p:nvSpPr>
          <p:cNvPr id="66" name="training_subtotal"/>
          <p:cNvSpPr/>
          <p:nvPr/>
        </p:nvSpPr>
        <p:spPr>
          <a:xfrm>
            <a:off x="2895600" y="45720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raining_subtotal"/>
          <p:cNvSpPr txBox="1"/>
          <p:nvPr/>
        </p:nvSpPr>
        <p:spPr>
          <a:xfrm>
            <a:off x="2895600" y="45720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3,000.00</a:t>
            </a:r>
          </a:p>
        </p:txBody>
      </p:sp>
      <p:sp>
        <p:nvSpPr>
          <p:cNvPr id="68" name="Rectangle 67"/>
          <p:cNvSpPr/>
          <p:nvPr/>
        </p:nvSpPr>
        <p:spPr>
          <a:xfrm>
            <a:off x="685800" y="48133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raining Kit"/>
          <p:cNvSpPr txBox="1"/>
          <p:nvPr/>
        </p:nvSpPr>
        <p:spPr>
          <a:xfrm>
            <a:off x="685800" y="48133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Training Kit</a:t>
            </a:r>
          </a:p>
        </p:txBody>
      </p:sp>
      <p:sp>
        <p:nvSpPr>
          <p:cNvPr id="70" name="training_kit"/>
          <p:cNvSpPr/>
          <p:nvPr/>
        </p:nvSpPr>
        <p:spPr>
          <a:xfrm>
            <a:off x="2006600" y="48133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raining_kit"/>
          <p:cNvSpPr txBox="1"/>
          <p:nvPr/>
        </p:nvSpPr>
        <p:spPr>
          <a:xfrm>
            <a:off x="2006600" y="48133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72" name="training_kit_subtotal"/>
          <p:cNvSpPr/>
          <p:nvPr/>
        </p:nvSpPr>
        <p:spPr>
          <a:xfrm>
            <a:off x="2895600" y="48133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raining_kit_subtotal"/>
          <p:cNvSpPr txBox="1"/>
          <p:nvPr/>
        </p:nvSpPr>
        <p:spPr>
          <a:xfrm>
            <a:off x="2895600" y="48133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74" name="Rectangle 73"/>
          <p:cNvSpPr/>
          <p:nvPr/>
        </p:nvSpPr>
        <p:spPr>
          <a:xfrm>
            <a:off x="685800" y="50546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OTAL"/>
          <p:cNvSpPr txBox="1"/>
          <p:nvPr/>
        </p:nvSpPr>
        <p:spPr>
          <a:xfrm>
            <a:off x="685800" y="50546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76" name="training_total"/>
          <p:cNvSpPr/>
          <p:nvPr/>
        </p:nvSpPr>
        <p:spPr>
          <a:xfrm>
            <a:off x="2895600" y="50546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raining_total"/>
          <p:cNvSpPr txBox="1"/>
          <p:nvPr/>
        </p:nvSpPr>
        <p:spPr>
          <a:xfrm>
            <a:off x="2895600" y="5054600"/>
            <a:ext cx="635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4,000.00</a:t>
            </a:r>
          </a:p>
        </p:txBody>
      </p:sp>
      <p:sp>
        <p:nvSpPr>
          <p:cNvPr id="78" name="C. ADDITIONAL HARDWARE/SOFTWARE"/>
          <p:cNvSpPr txBox="1"/>
          <p:nvPr/>
        </p:nvSpPr>
        <p:spPr>
          <a:xfrm>
            <a:off x="685800" y="5588000"/>
            <a:ext cx="2844800" cy="254000"/>
          </a:xfrm>
          <a:prstGeom prst="rect">
            <a:avLst/>
          </a:prstGeom>
          <a:noFill/>
        </p:spPr>
        <p:txBody>
          <a:bodyPr wrap="none" anchor="t" lIns="25400" rIns="25400" tIns="25400" bIns="25400">
            <a:spAutoFit/>
          </a:bodyPr>
          <a:lstStyle/>
          <a:p>
            <a:pPr algn="l">
              <a:lnSpc>
                <a:spcPts val="1176"/>
              </a:lnSpc>
              <a:spcBef>
                <a:spcPts val="0"/>
              </a:spcBef>
              <a:spcAft>
                <a:spcPts val="0"/>
              </a:spcAft>
            </a:pPr>
            <a:r>
              <a:rPr sz="1050" b="0">
                <a:solidFill>
                  <a:srgbClr val="000000"/>
                </a:solidFill>
                <a:latin typeface="Arial Narrow"/>
              </a:rPr>
              <a:t>C. ADDITIONAL HARDWARE/SOFTWARE</a:t>
            </a:r>
          </a:p>
        </p:txBody>
      </p:sp>
      <p:sp>
        <p:nvSpPr>
          <p:cNvPr id="79" name="Rectangle 78"/>
          <p:cNvSpPr/>
          <p:nvPr/>
        </p:nvSpPr>
        <p:spPr>
          <a:xfrm>
            <a:off x="685800" y="59690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Description"/>
          <p:cNvSpPr txBox="1"/>
          <p:nvPr/>
        </p:nvSpPr>
        <p:spPr>
          <a:xfrm>
            <a:off x="685800" y="59690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81" name="Rectangle 80"/>
          <p:cNvSpPr/>
          <p:nvPr/>
        </p:nvSpPr>
        <p:spPr>
          <a:xfrm>
            <a:off x="2006600" y="5969000"/>
            <a:ext cx="889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Unit Cost"/>
          <p:cNvSpPr txBox="1"/>
          <p:nvPr/>
        </p:nvSpPr>
        <p:spPr>
          <a:xfrm>
            <a:off x="2006600" y="5969000"/>
            <a:ext cx="889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Cost</a:t>
            </a:r>
          </a:p>
        </p:txBody>
      </p:sp>
      <p:sp>
        <p:nvSpPr>
          <p:cNvPr id="83" name="Rectangle 82"/>
          <p:cNvSpPr/>
          <p:nvPr/>
        </p:nvSpPr>
        <p:spPr>
          <a:xfrm>
            <a:off x="2895600" y="5969000"/>
            <a:ext cx="635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Sub_Total"/>
          <p:cNvSpPr txBox="1"/>
          <p:nvPr/>
        </p:nvSpPr>
        <p:spPr>
          <a:xfrm>
            <a:off x="2895600" y="5969000"/>
            <a:ext cx="635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Sub_Total</a:t>
            </a:r>
          </a:p>
        </p:txBody>
      </p:sp>
      <p:sp>
        <p:nvSpPr>
          <p:cNvPr id="85" name="Rectangle 84"/>
          <p:cNvSpPr/>
          <p:nvPr/>
        </p:nvSpPr>
        <p:spPr>
          <a:xfrm>
            <a:off x="685800" y="62103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loud Database Setup"/>
          <p:cNvSpPr txBox="1"/>
          <p:nvPr/>
        </p:nvSpPr>
        <p:spPr>
          <a:xfrm>
            <a:off x="685800" y="62103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Cloud Database Setup</a:t>
            </a:r>
          </a:p>
        </p:txBody>
      </p:sp>
      <p:sp>
        <p:nvSpPr>
          <p:cNvPr id="87" name="server_rate"/>
          <p:cNvSpPr/>
          <p:nvPr/>
        </p:nvSpPr>
        <p:spPr>
          <a:xfrm>
            <a:off x="2006600" y="62103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erver_rate"/>
          <p:cNvSpPr txBox="1"/>
          <p:nvPr/>
        </p:nvSpPr>
        <p:spPr>
          <a:xfrm>
            <a:off x="2006600" y="62103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89" name="server_subtotal"/>
          <p:cNvSpPr/>
          <p:nvPr/>
        </p:nvSpPr>
        <p:spPr>
          <a:xfrm>
            <a:off x="2895600" y="62103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server_subtotal"/>
          <p:cNvSpPr txBox="1"/>
          <p:nvPr/>
        </p:nvSpPr>
        <p:spPr>
          <a:xfrm>
            <a:off x="2895600" y="62103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91" name="Rectangle 90"/>
          <p:cNvSpPr/>
          <p:nvPr/>
        </p:nvSpPr>
        <p:spPr>
          <a:xfrm>
            <a:off x="685800" y="64516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External Drive"/>
          <p:cNvSpPr txBox="1"/>
          <p:nvPr/>
        </p:nvSpPr>
        <p:spPr>
          <a:xfrm>
            <a:off x="685800" y="64516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External Drive</a:t>
            </a:r>
          </a:p>
        </p:txBody>
      </p:sp>
      <p:sp>
        <p:nvSpPr>
          <p:cNvPr id="93" name="drive_rate"/>
          <p:cNvSpPr/>
          <p:nvPr/>
        </p:nvSpPr>
        <p:spPr>
          <a:xfrm>
            <a:off x="2006600" y="64516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drive_rate"/>
          <p:cNvSpPr txBox="1"/>
          <p:nvPr/>
        </p:nvSpPr>
        <p:spPr>
          <a:xfrm>
            <a:off x="2006600" y="64516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2,500.00</a:t>
            </a:r>
          </a:p>
        </p:txBody>
      </p:sp>
      <p:sp>
        <p:nvSpPr>
          <p:cNvPr id="95" name="drive_subtotal"/>
          <p:cNvSpPr/>
          <p:nvPr/>
        </p:nvSpPr>
        <p:spPr>
          <a:xfrm>
            <a:off x="2895600" y="64516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drive_subtotal"/>
          <p:cNvSpPr txBox="1"/>
          <p:nvPr/>
        </p:nvSpPr>
        <p:spPr>
          <a:xfrm>
            <a:off x="2895600" y="64516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2,500.00</a:t>
            </a:r>
          </a:p>
        </p:txBody>
      </p:sp>
      <p:sp>
        <p:nvSpPr>
          <p:cNvPr id="97" name="Rectangle 96"/>
          <p:cNvSpPr/>
          <p:nvPr/>
        </p:nvSpPr>
        <p:spPr>
          <a:xfrm>
            <a:off x="685800" y="6692900"/>
            <a:ext cx="13208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pen-source Tools /&#10;Free SSL"/>
          <p:cNvSpPr txBox="1"/>
          <p:nvPr/>
        </p:nvSpPr>
        <p:spPr>
          <a:xfrm>
            <a:off x="685800" y="6692900"/>
            <a:ext cx="1320800" cy="4572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Open-source Tools /</a:t>
            </a:r>
          </a:p>
          <a:p>
            <a:pPr algn="l">
              <a:lnSpc>
                <a:spcPts val="1008"/>
              </a:lnSpc>
              <a:spcBef>
                <a:spcPts val="0"/>
              </a:spcBef>
              <a:spcAft>
                <a:spcPts val="0"/>
              </a:spcAft>
            </a:pPr>
            <a:r>
              <a:rPr sz="900" b="0">
                <a:solidFill>
                  <a:srgbClr val="000000"/>
                </a:solidFill>
                <a:latin typeface="Arial Narrow"/>
              </a:rPr>
              <a:t>Free SSL</a:t>
            </a:r>
          </a:p>
        </p:txBody>
      </p:sp>
      <p:sp>
        <p:nvSpPr>
          <p:cNvPr id="99" name="license_rate"/>
          <p:cNvSpPr/>
          <p:nvPr/>
        </p:nvSpPr>
        <p:spPr>
          <a:xfrm>
            <a:off x="2006600" y="6692900"/>
            <a:ext cx="889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license_rate"/>
          <p:cNvSpPr txBox="1"/>
          <p:nvPr/>
        </p:nvSpPr>
        <p:spPr>
          <a:xfrm>
            <a:off x="2006600" y="6692900"/>
            <a:ext cx="889000" cy="4572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0.00</a:t>
            </a:r>
          </a:p>
        </p:txBody>
      </p:sp>
      <p:sp>
        <p:nvSpPr>
          <p:cNvPr id="101" name="license_subtotal"/>
          <p:cNvSpPr/>
          <p:nvPr/>
        </p:nvSpPr>
        <p:spPr>
          <a:xfrm>
            <a:off x="2895600" y="6692900"/>
            <a:ext cx="635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license_subtotal"/>
          <p:cNvSpPr txBox="1"/>
          <p:nvPr/>
        </p:nvSpPr>
        <p:spPr>
          <a:xfrm>
            <a:off x="2895600" y="6692900"/>
            <a:ext cx="635000" cy="4572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0.00</a:t>
            </a:r>
          </a:p>
        </p:txBody>
      </p:sp>
      <p:sp>
        <p:nvSpPr>
          <p:cNvPr id="103" name="Rectangle 102"/>
          <p:cNvSpPr/>
          <p:nvPr/>
        </p:nvSpPr>
        <p:spPr>
          <a:xfrm>
            <a:off x="685800" y="71501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OTAL"/>
          <p:cNvSpPr txBox="1"/>
          <p:nvPr/>
        </p:nvSpPr>
        <p:spPr>
          <a:xfrm>
            <a:off x="685800" y="71501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05" name="hardware_total"/>
          <p:cNvSpPr/>
          <p:nvPr/>
        </p:nvSpPr>
        <p:spPr>
          <a:xfrm>
            <a:off x="2895600" y="71501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hardware_total"/>
          <p:cNvSpPr txBox="1"/>
          <p:nvPr/>
        </p:nvSpPr>
        <p:spPr>
          <a:xfrm>
            <a:off x="2895600" y="7150100"/>
            <a:ext cx="635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3,500.00</a:t>
            </a:r>
          </a:p>
        </p:txBody>
      </p:sp>
      <p:sp>
        <p:nvSpPr>
          <p:cNvPr id="107" name="Rectangle 106"/>
          <p:cNvSpPr/>
          <p:nvPr/>
        </p:nvSpPr>
        <p:spPr>
          <a:xfrm>
            <a:off x="685800" y="7747000"/>
            <a:ext cx="2844800" cy="5334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otal One Time Cost = Total Development Cost + Total&#10;User Trainin"/>
          <p:cNvSpPr txBox="1"/>
          <p:nvPr/>
        </p:nvSpPr>
        <p:spPr>
          <a:xfrm>
            <a:off x="685800" y="7747000"/>
            <a:ext cx="2844800" cy="533400"/>
          </a:xfrm>
          <a:prstGeom prst="rect">
            <a:avLst/>
          </a:prstGeom>
          <a:noFill/>
        </p:spPr>
        <p:txBody>
          <a:bodyPr wrap="none" anchor="t" lIns="63500" rIns="63500" tIns="63500" bIns="63500">
            <a:spAutoFit/>
          </a:bodyPr>
          <a:lstStyle/>
          <a:p>
            <a:pPr algn="l">
              <a:lnSpc>
                <a:spcPts val="1064"/>
              </a:lnSpc>
              <a:spcBef>
                <a:spcPts val="0"/>
              </a:spcBef>
              <a:spcAft>
                <a:spcPts val="0"/>
              </a:spcAft>
            </a:pPr>
            <a:r>
              <a:rPr sz="950" b="0">
                <a:solidFill>
                  <a:srgbClr val="000000"/>
                </a:solidFill>
                <a:latin typeface="Arial Narrow"/>
              </a:rPr>
              <a:t>Total One Time Cost = Total Development Cost + Total</a:t>
            </a:r>
          </a:p>
          <a:p>
            <a:pPr algn="l">
              <a:lnSpc>
                <a:spcPts val="1064"/>
              </a:lnSpc>
              <a:spcBef>
                <a:spcPts val="0"/>
              </a:spcBef>
              <a:spcAft>
                <a:spcPts val="0"/>
              </a:spcAft>
            </a:pPr>
            <a:r>
              <a:rPr sz="950" b="0">
                <a:solidFill>
                  <a:srgbClr val="000000"/>
                </a:solidFill>
                <a:latin typeface="Arial Narrow"/>
              </a:rPr>
              <a:t>User Training + Total Additional Hardware/Software</a:t>
            </a:r>
          </a:p>
        </p:txBody>
      </p:sp>
      <p:sp>
        <p:nvSpPr>
          <p:cNvPr id="109" name="BREAKDOWN OF ONE TIME COST WORKSHEET"/>
          <p:cNvSpPr txBox="1"/>
          <p:nvPr/>
        </p:nvSpPr>
        <p:spPr>
          <a:xfrm>
            <a:off x="3949700" y="1917700"/>
            <a:ext cx="2895600" cy="368300"/>
          </a:xfrm>
          <a:prstGeom prst="rect">
            <a:avLst/>
          </a:prstGeom>
          <a:noFill/>
        </p:spPr>
        <p:txBody>
          <a:bodyPr wrap="none" anchor="t" lIns="25400" rIns="25400" tIns="25400" bIns="25400">
            <a:spAutoFit/>
          </a:bodyPr>
          <a:lstStyle/>
          <a:p>
            <a:pPr algn="ctr">
              <a:lnSpc>
                <a:spcPts val="1176"/>
              </a:lnSpc>
              <a:spcBef>
                <a:spcPts val="0"/>
              </a:spcBef>
              <a:spcAft>
                <a:spcPts val="0"/>
              </a:spcAft>
            </a:pPr>
            <a:r>
              <a:rPr sz="1050" b="1">
                <a:solidFill>
                  <a:srgbClr val="000000"/>
                </a:solidFill>
                <a:latin typeface="Arial Narrow"/>
              </a:rPr>
              <a:t>BREAKDOWN OF ONE TIME COST WORKSHEET</a:t>
            </a:r>
          </a:p>
        </p:txBody>
      </p:sp>
      <p:sp>
        <p:nvSpPr>
          <p:cNvPr id="110" name="Rectangle 109"/>
          <p:cNvSpPr/>
          <p:nvPr/>
        </p:nvSpPr>
        <p:spPr>
          <a:xfrm>
            <a:off x="3949700" y="2425700"/>
            <a:ext cx="2120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 Development Cost"/>
          <p:cNvSpPr txBox="1"/>
          <p:nvPr/>
        </p:nvSpPr>
        <p:spPr>
          <a:xfrm>
            <a:off x="3949700" y="2425700"/>
            <a:ext cx="2120900" cy="2413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0">
                <a:solidFill>
                  <a:srgbClr val="000000"/>
                </a:solidFill>
                <a:latin typeface="Arial Narrow"/>
              </a:rPr>
              <a:t>A. Development Cost</a:t>
            </a:r>
          </a:p>
        </p:txBody>
      </p:sp>
      <p:sp>
        <p:nvSpPr>
          <p:cNvPr id="112" name="summary_development_total"/>
          <p:cNvSpPr/>
          <p:nvPr/>
        </p:nvSpPr>
        <p:spPr>
          <a:xfrm>
            <a:off x="6070600" y="24257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summary_development_total"/>
          <p:cNvSpPr txBox="1"/>
          <p:nvPr/>
        </p:nvSpPr>
        <p:spPr>
          <a:xfrm>
            <a:off x="6070600" y="2425700"/>
            <a:ext cx="774700" cy="241300"/>
          </a:xfrm>
          <a:prstGeom prst="rect">
            <a:avLst/>
          </a:prstGeom>
          <a:noFill/>
        </p:spPr>
        <p:txBody>
          <a:bodyPr wrap="none" anchor="t" lIns="25400" rIns="25400" tIns="25400" bIns="25400">
            <a:spAutoFit/>
          </a:bodyPr>
          <a:lstStyle/>
          <a:p>
            <a:pPr algn="r">
              <a:lnSpc>
                <a:spcPts val="1041"/>
              </a:lnSpc>
              <a:spcBef>
                <a:spcPts val="0"/>
              </a:spcBef>
              <a:spcAft>
                <a:spcPts val="0"/>
              </a:spcAft>
            </a:pPr>
            <a:r>
              <a:rPr sz="930" b="0">
                <a:solidFill>
                  <a:srgbClr val="000000"/>
                </a:solidFill>
                <a:latin typeface="Arial Narrow"/>
              </a:rPr>
              <a:t>107,000.00</a:t>
            </a:r>
          </a:p>
        </p:txBody>
      </p:sp>
      <p:sp>
        <p:nvSpPr>
          <p:cNvPr id="114" name="Rectangle 113"/>
          <p:cNvSpPr/>
          <p:nvPr/>
        </p:nvSpPr>
        <p:spPr>
          <a:xfrm>
            <a:off x="3949700" y="2667000"/>
            <a:ext cx="2120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B. User Training"/>
          <p:cNvSpPr txBox="1"/>
          <p:nvPr/>
        </p:nvSpPr>
        <p:spPr>
          <a:xfrm>
            <a:off x="3949700" y="2667000"/>
            <a:ext cx="2120900" cy="2413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0">
                <a:solidFill>
                  <a:srgbClr val="000000"/>
                </a:solidFill>
                <a:latin typeface="Arial Narrow"/>
              </a:rPr>
              <a:t>B. User Training</a:t>
            </a:r>
          </a:p>
        </p:txBody>
      </p:sp>
      <p:sp>
        <p:nvSpPr>
          <p:cNvPr id="116" name="summary_training_total"/>
          <p:cNvSpPr/>
          <p:nvPr/>
        </p:nvSpPr>
        <p:spPr>
          <a:xfrm>
            <a:off x="6070600" y="2667000"/>
            <a:ext cx="7747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summary_training_total"/>
          <p:cNvSpPr txBox="1"/>
          <p:nvPr/>
        </p:nvSpPr>
        <p:spPr>
          <a:xfrm>
            <a:off x="6070600" y="2667000"/>
            <a:ext cx="774700" cy="241300"/>
          </a:xfrm>
          <a:prstGeom prst="rect">
            <a:avLst/>
          </a:prstGeom>
          <a:noFill/>
        </p:spPr>
        <p:txBody>
          <a:bodyPr wrap="none" anchor="t" lIns="25400" rIns="25400" tIns="25400" bIns="25400">
            <a:spAutoFit/>
          </a:bodyPr>
          <a:lstStyle/>
          <a:p>
            <a:pPr algn="r">
              <a:lnSpc>
                <a:spcPts val="1041"/>
              </a:lnSpc>
              <a:spcBef>
                <a:spcPts val="0"/>
              </a:spcBef>
              <a:spcAft>
                <a:spcPts val="0"/>
              </a:spcAft>
            </a:pPr>
            <a:r>
              <a:rPr sz="930" b="0">
                <a:solidFill>
                  <a:srgbClr val="000000"/>
                </a:solidFill>
                <a:latin typeface="Arial Narrow"/>
              </a:rPr>
              <a:t>4,000.00</a:t>
            </a:r>
          </a:p>
        </p:txBody>
      </p:sp>
      <p:sp>
        <p:nvSpPr>
          <p:cNvPr id="118" name="Rectangle 117"/>
          <p:cNvSpPr/>
          <p:nvPr/>
        </p:nvSpPr>
        <p:spPr>
          <a:xfrm>
            <a:off x="3949700" y="2908300"/>
            <a:ext cx="2120900" cy="4318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C. Additional&#10;    Hardware/Software"/>
          <p:cNvSpPr txBox="1"/>
          <p:nvPr/>
        </p:nvSpPr>
        <p:spPr>
          <a:xfrm>
            <a:off x="3949700" y="2908300"/>
            <a:ext cx="2120900" cy="4318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0">
                <a:solidFill>
                  <a:srgbClr val="000000"/>
                </a:solidFill>
                <a:latin typeface="Arial Narrow"/>
              </a:rPr>
              <a:t>C. Additional</a:t>
            </a:r>
          </a:p>
          <a:p>
            <a:pPr algn="l">
              <a:lnSpc>
                <a:spcPts val="1041"/>
              </a:lnSpc>
              <a:spcBef>
                <a:spcPts val="0"/>
              </a:spcBef>
              <a:spcAft>
                <a:spcPts val="0"/>
              </a:spcAft>
            </a:pPr>
            <a:r>
              <a:rPr sz="930" b="0">
                <a:solidFill>
                  <a:srgbClr val="000000"/>
                </a:solidFill>
                <a:latin typeface="Arial Narrow"/>
              </a:rPr>
              <a:t>Hardware/Software</a:t>
            </a:r>
          </a:p>
        </p:txBody>
      </p:sp>
      <p:sp>
        <p:nvSpPr>
          <p:cNvPr id="120" name="summary_hardware_total"/>
          <p:cNvSpPr/>
          <p:nvPr/>
        </p:nvSpPr>
        <p:spPr>
          <a:xfrm>
            <a:off x="6070600" y="2908300"/>
            <a:ext cx="774700" cy="4318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summary_hardware_total"/>
          <p:cNvSpPr txBox="1"/>
          <p:nvPr/>
        </p:nvSpPr>
        <p:spPr>
          <a:xfrm>
            <a:off x="6070600" y="2908300"/>
            <a:ext cx="774700" cy="431800"/>
          </a:xfrm>
          <a:prstGeom prst="rect">
            <a:avLst/>
          </a:prstGeom>
          <a:noFill/>
        </p:spPr>
        <p:txBody>
          <a:bodyPr wrap="none" anchor="t" lIns="25400" rIns="25400" tIns="25400" bIns="25400">
            <a:spAutoFit/>
          </a:bodyPr>
          <a:lstStyle/>
          <a:p>
            <a:pPr algn="r">
              <a:lnSpc>
                <a:spcPts val="1041"/>
              </a:lnSpc>
              <a:spcBef>
                <a:spcPts val="0"/>
              </a:spcBef>
              <a:spcAft>
                <a:spcPts val="0"/>
              </a:spcAft>
            </a:pPr>
            <a:r>
              <a:rPr sz="930" b="0">
                <a:solidFill>
                  <a:srgbClr val="000000"/>
                </a:solidFill>
                <a:latin typeface="Arial Narrow"/>
              </a:rPr>
              <a:t>3,500.00</a:t>
            </a:r>
          </a:p>
        </p:txBody>
      </p:sp>
      <p:sp>
        <p:nvSpPr>
          <p:cNvPr id="122" name="Rectangle 121"/>
          <p:cNvSpPr/>
          <p:nvPr/>
        </p:nvSpPr>
        <p:spPr>
          <a:xfrm>
            <a:off x="3949700" y="3340100"/>
            <a:ext cx="2120900" cy="2667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OTAL ONE TIME COST"/>
          <p:cNvSpPr txBox="1"/>
          <p:nvPr/>
        </p:nvSpPr>
        <p:spPr>
          <a:xfrm>
            <a:off x="3949700" y="3340100"/>
            <a:ext cx="2120900" cy="2667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1">
                <a:solidFill>
                  <a:srgbClr val="000000"/>
                </a:solidFill>
                <a:latin typeface="Arial Narrow"/>
              </a:rPr>
              <a:t>TOTAL ONE TIME COST</a:t>
            </a:r>
          </a:p>
        </p:txBody>
      </p:sp>
      <p:sp>
        <p:nvSpPr>
          <p:cNvPr id="124" name="one_time_total"/>
          <p:cNvSpPr/>
          <p:nvPr/>
        </p:nvSpPr>
        <p:spPr>
          <a:xfrm>
            <a:off x="6070600" y="3340100"/>
            <a:ext cx="774700" cy="2667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ne_time_total"/>
          <p:cNvSpPr txBox="1"/>
          <p:nvPr/>
        </p:nvSpPr>
        <p:spPr>
          <a:xfrm>
            <a:off x="6070600" y="3340100"/>
            <a:ext cx="774700" cy="266700"/>
          </a:xfrm>
          <a:prstGeom prst="rect">
            <a:avLst/>
          </a:prstGeom>
          <a:noFill/>
        </p:spPr>
        <p:txBody>
          <a:bodyPr wrap="none" anchor="t" lIns="25400" rIns="25400" tIns="25400" bIns="25400">
            <a:spAutoFit/>
          </a:bodyPr>
          <a:lstStyle/>
          <a:p>
            <a:pPr algn="r">
              <a:lnSpc>
                <a:spcPts val="1041"/>
              </a:lnSpc>
              <a:spcBef>
                <a:spcPts val="0"/>
              </a:spcBef>
              <a:spcAft>
                <a:spcPts val="0"/>
              </a:spcAft>
            </a:pPr>
            <a:r>
              <a:rPr sz="930" b="1">
                <a:solidFill>
                  <a:srgbClr val="000000"/>
                </a:solidFill>
                <a:latin typeface="Arial Narrow"/>
              </a:rPr>
              <a:t>114,500.00</a:t>
            </a:r>
          </a:p>
        </p:txBody>
      </p:sp>
      <p:sp>
        <p:nvSpPr>
          <p:cNvPr id="126" name="Rectangle 125"/>
          <p:cNvSpPr/>
          <p:nvPr/>
        </p:nvSpPr>
        <p:spPr>
          <a:xfrm>
            <a:off x="3949700" y="3606800"/>
            <a:ext cx="2895600" cy="5588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otal One Time Cost = Total Development Cost + Total&#10;User Trainin"/>
          <p:cNvSpPr txBox="1"/>
          <p:nvPr/>
        </p:nvSpPr>
        <p:spPr>
          <a:xfrm>
            <a:off x="3949700" y="3606800"/>
            <a:ext cx="2895600" cy="558800"/>
          </a:xfrm>
          <a:prstGeom prst="rect">
            <a:avLst/>
          </a:prstGeom>
          <a:noFill/>
        </p:spPr>
        <p:txBody>
          <a:bodyPr wrap="none" anchor="t" lIns="50800" rIns="50800" tIns="50800" bIns="50800">
            <a:spAutoFit/>
          </a:bodyPr>
          <a:lstStyle/>
          <a:p>
            <a:pPr algn="l">
              <a:lnSpc>
                <a:spcPts val="1030"/>
              </a:lnSpc>
              <a:spcBef>
                <a:spcPts val="0"/>
              </a:spcBef>
              <a:spcAft>
                <a:spcPts val="0"/>
              </a:spcAft>
            </a:pPr>
            <a:r>
              <a:rPr sz="919" b="0">
                <a:solidFill>
                  <a:srgbClr val="000000"/>
                </a:solidFill>
                <a:latin typeface="Arial Narrow"/>
              </a:rPr>
              <a:t>Total One Time Cost = Total Development Cost + Total</a:t>
            </a:r>
          </a:p>
          <a:p>
            <a:pPr algn="l">
              <a:lnSpc>
                <a:spcPts val="1030"/>
              </a:lnSpc>
              <a:spcBef>
                <a:spcPts val="0"/>
              </a:spcBef>
              <a:spcAft>
                <a:spcPts val="0"/>
              </a:spcAft>
            </a:pPr>
            <a:r>
              <a:rPr sz="919" b="0">
                <a:solidFill>
                  <a:srgbClr val="000000"/>
                </a:solidFill>
                <a:latin typeface="Arial Narrow"/>
              </a:rPr>
              <a:t>User Training + Total Additional Hardware/Software</a:t>
            </a:r>
          </a:p>
        </p:txBody>
      </p:sp>
      <p:sp>
        <p:nvSpPr>
          <p:cNvPr id="128" name="RECURRING COST"/>
          <p:cNvSpPr txBox="1"/>
          <p:nvPr/>
        </p:nvSpPr>
        <p:spPr>
          <a:xfrm>
            <a:off x="3949700" y="4940300"/>
            <a:ext cx="2895600" cy="254000"/>
          </a:xfrm>
          <a:prstGeom prst="rect">
            <a:avLst/>
          </a:prstGeom>
          <a:noFill/>
        </p:spPr>
        <p:txBody>
          <a:bodyPr wrap="none" anchor="t" lIns="25400" rIns="25400" tIns="25400" bIns="25400">
            <a:spAutoFit/>
          </a:bodyPr>
          <a:lstStyle/>
          <a:p>
            <a:pPr algn="l">
              <a:lnSpc>
                <a:spcPts val="1232"/>
              </a:lnSpc>
              <a:spcBef>
                <a:spcPts val="0"/>
              </a:spcBef>
              <a:spcAft>
                <a:spcPts val="0"/>
              </a:spcAft>
            </a:pPr>
            <a:r>
              <a:rPr sz="1100" b="1">
                <a:solidFill>
                  <a:srgbClr val="000000"/>
                </a:solidFill>
                <a:latin typeface="Arial Narrow"/>
              </a:rPr>
              <a:t>RECURRING COST</a:t>
            </a:r>
          </a:p>
        </p:txBody>
      </p:sp>
      <p:sp>
        <p:nvSpPr>
          <p:cNvPr id="129" name="All financial figures are planning estimates in PHP, not actual c"/>
          <p:cNvSpPr txBox="1"/>
          <p:nvPr/>
        </p:nvSpPr>
        <p:spPr>
          <a:xfrm>
            <a:off x="558800" y="8674100"/>
            <a:ext cx="6438900" cy="393700"/>
          </a:xfrm>
          <a:prstGeom prst="rect">
            <a:avLst/>
          </a:prstGeom>
          <a:noFill/>
        </p:spPr>
        <p:txBody>
          <a:bodyPr wrap="none" anchor="t" lIns="25400" rIns="25400" tIns="25400" bIns="25400">
            <a:spAutoFit/>
          </a:bodyPr>
          <a:lstStyle/>
          <a:p>
            <a:pPr algn="l">
              <a:lnSpc>
                <a:spcPts val="1064"/>
              </a:lnSpc>
              <a:spcBef>
                <a:spcPts val="0"/>
              </a:spcBef>
              <a:spcAft>
                <a:spcPts val="0"/>
              </a:spcAft>
            </a:pPr>
            <a:r>
              <a:rPr sz="950" b="0">
                <a:solidFill>
                  <a:srgbClr val="000000"/>
                </a:solidFill>
                <a:latin typeface="Arial Narrow"/>
              </a:rPr>
              <a:t>All financial figures are planning estimates in PHP, not actual company expenses. Maintenance, hosting and communication rates are monthly;</a:t>
            </a:r>
          </a:p>
          <a:p>
            <a:pPr algn="l">
              <a:lnSpc>
                <a:spcPts val="1064"/>
              </a:lnSpc>
              <a:spcBef>
                <a:spcPts val="0"/>
              </a:spcBef>
              <a:spcAft>
                <a:spcPts val="0"/>
              </a:spcAft>
            </a:pPr>
            <a:r>
              <a:rPr sz="950" b="0">
                <a:solidFill>
                  <a:srgbClr val="000000"/>
                </a:solidFill>
                <a:latin typeface="Arial Narrow"/>
              </a:rPr>
              <a:t>renewals are annual. Free or bundled items are explicitly shown as 0.00. See Planning Basis for assumptions and sources.</a:t>
            </a:r>
          </a:p>
        </p:txBody>
      </p:sp>
      <p:sp>
        <p:nvSpPr>
          <p:cNvPr id="130" name="Rectangle 129"/>
          <p:cNvSpPr/>
          <p:nvPr/>
        </p:nvSpPr>
        <p:spPr>
          <a:xfrm>
            <a:off x="3949700" y="5207000"/>
            <a:ext cx="14859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Description"/>
          <p:cNvSpPr txBox="1"/>
          <p:nvPr/>
        </p:nvSpPr>
        <p:spPr>
          <a:xfrm>
            <a:off x="3949700" y="5207000"/>
            <a:ext cx="1485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132" name="Rectangle 131"/>
          <p:cNvSpPr/>
          <p:nvPr/>
        </p:nvSpPr>
        <p:spPr>
          <a:xfrm>
            <a:off x="5435600" y="5207000"/>
            <a:ext cx="7366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ate (PHP)"/>
          <p:cNvSpPr txBox="1"/>
          <p:nvPr/>
        </p:nvSpPr>
        <p:spPr>
          <a:xfrm>
            <a:off x="5435600" y="5207000"/>
            <a:ext cx="7366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Rate (PHP)</a:t>
            </a:r>
          </a:p>
        </p:txBody>
      </p:sp>
      <p:sp>
        <p:nvSpPr>
          <p:cNvPr id="134" name="Rectangle 133"/>
          <p:cNvSpPr/>
          <p:nvPr/>
        </p:nvSpPr>
        <p:spPr>
          <a:xfrm>
            <a:off x="6172200" y="5207000"/>
            <a:ext cx="6731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nnually"/>
          <p:cNvSpPr txBox="1"/>
          <p:nvPr/>
        </p:nvSpPr>
        <p:spPr>
          <a:xfrm>
            <a:off x="6172200" y="5207000"/>
            <a:ext cx="6731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Annually</a:t>
            </a:r>
          </a:p>
        </p:txBody>
      </p:sp>
      <p:sp>
        <p:nvSpPr>
          <p:cNvPr id="136" name="Rectangle 135"/>
          <p:cNvSpPr/>
          <p:nvPr/>
        </p:nvSpPr>
        <p:spPr>
          <a:xfrm>
            <a:off x="3949700" y="54483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Software Maintenance"/>
          <p:cNvSpPr txBox="1"/>
          <p:nvPr/>
        </p:nvSpPr>
        <p:spPr>
          <a:xfrm>
            <a:off x="3949700" y="54483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Software Maintenance</a:t>
            </a:r>
          </a:p>
        </p:txBody>
      </p:sp>
      <p:sp>
        <p:nvSpPr>
          <p:cNvPr id="138" name="maintenance_rate"/>
          <p:cNvSpPr/>
          <p:nvPr/>
        </p:nvSpPr>
        <p:spPr>
          <a:xfrm>
            <a:off x="5435600" y="54483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maintenance_rate"/>
          <p:cNvSpPr txBox="1"/>
          <p:nvPr/>
        </p:nvSpPr>
        <p:spPr>
          <a:xfrm>
            <a:off x="5435600" y="54483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750.00</a:t>
            </a:r>
          </a:p>
        </p:txBody>
      </p:sp>
      <p:sp>
        <p:nvSpPr>
          <p:cNvPr id="140" name="maintenance_annual"/>
          <p:cNvSpPr/>
          <p:nvPr/>
        </p:nvSpPr>
        <p:spPr>
          <a:xfrm>
            <a:off x="6172200" y="54483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maintenance_annual"/>
          <p:cNvSpPr txBox="1"/>
          <p:nvPr/>
        </p:nvSpPr>
        <p:spPr>
          <a:xfrm>
            <a:off x="6172200" y="54483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9,000.00</a:t>
            </a:r>
          </a:p>
        </p:txBody>
      </p:sp>
      <p:sp>
        <p:nvSpPr>
          <p:cNvPr id="142" name="Rectangle 141"/>
          <p:cNvSpPr/>
          <p:nvPr/>
        </p:nvSpPr>
        <p:spPr>
          <a:xfrm>
            <a:off x="3949700" y="56896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loud Database + Storage"/>
          <p:cNvSpPr txBox="1"/>
          <p:nvPr/>
        </p:nvSpPr>
        <p:spPr>
          <a:xfrm>
            <a:off x="3949700" y="56896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Cloud Database + Storage</a:t>
            </a:r>
          </a:p>
        </p:txBody>
      </p:sp>
      <p:sp>
        <p:nvSpPr>
          <p:cNvPr id="144" name="database_rate"/>
          <p:cNvSpPr/>
          <p:nvPr/>
        </p:nvSpPr>
        <p:spPr>
          <a:xfrm>
            <a:off x="5435600" y="56896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database_rate"/>
          <p:cNvSpPr txBox="1"/>
          <p:nvPr/>
        </p:nvSpPr>
        <p:spPr>
          <a:xfrm>
            <a:off x="5435600" y="56896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1,625.00</a:t>
            </a:r>
          </a:p>
        </p:txBody>
      </p:sp>
      <p:sp>
        <p:nvSpPr>
          <p:cNvPr id="146" name="database_annual"/>
          <p:cNvSpPr/>
          <p:nvPr/>
        </p:nvSpPr>
        <p:spPr>
          <a:xfrm>
            <a:off x="6172200" y="56896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database_annual"/>
          <p:cNvSpPr txBox="1"/>
          <p:nvPr/>
        </p:nvSpPr>
        <p:spPr>
          <a:xfrm>
            <a:off x="6172200" y="56896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19,500.00</a:t>
            </a:r>
          </a:p>
        </p:txBody>
      </p:sp>
      <p:sp>
        <p:nvSpPr>
          <p:cNvPr id="148" name="Rectangle 147"/>
          <p:cNvSpPr/>
          <p:nvPr/>
        </p:nvSpPr>
        <p:spPr>
          <a:xfrm>
            <a:off x="3949700" y="59309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Static Frontend Hosting"/>
          <p:cNvSpPr txBox="1"/>
          <p:nvPr/>
        </p:nvSpPr>
        <p:spPr>
          <a:xfrm>
            <a:off x="3949700" y="59309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Static Frontend Hosting</a:t>
            </a:r>
          </a:p>
        </p:txBody>
      </p:sp>
      <p:sp>
        <p:nvSpPr>
          <p:cNvPr id="150" name="frontend_rate"/>
          <p:cNvSpPr/>
          <p:nvPr/>
        </p:nvSpPr>
        <p:spPr>
          <a:xfrm>
            <a:off x="5435600" y="59309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frontend_rate"/>
          <p:cNvSpPr txBox="1"/>
          <p:nvPr/>
        </p:nvSpPr>
        <p:spPr>
          <a:xfrm>
            <a:off x="5435600" y="59309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152" name="frontend_annual"/>
          <p:cNvSpPr/>
          <p:nvPr/>
        </p:nvSpPr>
        <p:spPr>
          <a:xfrm>
            <a:off x="6172200" y="59309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frontend_annual"/>
          <p:cNvSpPr txBox="1"/>
          <p:nvPr/>
        </p:nvSpPr>
        <p:spPr>
          <a:xfrm>
            <a:off x="6172200" y="59309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154" name="Rectangle 153"/>
          <p:cNvSpPr/>
          <p:nvPr/>
        </p:nvSpPr>
        <p:spPr>
          <a:xfrm>
            <a:off x="3949700" y="61722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Incremental Communication"/>
          <p:cNvSpPr txBox="1"/>
          <p:nvPr/>
        </p:nvSpPr>
        <p:spPr>
          <a:xfrm>
            <a:off x="3949700" y="61722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Incremental Communication</a:t>
            </a:r>
          </a:p>
        </p:txBody>
      </p:sp>
      <p:sp>
        <p:nvSpPr>
          <p:cNvPr id="156" name="communication_rate"/>
          <p:cNvSpPr/>
          <p:nvPr/>
        </p:nvSpPr>
        <p:spPr>
          <a:xfrm>
            <a:off x="5435600" y="61722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communication_rate"/>
          <p:cNvSpPr txBox="1"/>
          <p:nvPr/>
        </p:nvSpPr>
        <p:spPr>
          <a:xfrm>
            <a:off x="5435600" y="61722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200.00</a:t>
            </a:r>
          </a:p>
        </p:txBody>
      </p:sp>
      <p:sp>
        <p:nvSpPr>
          <p:cNvPr id="158" name="communication_annual"/>
          <p:cNvSpPr/>
          <p:nvPr/>
        </p:nvSpPr>
        <p:spPr>
          <a:xfrm>
            <a:off x="6172200" y="61722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communication_annual"/>
          <p:cNvSpPr txBox="1"/>
          <p:nvPr/>
        </p:nvSpPr>
        <p:spPr>
          <a:xfrm>
            <a:off x="6172200" y="61722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2,400.00</a:t>
            </a:r>
          </a:p>
        </p:txBody>
      </p:sp>
      <p:sp>
        <p:nvSpPr>
          <p:cNvPr id="160" name="Rectangle 159"/>
          <p:cNvSpPr/>
          <p:nvPr/>
        </p:nvSpPr>
        <p:spPr>
          <a:xfrm>
            <a:off x="3949700" y="64135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Domain Renewal (year)"/>
          <p:cNvSpPr txBox="1"/>
          <p:nvPr/>
        </p:nvSpPr>
        <p:spPr>
          <a:xfrm>
            <a:off x="3949700" y="64135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Domain Renewal (year)</a:t>
            </a:r>
          </a:p>
        </p:txBody>
      </p:sp>
      <p:sp>
        <p:nvSpPr>
          <p:cNvPr id="162" name="domain_rate"/>
          <p:cNvSpPr/>
          <p:nvPr/>
        </p:nvSpPr>
        <p:spPr>
          <a:xfrm>
            <a:off x="5435600" y="64135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domain_rate"/>
          <p:cNvSpPr txBox="1"/>
          <p:nvPr/>
        </p:nvSpPr>
        <p:spPr>
          <a:xfrm>
            <a:off x="5435600" y="64135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a:t>
            </a:r>
          </a:p>
        </p:txBody>
      </p:sp>
      <p:sp>
        <p:nvSpPr>
          <p:cNvPr id="164" name="domain_annual"/>
          <p:cNvSpPr/>
          <p:nvPr/>
        </p:nvSpPr>
        <p:spPr>
          <a:xfrm>
            <a:off x="6172200" y="64135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domain_annual"/>
          <p:cNvSpPr txBox="1"/>
          <p:nvPr/>
        </p:nvSpPr>
        <p:spPr>
          <a:xfrm>
            <a:off x="6172200" y="64135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a:t>
            </a:r>
          </a:p>
        </p:txBody>
      </p:sp>
      <p:sp>
        <p:nvSpPr>
          <p:cNvPr id="166" name="Rectangle 165"/>
          <p:cNvSpPr/>
          <p:nvPr/>
        </p:nvSpPr>
        <p:spPr>
          <a:xfrm>
            <a:off x="3949700" y="66548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Software License Renewal"/>
          <p:cNvSpPr txBox="1"/>
          <p:nvPr/>
        </p:nvSpPr>
        <p:spPr>
          <a:xfrm>
            <a:off x="3949700" y="66548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Software License Renewal</a:t>
            </a:r>
          </a:p>
        </p:txBody>
      </p:sp>
      <p:sp>
        <p:nvSpPr>
          <p:cNvPr id="168" name="renewal_rate"/>
          <p:cNvSpPr/>
          <p:nvPr/>
        </p:nvSpPr>
        <p:spPr>
          <a:xfrm>
            <a:off x="5435600" y="66548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newal_rate"/>
          <p:cNvSpPr txBox="1"/>
          <p:nvPr/>
        </p:nvSpPr>
        <p:spPr>
          <a:xfrm>
            <a:off x="5435600" y="66548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170" name="renewal_annual"/>
          <p:cNvSpPr/>
          <p:nvPr/>
        </p:nvSpPr>
        <p:spPr>
          <a:xfrm>
            <a:off x="6172200" y="66548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newal_annual"/>
          <p:cNvSpPr txBox="1"/>
          <p:nvPr/>
        </p:nvSpPr>
        <p:spPr>
          <a:xfrm>
            <a:off x="6172200" y="66548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172" name="Rectangle 171"/>
          <p:cNvSpPr/>
          <p:nvPr/>
        </p:nvSpPr>
        <p:spPr>
          <a:xfrm>
            <a:off x="3949700" y="6896100"/>
            <a:ext cx="2222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OTAL"/>
          <p:cNvSpPr txBox="1"/>
          <p:nvPr/>
        </p:nvSpPr>
        <p:spPr>
          <a:xfrm>
            <a:off x="3949700" y="6896100"/>
            <a:ext cx="2222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74" name="recurring_total"/>
          <p:cNvSpPr/>
          <p:nvPr/>
        </p:nvSpPr>
        <p:spPr>
          <a:xfrm>
            <a:off x="6172200" y="6896100"/>
            <a:ext cx="6731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urring_total"/>
          <p:cNvSpPr txBox="1"/>
          <p:nvPr/>
        </p:nvSpPr>
        <p:spPr>
          <a:xfrm>
            <a:off x="6172200" y="6896100"/>
            <a:ext cx="6731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31,800.00</a:t>
            </a:r>
          </a:p>
        </p:txBody>
      </p:sp>
      <p:sp>
        <p:nvSpPr>
          <p:cNvPr id="176" name="PHP&#10;EST."/>
          <p:cNvSpPr txBox="1"/>
          <p:nvPr/>
        </p:nvSpPr>
        <p:spPr>
          <a:xfrm>
            <a:off x="6172200" y="7645400"/>
            <a:ext cx="647700" cy="355600"/>
          </a:xfrm>
          <a:prstGeom prst="rect">
            <a:avLst/>
          </a:prstGeom>
          <a:noFill/>
        </p:spPr>
        <p:txBody>
          <a:bodyPr wrap="none" anchor="t" lIns="0" rIns="0" tIns="0" bIns="0">
            <a:spAutoFit/>
          </a:bodyPr>
          <a:lstStyle/>
          <a:p>
            <a:pPr algn="ctr">
              <a:lnSpc>
                <a:spcPts val="1120"/>
              </a:lnSpc>
              <a:spcBef>
                <a:spcPts val="0"/>
              </a:spcBef>
              <a:spcAft>
                <a:spcPts val="0"/>
              </a:spcAft>
            </a:pPr>
            <a:r>
              <a:rPr sz="1000" b="1">
                <a:solidFill>
                  <a:srgbClr val="000000"/>
                </a:solidFill>
                <a:latin typeface="Arial Narrow"/>
              </a:rPr>
              <a:t>PHP</a:t>
            </a:r>
          </a:p>
          <a:p>
            <a:pPr algn="ctr">
              <a:lnSpc>
                <a:spcPts val="1120"/>
              </a:lnSpc>
              <a:spcBef>
                <a:spcPts val="0"/>
              </a:spcBef>
              <a:spcAft>
                <a:spcPts val="0"/>
              </a:spcAft>
            </a:pPr>
            <a:r>
              <a:rPr sz="1000" b="1">
                <a:solidFill>
                  <a:srgbClr val="000000"/>
                </a:solidFill>
                <a:latin typeface="Arial Narrow"/>
              </a:rPr>
              <a: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016000"/>
            <a:ext cx="6438900" cy="381000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159500" y="4038600"/>
            <a:ext cx="673100" cy="457200"/>
          </a:xfrm>
          <a:prstGeom prst="rect">
            <a:avLst/>
          </a:pr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8800" y="558800"/>
            <a:ext cx="6438900" cy="228600"/>
          </a:xfrm>
          <a:prstGeom prst="rect">
            <a:avLst/>
          </a:prstGeom>
          <a:solidFill>
            <a:srgbClr val="6A1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NIT 2: Systems Planning | PLANNING ESTIMATES (PHP)"/>
          <p:cNvSpPr txBox="1"/>
          <p:nvPr/>
        </p:nvSpPr>
        <p:spPr>
          <a:xfrm>
            <a:off x="558800" y="558800"/>
            <a:ext cx="6438900" cy="228600"/>
          </a:xfrm>
          <a:prstGeom prst="rect">
            <a:avLst/>
          </a:prstGeom>
          <a:noFill/>
        </p:spPr>
        <p:txBody>
          <a:bodyPr wrap="none" anchor="t" lIns="39369" rIns="39369" tIns="39369" bIns="39369">
            <a:spAutoFit/>
          </a:bodyPr>
          <a:lstStyle/>
          <a:p>
            <a:pPr algn="l">
              <a:lnSpc>
                <a:spcPts val="1120"/>
              </a:lnSpc>
              <a:spcBef>
                <a:spcPts val="0"/>
              </a:spcBef>
              <a:spcAft>
                <a:spcPts val="0"/>
              </a:spcAft>
            </a:pPr>
            <a:r>
              <a:rPr sz="1000" b="1">
                <a:solidFill>
                  <a:srgbClr val="FFFFFF"/>
                </a:solidFill>
                <a:latin typeface="Arial Narrow"/>
              </a:rPr>
              <a:t>UNIT 2: Systems Planning | PLANNING ESTIMATES (PHP)</a:t>
            </a:r>
          </a:p>
        </p:txBody>
      </p:sp>
      <p:sp>
        <p:nvSpPr>
          <p:cNvPr id="6" name="IT303: SYSTEMS ANALYSIS AND DESIGN"/>
          <p:cNvSpPr txBox="1"/>
          <p:nvPr/>
        </p:nvSpPr>
        <p:spPr>
          <a:xfrm>
            <a:off x="558800" y="10172700"/>
            <a:ext cx="57785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IT303: SYSTEMS ANALYSIS AND DESIGN</a:t>
            </a:r>
          </a:p>
        </p:txBody>
      </p:sp>
      <p:sp>
        <p:nvSpPr>
          <p:cNvPr id="7" name="2"/>
          <p:cNvSpPr txBox="1"/>
          <p:nvPr/>
        </p:nvSpPr>
        <p:spPr>
          <a:xfrm>
            <a:off x="64389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2</a:t>
            </a:r>
          </a:p>
        </p:txBody>
      </p:sp>
      <p:sp>
        <p:nvSpPr>
          <p:cNvPr id="8" name="Rectangle 7"/>
          <p:cNvSpPr/>
          <p:nvPr/>
        </p:nvSpPr>
        <p:spPr>
          <a:xfrm>
            <a:off x="685800" y="10160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raining Kit"/>
          <p:cNvSpPr txBox="1"/>
          <p:nvPr/>
        </p:nvSpPr>
        <p:spPr>
          <a:xfrm>
            <a:off x="685800" y="10160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Training Kit</a:t>
            </a:r>
          </a:p>
        </p:txBody>
      </p:sp>
      <p:sp>
        <p:nvSpPr>
          <p:cNvPr id="10" name="copy_training_kit"/>
          <p:cNvSpPr/>
          <p:nvPr/>
        </p:nvSpPr>
        <p:spPr>
          <a:xfrm>
            <a:off x="2006600" y="10160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py_training_kit"/>
          <p:cNvSpPr txBox="1"/>
          <p:nvPr/>
        </p:nvSpPr>
        <p:spPr>
          <a:xfrm>
            <a:off x="2006600" y="10160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12" name="copy_training_kit_subtotal"/>
          <p:cNvSpPr/>
          <p:nvPr/>
        </p:nvSpPr>
        <p:spPr>
          <a:xfrm>
            <a:off x="2895600" y="10160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opy_training_kit_subtotal"/>
          <p:cNvSpPr txBox="1"/>
          <p:nvPr/>
        </p:nvSpPr>
        <p:spPr>
          <a:xfrm>
            <a:off x="2895600" y="10160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14" name="Rectangle 13"/>
          <p:cNvSpPr/>
          <p:nvPr/>
        </p:nvSpPr>
        <p:spPr>
          <a:xfrm>
            <a:off x="685800" y="12573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OTAL"/>
          <p:cNvSpPr txBox="1"/>
          <p:nvPr/>
        </p:nvSpPr>
        <p:spPr>
          <a:xfrm>
            <a:off x="685800" y="12573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6" name="copy_training_total"/>
          <p:cNvSpPr/>
          <p:nvPr/>
        </p:nvSpPr>
        <p:spPr>
          <a:xfrm>
            <a:off x="2895600" y="12573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opy_training_total"/>
          <p:cNvSpPr txBox="1"/>
          <p:nvPr/>
        </p:nvSpPr>
        <p:spPr>
          <a:xfrm>
            <a:off x="2895600" y="1257300"/>
            <a:ext cx="635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4,000.00</a:t>
            </a:r>
          </a:p>
        </p:txBody>
      </p:sp>
      <p:sp>
        <p:nvSpPr>
          <p:cNvPr id="18" name="C. ADDITIONAL HARDWARE/SOFTWARE"/>
          <p:cNvSpPr txBox="1"/>
          <p:nvPr/>
        </p:nvSpPr>
        <p:spPr>
          <a:xfrm>
            <a:off x="685800" y="1917700"/>
            <a:ext cx="2844800" cy="254000"/>
          </a:xfrm>
          <a:prstGeom prst="rect">
            <a:avLst/>
          </a:prstGeom>
          <a:noFill/>
        </p:spPr>
        <p:txBody>
          <a:bodyPr wrap="none" anchor="t" lIns="25400" rIns="25400" tIns="25400" bIns="25400">
            <a:spAutoFit/>
          </a:bodyPr>
          <a:lstStyle/>
          <a:p>
            <a:pPr algn="l">
              <a:lnSpc>
                <a:spcPts val="1176"/>
              </a:lnSpc>
              <a:spcBef>
                <a:spcPts val="0"/>
              </a:spcBef>
              <a:spcAft>
                <a:spcPts val="0"/>
              </a:spcAft>
            </a:pPr>
            <a:r>
              <a:rPr sz="1050" b="0">
                <a:solidFill>
                  <a:srgbClr val="000000"/>
                </a:solidFill>
                <a:latin typeface="Arial Narrow"/>
              </a:rPr>
              <a:t>C. ADDITIONAL HARDWARE/SOFTWARE</a:t>
            </a:r>
          </a:p>
        </p:txBody>
      </p:sp>
      <p:sp>
        <p:nvSpPr>
          <p:cNvPr id="19" name="Rectangle 18"/>
          <p:cNvSpPr/>
          <p:nvPr/>
        </p:nvSpPr>
        <p:spPr>
          <a:xfrm>
            <a:off x="685800" y="2273300"/>
            <a:ext cx="13208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scription"/>
          <p:cNvSpPr txBox="1"/>
          <p:nvPr/>
        </p:nvSpPr>
        <p:spPr>
          <a:xfrm>
            <a:off x="685800" y="22733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21" name="Rectangle 20"/>
          <p:cNvSpPr/>
          <p:nvPr/>
        </p:nvSpPr>
        <p:spPr>
          <a:xfrm>
            <a:off x="2006600" y="2273300"/>
            <a:ext cx="889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Unit Cost"/>
          <p:cNvSpPr txBox="1"/>
          <p:nvPr/>
        </p:nvSpPr>
        <p:spPr>
          <a:xfrm>
            <a:off x="2006600" y="2273300"/>
            <a:ext cx="889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Cost</a:t>
            </a:r>
          </a:p>
        </p:txBody>
      </p:sp>
      <p:sp>
        <p:nvSpPr>
          <p:cNvPr id="23" name="Rectangle 22"/>
          <p:cNvSpPr/>
          <p:nvPr/>
        </p:nvSpPr>
        <p:spPr>
          <a:xfrm>
            <a:off x="2895600" y="2273300"/>
            <a:ext cx="6350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ub_Total"/>
          <p:cNvSpPr txBox="1"/>
          <p:nvPr/>
        </p:nvSpPr>
        <p:spPr>
          <a:xfrm>
            <a:off x="2895600" y="2273300"/>
            <a:ext cx="6350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Sub_Total</a:t>
            </a:r>
          </a:p>
        </p:txBody>
      </p:sp>
      <p:sp>
        <p:nvSpPr>
          <p:cNvPr id="25" name="Rectangle 24"/>
          <p:cNvSpPr/>
          <p:nvPr/>
        </p:nvSpPr>
        <p:spPr>
          <a:xfrm>
            <a:off x="685800" y="25146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loud Database Setup"/>
          <p:cNvSpPr txBox="1"/>
          <p:nvPr/>
        </p:nvSpPr>
        <p:spPr>
          <a:xfrm>
            <a:off x="685800" y="25146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Cloud Database Setup</a:t>
            </a:r>
          </a:p>
        </p:txBody>
      </p:sp>
      <p:sp>
        <p:nvSpPr>
          <p:cNvPr id="27" name="copy_server_rate"/>
          <p:cNvSpPr/>
          <p:nvPr/>
        </p:nvSpPr>
        <p:spPr>
          <a:xfrm>
            <a:off x="2006600" y="25146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py_server_rate"/>
          <p:cNvSpPr txBox="1"/>
          <p:nvPr/>
        </p:nvSpPr>
        <p:spPr>
          <a:xfrm>
            <a:off x="2006600" y="25146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29" name="copy_server_subtotal"/>
          <p:cNvSpPr/>
          <p:nvPr/>
        </p:nvSpPr>
        <p:spPr>
          <a:xfrm>
            <a:off x="2895600" y="25146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py_server_subtotal"/>
          <p:cNvSpPr txBox="1"/>
          <p:nvPr/>
        </p:nvSpPr>
        <p:spPr>
          <a:xfrm>
            <a:off x="2895600" y="25146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1,000.00</a:t>
            </a:r>
          </a:p>
        </p:txBody>
      </p:sp>
      <p:sp>
        <p:nvSpPr>
          <p:cNvPr id="31" name="Rectangle 30"/>
          <p:cNvSpPr/>
          <p:nvPr/>
        </p:nvSpPr>
        <p:spPr>
          <a:xfrm>
            <a:off x="685800" y="2755900"/>
            <a:ext cx="13208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External Drive"/>
          <p:cNvSpPr txBox="1"/>
          <p:nvPr/>
        </p:nvSpPr>
        <p:spPr>
          <a:xfrm>
            <a:off x="685800" y="2755900"/>
            <a:ext cx="13208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External Drive</a:t>
            </a:r>
          </a:p>
        </p:txBody>
      </p:sp>
      <p:sp>
        <p:nvSpPr>
          <p:cNvPr id="33" name="copy_drive_rate"/>
          <p:cNvSpPr/>
          <p:nvPr/>
        </p:nvSpPr>
        <p:spPr>
          <a:xfrm>
            <a:off x="2006600" y="2755900"/>
            <a:ext cx="889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py_drive_rate"/>
          <p:cNvSpPr txBox="1"/>
          <p:nvPr/>
        </p:nvSpPr>
        <p:spPr>
          <a:xfrm>
            <a:off x="2006600" y="2755900"/>
            <a:ext cx="889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2,500.00</a:t>
            </a:r>
          </a:p>
        </p:txBody>
      </p:sp>
      <p:sp>
        <p:nvSpPr>
          <p:cNvPr id="35" name="copy_drive_subtotal"/>
          <p:cNvSpPr/>
          <p:nvPr/>
        </p:nvSpPr>
        <p:spPr>
          <a:xfrm>
            <a:off x="2895600" y="2755900"/>
            <a:ext cx="6350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py_drive_subtotal"/>
          <p:cNvSpPr txBox="1"/>
          <p:nvPr/>
        </p:nvSpPr>
        <p:spPr>
          <a:xfrm>
            <a:off x="2895600" y="2755900"/>
            <a:ext cx="635000" cy="2413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2,500.00</a:t>
            </a:r>
          </a:p>
        </p:txBody>
      </p:sp>
      <p:sp>
        <p:nvSpPr>
          <p:cNvPr id="37" name="Rectangle 36"/>
          <p:cNvSpPr/>
          <p:nvPr/>
        </p:nvSpPr>
        <p:spPr>
          <a:xfrm>
            <a:off x="685800" y="2997200"/>
            <a:ext cx="13208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pen-source Tools /&#10;Free SSL"/>
          <p:cNvSpPr txBox="1"/>
          <p:nvPr/>
        </p:nvSpPr>
        <p:spPr>
          <a:xfrm>
            <a:off x="685800" y="2997200"/>
            <a:ext cx="1320800" cy="4572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Open-source Tools /</a:t>
            </a:r>
          </a:p>
          <a:p>
            <a:pPr algn="l">
              <a:lnSpc>
                <a:spcPts val="1008"/>
              </a:lnSpc>
              <a:spcBef>
                <a:spcPts val="0"/>
              </a:spcBef>
              <a:spcAft>
                <a:spcPts val="0"/>
              </a:spcAft>
            </a:pPr>
            <a:r>
              <a:rPr sz="900" b="0">
                <a:solidFill>
                  <a:srgbClr val="000000"/>
                </a:solidFill>
                <a:latin typeface="Arial Narrow"/>
              </a:rPr>
              <a:t>Free SSL</a:t>
            </a:r>
          </a:p>
        </p:txBody>
      </p:sp>
      <p:sp>
        <p:nvSpPr>
          <p:cNvPr id="39" name="copy_license_rate"/>
          <p:cNvSpPr/>
          <p:nvPr/>
        </p:nvSpPr>
        <p:spPr>
          <a:xfrm>
            <a:off x="2006600" y="2997200"/>
            <a:ext cx="889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opy_license_rate"/>
          <p:cNvSpPr txBox="1"/>
          <p:nvPr/>
        </p:nvSpPr>
        <p:spPr>
          <a:xfrm>
            <a:off x="2006600" y="2997200"/>
            <a:ext cx="889000" cy="4572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0.00</a:t>
            </a:r>
          </a:p>
        </p:txBody>
      </p:sp>
      <p:sp>
        <p:nvSpPr>
          <p:cNvPr id="41" name="copy_license_subtotal"/>
          <p:cNvSpPr/>
          <p:nvPr/>
        </p:nvSpPr>
        <p:spPr>
          <a:xfrm>
            <a:off x="2895600" y="2997200"/>
            <a:ext cx="635000" cy="4572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opy_license_subtotal"/>
          <p:cNvSpPr txBox="1"/>
          <p:nvPr/>
        </p:nvSpPr>
        <p:spPr>
          <a:xfrm>
            <a:off x="2895600" y="2997200"/>
            <a:ext cx="635000" cy="4572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0.00</a:t>
            </a:r>
          </a:p>
        </p:txBody>
      </p:sp>
      <p:sp>
        <p:nvSpPr>
          <p:cNvPr id="43" name="Rectangle 42"/>
          <p:cNvSpPr/>
          <p:nvPr/>
        </p:nvSpPr>
        <p:spPr>
          <a:xfrm>
            <a:off x="685800" y="3454400"/>
            <a:ext cx="22098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OTAL"/>
          <p:cNvSpPr txBox="1"/>
          <p:nvPr/>
        </p:nvSpPr>
        <p:spPr>
          <a:xfrm>
            <a:off x="685800" y="3454400"/>
            <a:ext cx="22098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45" name="copy_hardware_total"/>
          <p:cNvSpPr/>
          <p:nvPr/>
        </p:nvSpPr>
        <p:spPr>
          <a:xfrm>
            <a:off x="2895600" y="3454400"/>
            <a:ext cx="635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py_hardware_total"/>
          <p:cNvSpPr txBox="1"/>
          <p:nvPr/>
        </p:nvSpPr>
        <p:spPr>
          <a:xfrm>
            <a:off x="2895600" y="3454400"/>
            <a:ext cx="635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3,500.00</a:t>
            </a:r>
          </a:p>
        </p:txBody>
      </p:sp>
      <p:sp>
        <p:nvSpPr>
          <p:cNvPr id="47" name="Rectangle 46"/>
          <p:cNvSpPr/>
          <p:nvPr/>
        </p:nvSpPr>
        <p:spPr>
          <a:xfrm>
            <a:off x="685800" y="4038600"/>
            <a:ext cx="2844800" cy="622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otal One Time Cost = Total Development Cost + Total&#10;User Trainin"/>
          <p:cNvSpPr txBox="1"/>
          <p:nvPr/>
        </p:nvSpPr>
        <p:spPr>
          <a:xfrm>
            <a:off x="685800" y="4038600"/>
            <a:ext cx="2844800" cy="622300"/>
          </a:xfrm>
          <a:prstGeom prst="rect">
            <a:avLst/>
          </a:prstGeom>
          <a:noFill/>
        </p:spPr>
        <p:txBody>
          <a:bodyPr wrap="none" anchor="t" lIns="63500" rIns="63500" tIns="63500" bIns="63500">
            <a:spAutoFit/>
          </a:bodyPr>
          <a:lstStyle/>
          <a:p>
            <a:pPr algn="l">
              <a:lnSpc>
                <a:spcPts val="1064"/>
              </a:lnSpc>
              <a:spcBef>
                <a:spcPts val="0"/>
              </a:spcBef>
              <a:spcAft>
                <a:spcPts val="0"/>
              </a:spcAft>
            </a:pPr>
            <a:r>
              <a:rPr sz="950" b="0">
                <a:solidFill>
                  <a:srgbClr val="000000"/>
                </a:solidFill>
                <a:latin typeface="Arial Narrow"/>
              </a:rPr>
              <a:t>Total One Time Cost = Total Development Cost + Total</a:t>
            </a:r>
          </a:p>
          <a:p>
            <a:pPr algn="l">
              <a:lnSpc>
                <a:spcPts val="1064"/>
              </a:lnSpc>
              <a:spcBef>
                <a:spcPts val="0"/>
              </a:spcBef>
              <a:spcAft>
                <a:spcPts val="0"/>
              </a:spcAft>
            </a:pPr>
            <a:r>
              <a:rPr sz="950" b="0">
                <a:solidFill>
                  <a:srgbClr val="000000"/>
                </a:solidFill>
                <a:latin typeface="Arial Narrow"/>
              </a:rPr>
              <a:t>User Training + Total Additional Hardware/Software</a:t>
            </a:r>
          </a:p>
        </p:txBody>
      </p:sp>
      <p:sp>
        <p:nvSpPr>
          <p:cNvPr id="49" name="The estimated one-time investment is PHP 114,500.00: development "/>
          <p:cNvSpPr txBox="1"/>
          <p:nvPr/>
        </p:nvSpPr>
        <p:spPr>
          <a:xfrm>
            <a:off x="558800" y="5143500"/>
            <a:ext cx="6438900" cy="977900"/>
          </a:xfrm>
          <a:prstGeom prst="rect">
            <a:avLst/>
          </a:prstGeom>
          <a:noFill/>
        </p:spPr>
        <p:txBody>
          <a:bodyPr wrap="none" anchor="t" lIns="0" rIns="0" tIns="0" bIns="0">
            <a:spAutoFit/>
          </a:bodyPr>
          <a:lstStyle/>
          <a:p>
            <a:pPr algn="l">
              <a:lnSpc>
                <a:spcPts val="1232"/>
              </a:lnSpc>
              <a:spcBef>
                <a:spcPts val="0"/>
              </a:spcBef>
              <a:spcAft>
                <a:spcPts val="0"/>
              </a:spcAft>
            </a:pPr>
            <a:r>
              <a:rPr sz="1100" b="0">
                <a:solidFill>
                  <a:srgbClr val="000000"/>
                </a:solidFill>
                <a:latin typeface="Arial Narrow"/>
              </a:rPr>
              <a:t>The estimated one-time investment is PHP 114,500.00: development PHP 107,000.00, user training PHP 4,000.00, and</a:t>
            </a:r>
          </a:p>
          <a:p>
            <a:pPr algn="l">
              <a:lnSpc>
                <a:spcPts val="1232"/>
              </a:lnSpc>
              <a:spcBef>
                <a:spcPts val="0"/>
              </a:spcBef>
              <a:spcAft>
                <a:spcPts val="0"/>
              </a:spcAft>
            </a:pPr>
            <a:r>
              <a:rPr sz="1100" b="0">
                <a:solidFill>
                  <a:srgbClr val="000000"/>
                </a:solidFill>
                <a:latin typeface="Arial Narrow"/>
              </a:rPr>
              <a:t>deployment/backup hardware PHP 3,500.00. Estimated annual recurring cost is PHP 31,800.00. These figures form a planning</a:t>
            </a:r>
          </a:p>
          <a:p>
            <a:pPr algn="l">
              <a:lnSpc>
                <a:spcPts val="1232"/>
              </a:lnSpc>
              <a:spcBef>
                <a:spcPts val="0"/>
              </a:spcBef>
              <a:spcAft>
                <a:spcPts val="0"/>
              </a:spcAft>
            </a:pPr>
            <a:r>
              <a:rPr sz="1100" b="0">
                <a:solidFill>
                  <a:srgbClr val="000000"/>
                </a:solidFill>
                <a:latin typeface="Arial Narrow"/>
              </a:rPr>
              <a:t>scenario and are not actual company spending or approved vendor quotations.</a:t>
            </a:r>
          </a:p>
        </p:txBody>
      </p:sp>
      <p:sp>
        <p:nvSpPr>
          <p:cNvPr id="50" name="The green company monitoring table records 758 units across 26 eq"/>
          <p:cNvSpPr txBox="1"/>
          <p:nvPr/>
        </p:nvSpPr>
        <p:spPr>
          <a:xfrm>
            <a:off x="558800" y="6388100"/>
            <a:ext cx="6438900" cy="863600"/>
          </a:xfrm>
          <a:prstGeom prst="rect">
            <a:avLst/>
          </a:prstGeom>
          <a:noFill/>
        </p:spPr>
        <p:txBody>
          <a:bodyPr wrap="none" anchor="t" lIns="0" rIns="0" tIns="0" bIns="0">
            <a:spAutoFit/>
          </a:bodyPr>
          <a:lstStyle/>
          <a:p>
            <a:pPr algn="l">
              <a:lnSpc>
                <a:spcPts val="1232"/>
              </a:lnSpc>
              <a:spcBef>
                <a:spcPts val="0"/>
              </a:spcBef>
              <a:spcAft>
                <a:spcPts val="0"/>
              </a:spcAft>
            </a:pPr>
            <a:r>
              <a:rPr sz="1100" b="0">
                <a:solidFill>
                  <a:srgbClr val="000000"/>
                </a:solidFill>
                <a:latin typeface="Arial Narrow"/>
              </a:rPr>
              <a:t>The green company monitoring table records 758 units across 26 equipment categories. It identifies 19 round shovels, 75 GI</a:t>
            </a:r>
          </a:p>
          <a:p>
            <a:pPr algn="l">
              <a:lnSpc>
                <a:spcPts val="1232"/>
              </a:lnSpc>
              <a:spcBef>
                <a:spcPts val="0"/>
              </a:spcBef>
              <a:spcAft>
                <a:spcPts val="0"/>
              </a:spcAft>
            </a:pPr>
            <a:r>
              <a:rPr sz="1100" b="0">
                <a:solidFill>
                  <a:srgbClr val="000000"/>
                </a:solidFill>
                <a:latin typeface="Arial Narrow"/>
              </a:rPr>
              <a:t>pipes and 369 swivel clamps under “Missing or No Report,” totaling 463 units. These are reconciliation gaps; the table does not</a:t>
            </a:r>
          </a:p>
          <a:p>
            <a:pPr algn="l">
              <a:lnSpc>
                <a:spcPts val="1232"/>
              </a:lnSpc>
              <a:spcBef>
                <a:spcPts val="0"/>
              </a:spcBef>
              <a:spcAft>
                <a:spcPts val="0"/>
              </a:spcAft>
            </a:pPr>
            <a:r>
              <a:rPr sz="1100" b="0">
                <a:solidFill>
                  <a:srgbClr val="000000"/>
                </a:solidFill>
                <a:latin typeface="Arial Narrow"/>
              </a:rPr>
              <a:t>establish confirmed financial losses.</a:t>
            </a:r>
          </a:p>
        </p:txBody>
      </p:sp>
      <p:sp>
        <p:nvSpPr>
          <p:cNvPr id="51" name="Rectangle 50"/>
          <p:cNvSpPr/>
          <p:nvPr/>
        </p:nvSpPr>
        <p:spPr>
          <a:xfrm>
            <a:off x="3949700" y="1016000"/>
            <a:ext cx="14859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Description"/>
          <p:cNvSpPr txBox="1"/>
          <p:nvPr/>
        </p:nvSpPr>
        <p:spPr>
          <a:xfrm>
            <a:off x="3949700" y="1016000"/>
            <a:ext cx="14859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Description</a:t>
            </a:r>
          </a:p>
        </p:txBody>
      </p:sp>
      <p:sp>
        <p:nvSpPr>
          <p:cNvPr id="53" name="Rectangle 52"/>
          <p:cNvSpPr/>
          <p:nvPr/>
        </p:nvSpPr>
        <p:spPr>
          <a:xfrm>
            <a:off x="5435600" y="1016000"/>
            <a:ext cx="7366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ate (PHP)"/>
          <p:cNvSpPr txBox="1"/>
          <p:nvPr/>
        </p:nvSpPr>
        <p:spPr>
          <a:xfrm>
            <a:off x="5435600" y="1016000"/>
            <a:ext cx="7366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Rate (PHP)</a:t>
            </a:r>
          </a:p>
        </p:txBody>
      </p:sp>
      <p:sp>
        <p:nvSpPr>
          <p:cNvPr id="55" name="Rectangle 54"/>
          <p:cNvSpPr/>
          <p:nvPr/>
        </p:nvSpPr>
        <p:spPr>
          <a:xfrm>
            <a:off x="6172200" y="1016000"/>
            <a:ext cx="673100" cy="2413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nnually"/>
          <p:cNvSpPr txBox="1"/>
          <p:nvPr/>
        </p:nvSpPr>
        <p:spPr>
          <a:xfrm>
            <a:off x="6172200" y="1016000"/>
            <a:ext cx="673100" cy="2413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Annually</a:t>
            </a:r>
          </a:p>
        </p:txBody>
      </p:sp>
      <p:sp>
        <p:nvSpPr>
          <p:cNvPr id="57" name="Rectangle 56"/>
          <p:cNvSpPr/>
          <p:nvPr/>
        </p:nvSpPr>
        <p:spPr>
          <a:xfrm>
            <a:off x="3949700" y="12573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Software Maintenance"/>
          <p:cNvSpPr txBox="1"/>
          <p:nvPr/>
        </p:nvSpPr>
        <p:spPr>
          <a:xfrm>
            <a:off x="3949700" y="12573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Software Maintenance</a:t>
            </a:r>
          </a:p>
        </p:txBody>
      </p:sp>
      <p:sp>
        <p:nvSpPr>
          <p:cNvPr id="59" name="copy_maintenance_rate"/>
          <p:cNvSpPr/>
          <p:nvPr/>
        </p:nvSpPr>
        <p:spPr>
          <a:xfrm>
            <a:off x="5435600" y="12573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opy_maintenance_rate"/>
          <p:cNvSpPr txBox="1"/>
          <p:nvPr/>
        </p:nvSpPr>
        <p:spPr>
          <a:xfrm>
            <a:off x="5435600" y="12573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750.00</a:t>
            </a:r>
          </a:p>
        </p:txBody>
      </p:sp>
      <p:sp>
        <p:nvSpPr>
          <p:cNvPr id="61" name="copy_maintenance_annual"/>
          <p:cNvSpPr/>
          <p:nvPr/>
        </p:nvSpPr>
        <p:spPr>
          <a:xfrm>
            <a:off x="6172200" y="12573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py_maintenance_annual"/>
          <p:cNvSpPr txBox="1"/>
          <p:nvPr/>
        </p:nvSpPr>
        <p:spPr>
          <a:xfrm>
            <a:off x="6172200" y="12573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9,000.00</a:t>
            </a:r>
          </a:p>
        </p:txBody>
      </p:sp>
      <p:sp>
        <p:nvSpPr>
          <p:cNvPr id="63" name="Rectangle 62"/>
          <p:cNvSpPr/>
          <p:nvPr/>
        </p:nvSpPr>
        <p:spPr>
          <a:xfrm>
            <a:off x="3949700" y="14986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loud Database + Storage"/>
          <p:cNvSpPr txBox="1"/>
          <p:nvPr/>
        </p:nvSpPr>
        <p:spPr>
          <a:xfrm>
            <a:off x="3949700" y="14986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Cloud Database + Storage</a:t>
            </a:r>
          </a:p>
        </p:txBody>
      </p:sp>
      <p:sp>
        <p:nvSpPr>
          <p:cNvPr id="65" name="copy_database_rate"/>
          <p:cNvSpPr/>
          <p:nvPr/>
        </p:nvSpPr>
        <p:spPr>
          <a:xfrm>
            <a:off x="5435600" y="14986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opy_database_rate"/>
          <p:cNvSpPr txBox="1"/>
          <p:nvPr/>
        </p:nvSpPr>
        <p:spPr>
          <a:xfrm>
            <a:off x="5435600" y="14986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1,625.00</a:t>
            </a:r>
          </a:p>
        </p:txBody>
      </p:sp>
      <p:sp>
        <p:nvSpPr>
          <p:cNvPr id="67" name="copy_database_annual"/>
          <p:cNvSpPr/>
          <p:nvPr/>
        </p:nvSpPr>
        <p:spPr>
          <a:xfrm>
            <a:off x="6172200" y="14986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opy_database_annual"/>
          <p:cNvSpPr txBox="1"/>
          <p:nvPr/>
        </p:nvSpPr>
        <p:spPr>
          <a:xfrm>
            <a:off x="6172200" y="14986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19,500.00</a:t>
            </a:r>
          </a:p>
        </p:txBody>
      </p:sp>
      <p:sp>
        <p:nvSpPr>
          <p:cNvPr id="69" name="Rectangle 68"/>
          <p:cNvSpPr/>
          <p:nvPr/>
        </p:nvSpPr>
        <p:spPr>
          <a:xfrm>
            <a:off x="3949700" y="17399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Static Frontend Hosting"/>
          <p:cNvSpPr txBox="1"/>
          <p:nvPr/>
        </p:nvSpPr>
        <p:spPr>
          <a:xfrm>
            <a:off x="3949700" y="17399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Static Frontend Hosting</a:t>
            </a:r>
          </a:p>
        </p:txBody>
      </p:sp>
      <p:sp>
        <p:nvSpPr>
          <p:cNvPr id="71" name="copy_frontend_rate"/>
          <p:cNvSpPr/>
          <p:nvPr/>
        </p:nvSpPr>
        <p:spPr>
          <a:xfrm>
            <a:off x="5435600" y="17399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opy_frontend_rate"/>
          <p:cNvSpPr txBox="1"/>
          <p:nvPr/>
        </p:nvSpPr>
        <p:spPr>
          <a:xfrm>
            <a:off x="5435600" y="17399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73" name="copy_frontend_annual"/>
          <p:cNvSpPr/>
          <p:nvPr/>
        </p:nvSpPr>
        <p:spPr>
          <a:xfrm>
            <a:off x="6172200" y="17399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opy_frontend_annual"/>
          <p:cNvSpPr txBox="1"/>
          <p:nvPr/>
        </p:nvSpPr>
        <p:spPr>
          <a:xfrm>
            <a:off x="6172200" y="17399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75" name="Rectangle 74"/>
          <p:cNvSpPr/>
          <p:nvPr/>
        </p:nvSpPr>
        <p:spPr>
          <a:xfrm>
            <a:off x="3949700" y="19812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Incremental Communication"/>
          <p:cNvSpPr txBox="1"/>
          <p:nvPr/>
        </p:nvSpPr>
        <p:spPr>
          <a:xfrm>
            <a:off x="3949700" y="19812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Incremental Communication</a:t>
            </a:r>
          </a:p>
        </p:txBody>
      </p:sp>
      <p:sp>
        <p:nvSpPr>
          <p:cNvPr id="77" name="copy_communication_rate"/>
          <p:cNvSpPr/>
          <p:nvPr/>
        </p:nvSpPr>
        <p:spPr>
          <a:xfrm>
            <a:off x="5435600" y="19812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py_communication_rate"/>
          <p:cNvSpPr txBox="1"/>
          <p:nvPr/>
        </p:nvSpPr>
        <p:spPr>
          <a:xfrm>
            <a:off x="5435600" y="19812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200.00</a:t>
            </a:r>
          </a:p>
        </p:txBody>
      </p:sp>
      <p:sp>
        <p:nvSpPr>
          <p:cNvPr id="79" name="copy_communication_annual"/>
          <p:cNvSpPr/>
          <p:nvPr/>
        </p:nvSpPr>
        <p:spPr>
          <a:xfrm>
            <a:off x="6172200" y="19812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opy_communication_annual"/>
          <p:cNvSpPr txBox="1"/>
          <p:nvPr/>
        </p:nvSpPr>
        <p:spPr>
          <a:xfrm>
            <a:off x="6172200" y="19812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2,400.00</a:t>
            </a:r>
          </a:p>
        </p:txBody>
      </p:sp>
      <p:sp>
        <p:nvSpPr>
          <p:cNvPr id="81" name="Rectangle 80"/>
          <p:cNvSpPr/>
          <p:nvPr/>
        </p:nvSpPr>
        <p:spPr>
          <a:xfrm>
            <a:off x="3949700" y="22225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Domain Renewal (year)"/>
          <p:cNvSpPr txBox="1"/>
          <p:nvPr/>
        </p:nvSpPr>
        <p:spPr>
          <a:xfrm>
            <a:off x="3949700" y="22225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Domain Renewal (year)</a:t>
            </a:r>
          </a:p>
        </p:txBody>
      </p:sp>
      <p:sp>
        <p:nvSpPr>
          <p:cNvPr id="83" name="copy_domain_rate"/>
          <p:cNvSpPr/>
          <p:nvPr/>
        </p:nvSpPr>
        <p:spPr>
          <a:xfrm>
            <a:off x="5435600" y="22225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copy_domain_rate"/>
          <p:cNvSpPr txBox="1"/>
          <p:nvPr/>
        </p:nvSpPr>
        <p:spPr>
          <a:xfrm>
            <a:off x="5435600" y="22225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a:t>
            </a:r>
          </a:p>
        </p:txBody>
      </p:sp>
      <p:sp>
        <p:nvSpPr>
          <p:cNvPr id="85" name="copy_domain_annual"/>
          <p:cNvSpPr/>
          <p:nvPr/>
        </p:nvSpPr>
        <p:spPr>
          <a:xfrm>
            <a:off x="6172200" y="22225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py_domain_annual"/>
          <p:cNvSpPr txBox="1"/>
          <p:nvPr/>
        </p:nvSpPr>
        <p:spPr>
          <a:xfrm>
            <a:off x="6172200" y="22225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a:t>
            </a:r>
          </a:p>
        </p:txBody>
      </p:sp>
      <p:sp>
        <p:nvSpPr>
          <p:cNvPr id="87" name="Rectangle 86"/>
          <p:cNvSpPr/>
          <p:nvPr/>
        </p:nvSpPr>
        <p:spPr>
          <a:xfrm>
            <a:off x="3949700" y="2463800"/>
            <a:ext cx="14859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Software License Renewal"/>
          <p:cNvSpPr txBox="1"/>
          <p:nvPr/>
        </p:nvSpPr>
        <p:spPr>
          <a:xfrm>
            <a:off x="3949700" y="2463800"/>
            <a:ext cx="1485900" cy="2413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Software License Renewal</a:t>
            </a:r>
          </a:p>
        </p:txBody>
      </p:sp>
      <p:sp>
        <p:nvSpPr>
          <p:cNvPr id="89" name="copy_renewal_rate"/>
          <p:cNvSpPr/>
          <p:nvPr/>
        </p:nvSpPr>
        <p:spPr>
          <a:xfrm>
            <a:off x="5435600" y="2463800"/>
            <a:ext cx="7366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copy_renewal_rate"/>
          <p:cNvSpPr txBox="1"/>
          <p:nvPr/>
        </p:nvSpPr>
        <p:spPr>
          <a:xfrm>
            <a:off x="5435600" y="2463800"/>
            <a:ext cx="7366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91" name="copy_renewal_annual"/>
          <p:cNvSpPr/>
          <p:nvPr/>
        </p:nvSpPr>
        <p:spPr>
          <a:xfrm>
            <a:off x="6172200" y="2463800"/>
            <a:ext cx="673100" cy="2413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copy_renewal_annual"/>
          <p:cNvSpPr txBox="1"/>
          <p:nvPr/>
        </p:nvSpPr>
        <p:spPr>
          <a:xfrm>
            <a:off x="6172200" y="2463800"/>
            <a:ext cx="673100" cy="2413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0.00</a:t>
            </a:r>
          </a:p>
        </p:txBody>
      </p:sp>
      <p:sp>
        <p:nvSpPr>
          <p:cNvPr id="93" name="Rectangle 92"/>
          <p:cNvSpPr/>
          <p:nvPr/>
        </p:nvSpPr>
        <p:spPr>
          <a:xfrm>
            <a:off x="3949700" y="2705100"/>
            <a:ext cx="2222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OTAL"/>
          <p:cNvSpPr txBox="1"/>
          <p:nvPr/>
        </p:nvSpPr>
        <p:spPr>
          <a:xfrm>
            <a:off x="3949700" y="2705100"/>
            <a:ext cx="2222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95" name="copy_recurring_total"/>
          <p:cNvSpPr/>
          <p:nvPr/>
        </p:nvSpPr>
        <p:spPr>
          <a:xfrm>
            <a:off x="6172200" y="2705100"/>
            <a:ext cx="6731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copy_recurring_total"/>
          <p:cNvSpPr txBox="1"/>
          <p:nvPr/>
        </p:nvSpPr>
        <p:spPr>
          <a:xfrm>
            <a:off x="6172200" y="2705100"/>
            <a:ext cx="6731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31,800.00</a:t>
            </a:r>
          </a:p>
        </p:txBody>
      </p:sp>
      <p:sp>
        <p:nvSpPr>
          <p:cNvPr id="97" name="PHP&#10;EST."/>
          <p:cNvSpPr txBox="1"/>
          <p:nvPr/>
        </p:nvSpPr>
        <p:spPr>
          <a:xfrm>
            <a:off x="6172200" y="4089400"/>
            <a:ext cx="647700" cy="355600"/>
          </a:xfrm>
          <a:prstGeom prst="rect">
            <a:avLst/>
          </a:prstGeom>
          <a:noFill/>
        </p:spPr>
        <p:txBody>
          <a:bodyPr wrap="none" anchor="t" lIns="0" rIns="0" tIns="0" bIns="0">
            <a:spAutoFit/>
          </a:bodyPr>
          <a:lstStyle/>
          <a:p>
            <a:pPr algn="ctr">
              <a:lnSpc>
                <a:spcPts val="1120"/>
              </a:lnSpc>
              <a:spcBef>
                <a:spcPts val="0"/>
              </a:spcBef>
              <a:spcAft>
                <a:spcPts val="0"/>
              </a:spcAft>
            </a:pPr>
            <a:r>
              <a:rPr sz="1000" b="1">
                <a:solidFill>
                  <a:srgbClr val="000000"/>
                </a:solidFill>
                <a:latin typeface="Arial Narrow"/>
              </a:rPr>
              <a:t>PHP</a:t>
            </a:r>
          </a:p>
          <a:p>
            <a:pPr algn="ctr">
              <a:lnSpc>
                <a:spcPts val="1120"/>
              </a:lnSpc>
              <a:spcBef>
                <a:spcPts val="0"/>
              </a:spcBef>
              <a:spcAft>
                <a:spcPts val="0"/>
              </a:spcAft>
            </a:pPr>
            <a:r>
              <a:rPr sz="1000" b="1">
                <a:solidFill>
                  <a:srgbClr val="000000"/>
                </a:solidFill>
                <a:latin typeface="Arial Narrow"/>
              </a:rPr>
              <a:t>EST.</a:t>
            </a:r>
          </a:p>
        </p:txBody>
      </p:sp>
      <p:sp>
        <p:nvSpPr>
          <p:cNvPr id="98" name="Estimated annual operational value is PHP 80,290.00, comprising P"/>
          <p:cNvSpPr txBox="1"/>
          <p:nvPr/>
        </p:nvSpPr>
        <p:spPr>
          <a:xfrm>
            <a:off x="558800" y="7696200"/>
            <a:ext cx="6438900" cy="965200"/>
          </a:xfrm>
          <a:prstGeom prst="rect">
            <a:avLst/>
          </a:prstGeom>
          <a:noFill/>
        </p:spPr>
        <p:txBody>
          <a:bodyPr wrap="none" anchor="t" lIns="0" rIns="0" tIns="0" bIns="0">
            <a:spAutoFit/>
          </a:bodyPr>
          <a:lstStyle/>
          <a:p>
            <a:pPr algn="l">
              <a:lnSpc>
                <a:spcPts val="1176"/>
              </a:lnSpc>
              <a:spcBef>
                <a:spcPts val="0"/>
              </a:spcBef>
              <a:spcAft>
                <a:spcPts val="0"/>
              </a:spcAft>
            </a:pPr>
            <a:r>
              <a:rPr sz="1050" b="0">
                <a:solidFill>
                  <a:srgbClr val="000000"/>
                </a:solidFill>
                <a:latin typeface="Arial Narrow"/>
              </a:rPr>
              <a:t>Estimated annual operational value is PHP 80,290.00, comprising PHP 4,690.00 in supplies cash savings and PHP 75,600.00 in</a:t>
            </a:r>
          </a:p>
          <a:p>
            <a:pPr algn="l">
              <a:lnSpc>
                <a:spcPts val="1176"/>
              </a:lnSpc>
              <a:spcBef>
                <a:spcPts val="0"/>
              </a:spcBef>
              <a:spcAft>
                <a:spcPts val="0"/>
              </a:spcAft>
            </a:pPr>
            <a:r>
              <a:rPr sz="1050" b="0">
                <a:solidFill>
                  <a:srgbClr val="000000"/>
                </a:solidFill>
                <a:latin typeface="Arial Narrow"/>
              </a:rPr>
              <a:t>released staff capacity. The capacity value is not payroll savings. Supplies savings alone do not cover the PHP 31,800.00 yearly</a:t>
            </a:r>
          </a:p>
          <a:p>
            <a:pPr algn="l">
              <a:lnSpc>
                <a:spcPts val="1176"/>
              </a:lnSpc>
              <a:spcBef>
                <a:spcPts val="0"/>
              </a:spcBef>
              <a:spcAft>
                <a:spcPts val="0"/>
              </a:spcAft>
            </a:pPr>
            <a:r>
              <a:rPr sz="1050" b="0">
                <a:solidFill>
                  <a:srgbClr val="000000"/>
                </a:solidFill>
                <a:latin typeface="Arial Narrow"/>
              </a:rPr>
              <a:t>running cost; the net cash requirement remains PHP 27,110.00 per year.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308100"/>
            <a:ext cx="6438900" cy="5054600"/>
          </a:xfrm>
          <a:prstGeom prst="rect">
            <a:avLst/>
          </a:prstGeom>
          <a:no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58800" y="558800"/>
            <a:ext cx="6438900" cy="228600"/>
          </a:xfrm>
          <a:prstGeom prst="rect">
            <a:avLst/>
          </a:prstGeom>
          <a:solidFill>
            <a:srgbClr val="6A18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UNIT 2: Systems Planning | PLANNING ESTIMATES (PHP)"/>
          <p:cNvSpPr txBox="1"/>
          <p:nvPr/>
        </p:nvSpPr>
        <p:spPr>
          <a:xfrm>
            <a:off x="558800" y="558800"/>
            <a:ext cx="6438900" cy="228600"/>
          </a:xfrm>
          <a:prstGeom prst="rect">
            <a:avLst/>
          </a:prstGeom>
          <a:noFill/>
        </p:spPr>
        <p:txBody>
          <a:bodyPr wrap="none" anchor="t" lIns="39369" rIns="39369" tIns="39369" bIns="39369">
            <a:spAutoFit/>
          </a:bodyPr>
          <a:lstStyle/>
          <a:p>
            <a:pPr algn="l">
              <a:lnSpc>
                <a:spcPts val="1120"/>
              </a:lnSpc>
              <a:spcBef>
                <a:spcPts val="0"/>
              </a:spcBef>
              <a:spcAft>
                <a:spcPts val="0"/>
              </a:spcAft>
            </a:pPr>
            <a:r>
              <a:rPr sz="1000" b="1">
                <a:solidFill>
                  <a:srgbClr val="FFFFFF"/>
                </a:solidFill>
                <a:latin typeface="Arial Narrow"/>
              </a:rPr>
              <a:t>UNIT 2: Systems Planning | PLANNING ESTIMATES (PHP)</a:t>
            </a:r>
          </a:p>
        </p:txBody>
      </p:sp>
      <p:sp>
        <p:nvSpPr>
          <p:cNvPr id="5" name="•  Benefit"/>
          <p:cNvSpPr txBox="1"/>
          <p:nvPr/>
        </p:nvSpPr>
        <p:spPr>
          <a:xfrm>
            <a:off x="647700" y="889000"/>
            <a:ext cx="6096000" cy="254000"/>
          </a:xfrm>
          <a:prstGeom prst="rect">
            <a:avLst/>
          </a:prstGeom>
          <a:noFill/>
        </p:spPr>
        <p:txBody>
          <a:bodyPr wrap="none" anchor="t" lIns="23621" rIns="23621" tIns="23621" bIns="23621">
            <a:spAutoFit/>
          </a:bodyPr>
          <a:lstStyle/>
          <a:p>
            <a:pPr algn="l">
              <a:lnSpc>
                <a:spcPts val="1568"/>
              </a:lnSpc>
              <a:spcBef>
                <a:spcPts val="0"/>
              </a:spcBef>
              <a:spcAft>
                <a:spcPts val="0"/>
              </a:spcAft>
            </a:pPr>
            <a:r>
              <a:rPr sz="1400" b="1">
                <a:solidFill>
                  <a:srgbClr val="000000"/>
                </a:solidFill>
                <a:latin typeface="Arial Narrow"/>
              </a:rPr>
              <a:t>• Benefit</a:t>
            </a:r>
          </a:p>
        </p:txBody>
      </p:sp>
      <p:sp>
        <p:nvSpPr>
          <p:cNvPr id="6" name="IT303: SYSTEMS ANALYSIS AND DESIGN"/>
          <p:cNvSpPr txBox="1"/>
          <p:nvPr/>
        </p:nvSpPr>
        <p:spPr>
          <a:xfrm>
            <a:off x="558800" y="10172700"/>
            <a:ext cx="57785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IT303: SYSTEMS ANALYSIS AND DESIGN</a:t>
            </a:r>
          </a:p>
        </p:txBody>
      </p:sp>
      <p:sp>
        <p:nvSpPr>
          <p:cNvPr id="7" name="3"/>
          <p:cNvSpPr txBox="1"/>
          <p:nvPr/>
        </p:nvSpPr>
        <p:spPr>
          <a:xfrm>
            <a:off x="64389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3</a:t>
            </a:r>
          </a:p>
        </p:txBody>
      </p:sp>
      <p:sp>
        <p:nvSpPr>
          <p:cNvPr id="8" name="Breakdown of Tangible Benefit Worksheet"/>
          <p:cNvSpPr txBox="1"/>
          <p:nvPr/>
        </p:nvSpPr>
        <p:spPr>
          <a:xfrm>
            <a:off x="647700" y="1346200"/>
            <a:ext cx="6261100" cy="177800"/>
          </a:xfrm>
          <a:prstGeom prst="rect">
            <a:avLst/>
          </a:prstGeom>
          <a:noFill/>
        </p:spPr>
        <p:txBody>
          <a:bodyPr wrap="none" anchor="t" lIns="13969" rIns="13969" tIns="13969" bIns="13969">
            <a:spAutoFit/>
          </a:bodyPr>
          <a:lstStyle/>
          <a:p>
            <a:pPr algn="l">
              <a:lnSpc>
                <a:spcPts val="1120"/>
              </a:lnSpc>
              <a:spcBef>
                <a:spcPts val="0"/>
              </a:spcBef>
              <a:spcAft>
                <a:spcPts val="0"/>
              </a:spcAft>
            </a:pPr>
            <a:r>
              <a:rPr sz="1000" b="1">
                <a:solidFill>
                  <a:srgbClr val="000000"/>
                </a:solidFill>
                <a:latin typeface="Arial Narrow"/>
              </a:rPr>
              <a:t>Breakdown of Tangible Benefit Worksheet</a:t>
            </a:r>
          </a:p>
        </p:txBody>
      </p:sp>
      <p:sp>
        <p:nvSpPr>
          <p:cNvPr id="9" name="A. SUPPLIES COST"/>
          <p:cNvSpPr txBox="1"/>
          <p:nvPr/>
        </p:nvSpPr>
        <p:spPr>
          <a:xfrm>
            <a:off x="647700" y="1524000"/>
            <a:ext cx="6261100" cy="190500"/>
          </a:xfrm>
          <a:prstGeom prst="rect">
            <a:avLst/>
          </a:prstGeom>
          <a:noFill/>
        </p:spPr>
        <p:txBody>
          <a:bodyPr wrap="none" anchor="t" lIns="20319" rIns="20319" tIns="20319" bIns="20319">
            <a:spAutoFit/>
          </a:bodyPr>
          <a:lstStyle/>
          <a:p>
            <a:pPr algn="l">
              <a:lnSpc>
                <a:spcPts val="1120"/>
              </a:lnSpc>
              <a:spcBef>
                <a:spcPts val="0"/>
              </a:spcBef>
              <a:spcAft>
                <a:spcPts val="0"/>
              </a:spcAft>
            </a:pPr>
            <a:r>
              <a:rPr sz="1000" b="1">
                <a:solidFill>
                  <a:srgbClr val="000000"/>
                </a:solidFill>
                <a:latin typeface="Arial Narrow"/>
              </a:rPr>
              <a:t>A. SUPPLIES COST</a:t>
            </a:r>
          </a:p>
        </p:txBody>
      </p:sp>
      <p:sp>
        <p:nvSpPr>
          <p:cNvPr id="10" name="Rectangle 9"/>
          <p:cNvSpPr/>
          <p:nvPr/>
        </p:nvSpPr>
        <p:spPr>
          <a:xfrm>
            <a:off x="647700" y="1803400"/>
            <a:ext cx="3022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XISTING SYSTEM"/>
          <p:cNvSpPr txBox="1"/>
          <p:nvPr/>
        </p:nvSpPr>
        <p:spPr>
          <a:xfrm>
            <a:off x="647700" y="1803400"/>
            <a:ext cx="3022600" cy="165100"/>
          </a:xfrm>
          <a:prstGeom prst="rect">
            <a:avLst/>
          </a:prstGeom>
          <a:noFill/>
        </p:spPr>
        <p:txBody>
          <a:bodyPr wrap="none" anchor="t" lIns="11887" rIns="11887" tIns="11887" bIns="11887">
            <a:spAutoFit/>
          </a:bodyPr>
          <a:lstStyle/>
          <a:p>
            <a:pPr algn="ctr">
              <a:lnSpc>
                <a:spcPts val="1052"/>
              </a:lnSpc>
              <a:spcBef>
                <a:spcPts val="0"/>
              </a:spcBef>
              <a:spcAft>
                <a:spcPts val="0"/>
              </a:spcAft>
            </a:pPr>
            <a:r>
              <a:rPr sz="940" b="1">
                <a:solidFill>
                  <a:srgbClr val="000000"/>
                </a:solidFill>
                <a:latin typeface="Arial Narrow"/>
              </a:rPr>
              <a:t>EXISTING SYSTEM</a:t>
            </a:r>
          </a:p>
        </p:txBody>
      </p:sp>
      <p:sp>
        <p:nvSpPr>
          <p:cNvPr id="12" name="Rectangle 11"/>
          <p:cNvSpPr/>
          <p:nvPr/>
        </p:nvSpPr>
        <p:spPr>
          <a:xfrm>
            <a:off x="647700" y="1968500"/>
            <a:ext cx="1003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scription"/>
          <p:cNvSpPr txBox="1"/>
          <p:nvPr/>
        </p:nvSpPr>
        <p:spPr>
          <a:xfrm>
            <a:off x="647700" y="19685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Description</a:t>
            </a:r>
          </a:p>
        </p:txBody>
      </p:sp>
      <p:sp>
        <p:nvSpPr>
          <p:cNvPr id="14" name="Rectangle 13"/>
          <p:cNvSpPr/>
          <p:nvPr/>
        </p:nvSpPr>
        <p:spPr>
          <a:xfrm>
            <a:off x="16510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Qty"/>
          <p:cNvSpPr txBox="1"/>
          <p:nvPr/>
        </p:nvSpPr>
        <p:spPr>
          <a:xfrm>
            <a:off x="16510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Qty</a:t>
            </a:r>
          </a:p>
        </p:txBody>
      </p:sp>
      <p:sp>
        <p:nvSpPr>
          <p:cNvPr id="16" name="Rectangle 15"/>
          <p:cNvSpPr/>
          <p:nvPr/>
        </p:nvSpPr>
        <p:spPr>
          <a:xfrm>
            <a:off x="22733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ice/Qty"/>
          <p:cNvSpPr txBox="1"/>
          <p:nvPr/>
        </p:nvSpPr>
        <p:spPr>
          <a:xfrm>
            <a:off x="22733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Price/Qty</a:t>
            </a:r>
          </a:p>
        </p:txBody>
      </p:sp>
      <p:sp>
        <p:nvSpPr>
          <p:cNvPr id="18" name="Rectangle 17"/>
          <p:cNvSpPr/>
          <p:nvPr/>
        </p:nvSpPr>
        <p:spPr>
          <a:xfrm>
            <a:off x="2895600" y="1968500"/>
            <a:ext cx="7747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ub_Total"/>
          <p:cNvSpPr txBox="1"/>
          <p:nvPr/>
        </p:nvSpPr>
        <p:spPr>
          <a:xfrm>
            <a:off x="2895600" y="1968500"/>
            <a:ext cx="7747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Sub_Total</a:t>
            </a:r>
          </a:p>
        </p:txBody>
      </p:sp>
      <p:sp>
        <p:nvSpPr>
          <p:cNvPr id="20" name="Rectangle 19"/>
          <p:cNvSpPr/>
          <p:nvPr/>
        </p:nvSpPr>
        <p:spPr>
          <a:xfrm>
            <a:off x="647700" y="21336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olders (bundle)"/>
          <p:cNvSpPr txBox="1"/>
          <p:nvPr/>
        </p:nvSpPr>
        <p:spPr>
          <a:xfrm>
            <a:off x="647700" y="21336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Folders (bundle)</a:t>
            </a:r>
          </a:p>
        </p:txBody>
      </p:sp>
      <p:sp>
        <p:nvSpPr>
          <p:cNvPr id="22" name="existing_supply1_qty"/>
          <p:cNvSpPr/>
          <p:nvPr/>
        </p:nvSpPr>
        <p:spPr>
          <a:xfrm>
            <a:off x="16510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xisting_supply1_qty"/>
          <p:cNvSpPr txBox="1"/>
          <p:nvPr/>
        </p:nvSpPr>
        <p:spPr>
          <a:xfrm>
            <a:off x="1651000" y="21336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4</a:t>
            </a:r>
          </a:p>
        </p:txBody>
      </p:sp>
      <p:sp>
        <p:nvSpPr>
          <p:cNvPr id="24" name="existing_supply1_price"/>
          <p:cNvSpPr/>
          <p:nvPr/>
        </p:nvSpPr>
        <p:spPr>
          <a:xfrm>
            <a:off x="22733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existing_supply1_price"/>
          <p:cNvSpPr txBox="1"/>
          <p:nvPr/>
        </p:nvSpPr>
        <p:spPr>
          <a:xfrm>
            <a:off x="2273300" y="21336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150.00</a:t>
            </a:r>
          </a:p>
        </p:txBody>
      </p:sp>
      <p:sp>
        <p:nvSpPr>
          <p:cNvPr id="26" name="existing_supply1_subtotal"/>
          <p:cNvSpPr/>
          <p:nvPr/>
        </p:nvSpPr>
        <p:spPr>
          <a:xfrm>
            <a:off x="2895600" y="21336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existing_supply1_subtotal"/>
          <p:cNvSpPr txBox="1"/>
          <p:nvPr/>
        </p:nvSpPr>
        <p:spPr>
          <a:xfrm>
            <a:off x="2895600" y="21336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600.00</a:t>
            </a:r>
          </a:p>
        </p:txBody>
      </p:sp>
      <p:sp>
        <p:nvSpPr>
          <p:cNvPr id="28" name="Rectangle 27"/>
          <p:cNvSpPr/>
          <p:nvPr/>
        </p:nvSpPr>
        <p:spPr>
          <a:xfrm>
            <a:off x="647700" y="22987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llpen (box)"/>
          <p:cNvSpPr txBox="1"/>
          <p:nvPr/>
        </p:nvSpPr>
        <p:spPr>
          <a:xfrm>
            <a:off x="647700" y="22987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Ballpen (box)</a:t>
            </a:r>
          </a:p>
        </p:txBody>
      </p:sp>
      <p:sp>
        <p:nvSpPr>
          <p:cNvPr id="30" name="existing_supply2_qty"/>
          <p:cNvSpPr/>
          <p:nvPr/>
        </p:nvSpPr>
        <p:spPr>
          <a:xfrm>
            <a:off x="16510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existing_supply2_qty"/>
          <p:cNvSpPr txBox="1"/>
          <p:nvPr/>
        </p:nvSpPr>
        <p:spPr>
          <a:xfrm>
            <a:off x="1651000" y="22987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3</a:t>
            </a:r>
          </a:p>
        </p:txBody>
      </p:sp>
      <p:sp>
        <p:nvSpPr>
          <p:cNvPr id="32" name="existing_supply2_price"/>
          <p:cNvSpPr/>
          <p:nvPr/>
        </p:nvSpPr>
        <p:spPr>
          <a:xfrm>
            <a:off x="22733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existing_supply2_price"/>
          <p:cNvSpPr txBox="1"/>
          <p:nvPr/>
        </p:nvSpPr>
        <p:spPr>
          <a:xfrm>
            <a:off x="2273300" y="22987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150.00</a:t>
            </a:r>
          </a:p>
        </p:txBody>
      </p:sp>
      <p:sp>
        <p:nvSpPr>
          <p:cNvPr id="34" name="existing_supply2_subtotal"/>
          <p:cNvSpPr/>
          <p:nvPr/>
        </p:nvSpPr>
        <p:spPr>
          <a:xfrm>
            <a:off x="2895600" y="22987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existing_supply2_subtotal"/>
          <p:cNvSpPr txBox="1"/>
          <p:nvPr/>
        </p:nvSpPr>
        <p:spPr>
          <a:xfrm>
            <a:off x="2895600" y="22987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450.00</a:t>
            </a:r>
          </a:p>
        </p:txBody>
      </p:sp>
      <p:sp>
        <p:nvSpPr>
          <p:cNvPr id="36" name="Rectangle 35"/>
          <p:cNvSpPr/>
          <p:nvPr/>
        </p:nvSpPr>
        <p:spPr>
          <a:xfrm>
            <a:off x="647700" y="24638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ond Papers (ream)"/>
          <p:cNvSpPr txBox="1"/>
          <p:nvPr/>
        </p:nvSpPr>
        <p:spPr>
          <a:xfrm>
            <a:off x="647700" y="24638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Bond Papers (ream)</a:t>
            </a:r>
          </a:p>
        </p:txBody>
      </p:sp>
      <p:sp>
        <p:nvSpPr>
          <p:cNvPr id="38" name="existing_supply3_qty"/>
          <p:cNvSpPr/>
          <p:nvPr/>
        </p:nvSpPr>
        <p:spPr>
          <a:xfrm>
            <a:off x="16510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existing_supply3_qty"/>
          <p:cNvSpPr txBox="1"/>
          <p:nvPr/>
        </p:nvSpPr>
        <p:spPr>
          <a:xfrm>
            <a:off x="1651000" y="24638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12</a:t>
            </a:r>
          </a:p>
        </p:txBody>
      </p:sp>
      <p:sp>
        <p:nvSpPr>
          <p:cNvPr id="40" name="existing_supply3_price"/>
          <p:cNvSpPr/>
          <p:nvPr/>
        </p:nvSpPr>
        <p:spPr>
          <a:xfrm>
            <a:off x="22733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existing_supply3_price"/>
          <p:cNvSpPr txBox="1"/>
          <p:nvPr/>
        </p:nvSpPr>
        <p:spPr>
          <a:xfrm>
            <a:off x="2273300" y="24638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250.00</a:t>
            </a:r>
          </a:p>
        </p:txBody>
      </p:sp>
      <p:sp>
        <p:nvSpPr>
          <p:cNvPr id="42" name="existing_supply3_subtotal"/>
          <p:cNvSpPr/>
          <p:nvPr/>
        </p:nvSpPr>
        <p:spPr>
          <a:xfrm>
            <a:off x="2895600" y="24638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existing_supply3_subtotal"/>
          <p:cNvSpPr txBox="1"/>
          <p:nvPr/>
        </p:nvSpPr>
        <p:spPr>
          <a:xfrm>
            <a:off x="2895600" y="24638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3,000.00</a:t>
            </a:r>
          </a:p>
        </p:txBody>
      </p:sp>
      <p:sp>
        <p:nvSpPr>
          <p:cNvPr id="44" name="Rectangle 43"/>
          <p:cNvSpPr/>
          <p:nvPr/>
        </p:nvSpPr>
        <p:spPr>
          <a:xfrm>
            <a:off x="647700" y="26289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arbon Paper (pack)"/>
          <p:cNvSpPr txBox="1"/>
          <p:nvPr/>
        </p:nvSpPr>
        <p:spPr>
          <a:xfrm>
            <a:off x="647700" y="26289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Carbon Paper (pack)</a:t>
            </a:r>
          </a:p>
        </p:txBody>
      </p:sp>
      <p:sp>
        <p:nvSpPr>
          <p:cNvPr id="46" name="existing_supply4_qty"/>
          <p:cNvSpPr/>
          <p:nvPr/>
        </p:nvSpPr>
        <p:spPr>
          <a:xfrm>
            <a:off x="16510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existing_supply4_qty"/>
          <p:cNvSpPr txBox="1"/>
          <p:nvPr/>
        </p:nvSpPr>
        <p:spPr>
          <a:xfrm>
            <a:off x="1651000" y="26289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1</a:t>
            </a:r>
          </a:p>
        </p:txBody>
      </p:sp>
      <p:sp>
        <p:nvSpPr>
          <p:cNvPr id="48" name="existing_supply4_price"/>
          <p:cNvSpPr/>
          <p:nvPr/>
        </p:nvSpPr>
        <p:spPr>
          <a:xfrm>
            <a:off x="22733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existing_supply4_price"/>
          <p:cNvSpPr txBox="1"/>
          <p:nvPr/>
        </p:nvSpPr>
        <p:spPr>
          <a:xfrm>
            <a:off x="2273300" y="26289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150.00</a:t>
            </a:r>
          </a:p>
        </p:txBody>
      </p:sp>
      <p:sp>
        <p:nvSpPr>
          <p:cNvPr id="50" name="existing_supply4_subtotal"/>
          <p:cNvSpPr/>
          <p:nvPr/>
        </p:nvSpPr>
        <p:spPr>
          <a:xfrm>
            <a:off x="2895600" y="26289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existing_supply4_subtotal"/>
          <p:cNvSpPr txBox="1"/>
          <p:nvPr/>
        </p:nvSpPr>
        <p:spPr>
          <a:xfrm>
            <a:off x="2895600" y="26289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150.00</a:t>
            </a:r>
          </a:p>
        </p:txBody>
      </p:sp>
      <p:sp>
        <p:nvSpPr>
          <p:cNvPr id="52" name="Rectangle 51"/>
          <p:cNvSpPr/>
          <p:nvPr/>
        </p:nvSpPr>
        <p:spPr>
          <a:xfrm>
            <a:off x="647700" y="27940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ord Book (pc)"/>
          <p:cNvSpPr txBox="1"/>
          <p:nvPr/>
        </p:nvSpPr>
        <p:spPr>
          <a:xfrm>
            <a:off x="647700" y="27940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Record Book (pc)</a:t>
            </a:r>
          </a:p>
        </p:txBody>
      </p:sp>
      <p:sp>
        <p:nvSpPr>
          <p:cNvPr id="54" name="existing_supply5_qty"/>
          <p:cNvSpPr/>
          <p:nvPr/>
        </p:nvSpPr>
        <p:spPr>
          <a:xfrm>
            <a:off x="16510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xisting_supply5_qty"/>
          <p:cNvSpPr txBox="1"/>
          <p:nvPr/>
        </p:nvSpPr>
        <p:spPr>
          <a:xfrm>
            <a:off x="1651000" y="27940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6</a:t>
            </a:r>
          </a:p>
        </p:txBody>
      </p:sp>
      <p:sp>
        <p:nvSpPr>
          <p:cNvPr id="56" name="existing_supply5_price"/>
          <p:cNvSpPr/>
          <p:nvPr/>
        </p:nvSpPr>
        <p:spPr>
          <a:xfrm>
            <a:off x="22733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existing_supply5_price"/>
          <p:cNvSpPr txBox="1"/>
          <p:nvPr/>
        </p:nvSpPr>
        <p:spPr>
          <a:xfrm>
            <a:off x="2273300" y="27940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80.00</a:t>
            </a:r>
          </a:p>
        </p:txBody>
      </p:sp>
      <p:sp>
        <p:nvSpPr>
          <p:cNvPr id="58" name="existing_supply5_subtotal"/>
          <p:cNvSpPr/>
          <p:nvPr/>
        </p:nvSpPr>
        <p:spPr>
          <a:xfrm>
            <a:off x="2895600" y="27940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xisting_supply5_subtotal"/>
          <p:cNvSpPr txBox="1"/>
          <p:nvPr/>
        </p:nvSpPr>
        <p:spPr>
          <a:xfrm>
            <a:off x="2895600" y="27940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480.00</a:t>
            </a:r>
          </a:p>
        </p:txBody>
      </p:sp>
      <p:sp>
        <p:nvSpPr>
          <p:cNvPr id="60" name="Rectangle 59"/>
          <p:cNvSpPr/>
          <p:nvPr/>
        </p:nvSpPr>
        <p:spPr>
          <a:xfrm>
            <a:off x="647700" y="29591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Vouchers (pad)"/>
          <p:cNvSpPr txBox="1"/>
          <p:nvPr/>
        </p:nvSpPr>
        <p:spPr>
          <a:xfrm>
            <a:off x="647700" y="29591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Vouchers (pad)</a:t>
            </a:r>
          </a:p>
        </p:txBody>
      </p:sp>
      <p:sp>
        <p:nvSpPr>
          <p:cNvPr id="62" name="existing_supply6_qty"/>
          <p:cNvSpPr/>
          <p:nvPr/>
        </p:nvSpPr>
        <p:spPr>
          <a:xfrm>
            <a:off x="16510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existing_supply6_qty"/>
          <p:cNvSpPr txBox="1"/>
          <p:nvPr/>
        </p:nvSpPr>
        <p:spPr>
          <a:xfrm>
            <a:off x="1651000" y="29591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12</a:t>
            </a:r>
          </a:p>
        </p:txBody>
      </p:sp>
      <p:sp>
        <p:nvSpPr>
          <p:cNvPr id="64" name="existing_supply6_price"/>
          <p:cNvSpPr/>
          <p:nvPr/>
        </p:nvSpPr>
        <p:spPr>
          <a:xfrm>
            <a:off x="22733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existing_supply6_price"/>
          <p:cNvSpPr txBox="1"/>
          <p:nvPr/>
        </p:nvSpPr>
        <p:spPr>
          <a:xfrm>
            <a:off x="2273300" y="29591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60.00</a:t>
            </a:r>
          </a:p>
        </p:txBody>
      </p:sp>
      <p:sp>
        <p:nvSpPr>
          <p:cNvPr id="66" name="existing_supply6_subtotal"/>
          <p:cNvSpPr/>
          <p:nvPr/>
        </p:nvSpPr>
        <p:spPr>
          <a:xfrm>
            <a:off x="2895600" y="29591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xisting_supply6_subtotal"/>
          <p:cNvSpPr txBox="1"/>
          <p:nvPr/>
        </p:nvSpPr>
        <p:spPr>
          <a:xfrm>
            <a:off x="2895600" y="29591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720.00</a:t>
            </a:r>
          </a:p>
        </p:txBody>
      </p:sp>
      <p:sp>
        <p:nvSpPr>
          <p:cNvPr id="68" name="Rectangle 67"/>
          <p:cNvSpPr/>
          <p:nvPr/>
        </p:nvSpPr>
        <p:spPr>
          <a:xfrm>
            <a:off x="647700" y="31242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Ink (bottle)"/>
          <p:cNvSpPr txBox="1"/>
          <p:nvPr/>
        </p:nvSpPr>
        <p:spPr>
          <a:xfrm>
            <a:off x="647700" y="31242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Ink (bottle)</a:t>
            </a:r>
          </a:p>
        </p:txBody>
      </p:sp>
      <p:sp>
        <p:nvSpPr>
          <p:cNvPr id="70" name="existing_supply7_qty"/>
          <p:cNvSpPr/>
          <p:nvPr/>
        </p:nvSpPr>
        <p:spPr>
          <a:xfrm>
            <a:off x="1651000" y="31242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existing_supply7_qty"/>
          <p:cNvSpPr txBox="1"/>
          <p:nvPr/>
        </p:nvSpPr>
        <p:spPr>
          <a:xfrm>
            <a:off x="1651000" y="31242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6</a:t>
            </a:r>
          </a:p>
        </p:txBody>
      </p:sp>
      <p:sp>
        <p:nvSpPr>
          <p:cNvPr id="72" name="existing_supply7_price"/>
          <p:cNvSpPr/>
          <p:nvPr/>
        </p:nvSpPr>
        <p:spPr>
          <a:xfrm>
            <a:off x="2273300" y="31242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existing_supply7_price"/>
          <p:cNvSpPr txBox="1"/>
          <p:nvPr/>
        </p:nvSpPr>
        <p:spPr>
          <a:xfrm>
            <a:off x="2273300" y="31242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350.00</a:t>
            </a:r>
          </a:p>
        </p:txBody>
      </p:sp>
      <p:sp>
        <p:nvSpPr>
          <p:cNvPr id="74" name="existing_supply7_subtotal"/>
          <p:cNvSpPr/>
          <p:nvPr/>
        </p:nvSpPr>
        <p:spPr>
          <a:xfrm>
            <a:off x="2895600" y="31242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existing_supply7_subtotal"/>
          <p:cNvSpPr txBox="1"/>
          <p:nvPr/>
        </p:nvSpPr>
        <p:spPr>
          <a:xfrm>
            <a:off x="2895600" y="31242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2,100.00</a:t>
            </a:r>
          </a:p>
        </p:txBody>
      </p:sp>
      <p:sp>
        <p:nvSpPr>
          <p:cNvPr id="76" name="Rectangle 75"/>
          <p:cNvSpPr/>
          <p:nvPr/>
        </p:nvSpPr>
        <p:spPr>
          <a:xfrm>
            <a:off x="647700" y="3289300"/>
            <a:ext cx="2247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OTAL"/>
          <p:cNvSpPr txBox="1"/>
          <p:nvPr/>
        </p:nvSpPr>
        <p:spPr>
          <a:xfrm>
            <a:off x="647700" y="3289300"/>
            <a:ext cx="2247900" cy="1905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1">
                <a:solidFill>
                  <a:srgbClr val="000000"/>
                </a:solidFill>
                <a:latin typeface="Arial Narrow"/>
              </a:rPr>
              <a:t>TOTAL</a:t>
            </a:r>
          </a:p>
        </p:txBody>
      </p:sp>
      <p:sp>
        <p:nvSpPr>
          <p:cNvPr id="78" name="existing_supplies_total"/>
          <p:cNvSpPr/>
          <p:nvPr/>
        </p:nvSpPr>
        <p:spPr>
          <a:xfrm>
            <a:off x="2895600" y="3289300"/>
            <a:ext cx="774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existing_supplies_total"/>
          <p:cNvSpPr txBox="1"/>
          <p:nvPr/>
        </p:nvSpPr>
        <p:spPr>
          <a:xfrm>
            <a:off x="2895600" y="3289300"/>
            <a:ext cx="774700" cy="190500"/>
          </a:xfrm>
          <a:prstGeom prst="rect">
            <a:avLst/>
          </a:prstGeom>
          <a:noFill/>
        </p:spPr>
        <p:txBody>
          <a:bodyPr wrap="none" anchor="t" lIns="25400" rIns="25400" tIns="25400" bIns="25400">
            <a:spAutoFit/>
          </a:bodyPr>
          <a:lstStyle/>
          <a:p>
            <a:pPr algn="r">
              <a:lnSpc>
                <a:spcPts val="985"/>
              </a:lnSpc>
              <a:spcBef>
                <a:spcPts val="0"/>
              </a:spcBef>
              <a:spcAft>
                <a:spcPts val="0"/>
              </a:spcAft>
            </a:pPr>
            <a:r>
              <a:rPr sz="880" b="1">
                <a:solidFill>
                  <a:srgbClr val="000000"/>
                </a:solidFill>
                <a:latin typeface="Arial Narrow"/>
              </a:rPr>
              <a:t>7,500.00</a:t>
            </a:r>
          </a:p>
        </p:txBody>
      </p:sp>
      <p:sp>
        <p:nvSpPr>
          <p:cNvPr id="80" name="Rectangle 79"/>
          <p:cNvSpPr/>
          <p:nvPr/>
        </p:nvSpPr>
        <p:spPr>
          <a:xfrm>
            <a:off x="3886200" y="1803400"/>
            <a:ext cx="3022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ROPOSED SYSTEM"/>
          <p:cNvSpPr txBox="1"/>
          <p:nvPr/>
        </p:nvSpPr>
        <p:spPr>
          <a:xfrm>
            <a:off x="3886200" y="1803400"/>
            <a:ext cx="3022600" cy="165100"/>
          </a:xfrm>
          <a:prstGeom prst="rect">
            <a:avLst/>
          </a:prstGeom>
          <a:noFill/>
        </p:spPr>
        <p:txBody>
          <a:bodyPr wrap="none" anchor="t" lIns="11887" rIns="11887" tIns="11887" bIns="11887">
            <a:spAutoFit/>
          </a:bodyPr>
          <a:lstStyle/>
          <a:p>
            <a:pPr algn="ctr">
              <a:lnSpc>
                <a:spcPts val="1052"/>
              </a:lnSpc>
              <a:spcBef>
                <a:spcPts val="0"/>
              </a:spcBef>
              <a:spcAft>
                <a:spcPts val="0"/>
              </a:spcAft>
            </a:pPr>
            <a:r>
              <a:rPr sz="940" b="1">
                <a:solidFill>
                  <a:srgbClr val="000000"/>
                </a:solidFill>
                <a:latin typeface="Arial Narrow"/>
              </a:rPr>
              <a:t>PROPOSED SYSTEM</a:t>
            </a:r>
          </a:p>
        </p:txBody>
      </p:sp>
      <p:sp>
        <p:nvSpPr>
          <p:cNvPr id="82" name="Rectangle 81"/>
          <p:cNvSpPr/>
          <p:nvPr/>
        </p:nvSpPr>
        <p:spPr>
          <a:xfrm>
            <a:off x="3886200" y="1968500"/>
            <a:ext cx="1003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Description"/>
          <p:cNvSpPr txBox="1"/>
          <p:nvPr/>
        </p:nvSpPr>
        <p:spPr>
          <a:xfrm>
            <a:off x="3886200" y="19685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Description</a:t>
            </a:r>
          </a:p>
        </p:txBody>
      </p:sp>
      <p:sp>
        <p:nvSpPr>
          <p:cNvPr id="84" name="Rectangle 83"/>
          <p:cNvSpPr/>
          <p:nvPr/>
        </p:nvSpPr>
        <p:spPr>
          <a:xfrm>
            <a:off x="48895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Qty"/>
          <p:cNvSpPr txBox="1"/>
          <p:nvPr/>
        </p:nvSpPr>
        <p:spPr>
          <a:xfrm>
            <a:off x="48895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Qty</a:t>
            </a:r>
          </a:p>
        </p:txBody>
      </p:sp>
      <p:sp>
        <p:nvSpPr>
          <p:cNvPr id="86" name="Rectangle 85"/>
          <p:cNvSpPr/>
          <p:nvPr/>
        </p:nvSpPr>
        <p:spPr>
          <a:xfrm>
            <a:off x="5511800" y="1968500"/>
            <a:ext cx="6223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rice/Qty"/>
          <p:cNvSpPr txBox="1"/>
          <p:nvPr/>
        </p:nvSpPr>
        <p:spPr>
          <a:xfrm>
            <a:off x="5511800" y="1968500"/>
            <a:ext cx="622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Price/Qty</a:t>
            </a:r>
          </a:p>
        </p:txBody>
      </p:sp>
      <p:sp>
        <p:nvSpPr>
          <p:cNvPr id="88" name="Rectangle 87"/>
          <p:cNvSpPr/>
          <p:nvPr/>
        </p:nvSpPr>
        <p:spPr>
          <a:xfrm>
            <a:off x="6134100" y="1968500"/>
            <a:ext cx="7747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Sub_Total"/>
          <p:cNvSpPr txBox="1"/>
          <p:nvPr/>
        </p:nvSpPr>
        <p:spPr>
          <a:xfrm>
            <a:off x="6134100" y="1968500"/>
            <a:ext cx="7747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1">
                <a:solidFill>
                  <a:srgbClr val="000000"/>
                </a:solidFill>
                <a:latin typeface="Arial Narrow"/>
              </a:rPr>
              <a:t>Sub_Total</a:t>
            </a:r>
          </a:p>
        </p:txBody>
      </p:sp>
      <p:sp>
        <p:nvSpPr>
          <p:cNvPr id="90" name="Rectangle 89"/>
          <p:cNvSpPr/>
          <p:nvPr/>
        </p:nvSpPr>
        <p:spPr>
          <a:xfrm>
            <a:off x="3886200" y="21336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olders (bundle)"/>
          <p:cNvSpPr txBox="1"/>
          <p:nvPr/>
        </p:nvSpPr>
        <p:spPr>
          <a:xfrm>
            <a:off x="3886200" y="21336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Folders (bundle)</a:t>
            </a:r>
          </a:p>
        </p:txBody>
      </p:sp>
      <p:sp>
        <p:nvSpPr>
          <p:cNvPr id="92" name="proposed_supply1_qty"/>
          <p:cNvSpPr/>
          <p:nvPr/>
        </p:nvSpPr>
        <p:spPr>
          <a:xfrm>
            <a:off x="48895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roposed_supply1_qty"/>
          <p:cNvSpPr txBox="1"/>
          <p:nvPr/>
        </p:nvSpPr>
        <p:spPr>
          <a:xfrm>
            <a:off x="4889500" y="21336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2</a:t>
            </a:r>
          </a:p>
        </p:txBody>
      </p:sp>
      <p:sp>
        <p:nvSpPr>
          <p:cNvPr id="94" name="proposed_supply1_price"/>
          <p:cNvSpPr/>
          <p:nvPr/>
        </p:nvSpPr>
        <p:spPr>
          <a:xfrm>
            <a:off x="5511800" y="21336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proposed_supply1_price"/>
          <p:cNvSpPr txBox="1"/>
          <p:nvPr/>
        </p:nvSpPr>
        <p:spPr>
          <a:xfrm>
            <a:off x="5511800" y="21336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150.00</a:t>
            </a:r>
          </a:p>
        </p:txBody>
      </p:sp>
      <p:sp>
        <p:nvSpPr>
          <p:cNvPr id="96" name="proposed_supply1_subtotal"/>
          <p:cNvSpPr/>
          <p:nvPr/>
        </p:nvSpPr>
        <p:spPr>
          <a:xfrm>
            <a:off x="6134100" y="21336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proposed_supply1_subtotal"/>
          <p:cNvSpPr txBox="1"/>
          <p:nvPr/>
        </p:nvSpPr>
        <p:spPr>
          <a:xfrm>
            <a:off x="6134100" y="21336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300.00</a:t>
            </a:r>
          </a:p>
        </p:txBody>
      </p:sp>
      <p:sp>
        <p:nvSpPr>
          <p:cNvPr id="98" name="Rectangle 97"/>
          <p:cNvSpPr/>
          <p:nvPr/>
        </p:nvSpPr>
        <p:spPr>
          <a:xfrm>
            <a:off x="3886200" y="22987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Ballpen (box)"/>
          <p:cNvSpPr txBox="1"/>
          <p:nvPr/>
        </p:nvSpPr>
        <p:spPr>
          <a:xfrm>
            <a:off x="3886200" y="22987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Ballpen (box)</a:t>
            </a:r>
          </a:p>
        </p:txBody>
      </p:sp>
      <p:sp>
        <p:nvSpPr>
          <p:cNvPr id="100" name="proposed_supply2_qty"/>
          <p:cNvSpPr/>
          <p:nvPr/>
        </p:nvSpPr>
        <p:spPr>
          <a:xfrm>
            <a:off x="48895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proposed_supply2_qty"/>
          <p:cNvSpPr txBox="1"/>
          <p:nvPr/>
        </p:nvSpPr>
        <p:spPr>
          <a:xfrm>
            <a:off x="4889500" y="22987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2</a:t>
            </a:r>
          </a:p>
        </p:txBody>
      </p:sp>
      <p:sp>
        <p:nvSpPr>
          <p:cNvPr id="102" name="proposed_supply2_price"/>
          <p:cNvSpPr/>
          <p:nvPr/>
        </p:nvSpPr>
        <p:spPr>
          <a:xfrm>
            <a:off x="5511800" y="22987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proposed_supply2_price"/>
          <p:cNvSpPr txBox="1"/>
          <p:nvPr/>
        </p:nvSpPr>
        <p:spPr>
          <a:xfrm>
            <a:off x="5511800" y="22987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150.00</a:t>
            </a:r>
          </a:p>
        </p:txBody>
      </p:sp>
      <p:sp>
        <p:nvSpPr>
          <p:cNvPr id="104" name="proposed_supply2_subtotal"/>
          <p:cNvSpPr/>
          <p:nvPr/>
        </p:nvSpPr>
        <p:spPr>
          <a:xfrm>
            <a:off x="6134100" y="22987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proposed_supply2_subtotal"/>
          <p:cNvSpPr txBox="1"/>
          <p:nvPr/>
        </p:nvSpPr>
        <p:spPr>
          <a:xfrm>
            <a:off x="6134100" y="22987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300.00</a:t>
            </a:r>
          </a:p>
        </p:txBody>
      </p:sp>
      <p:sp>
        <p:nvSpPr>
          <p:cNvPr id="106" name="Rectangle 105"/>
          <p:cNvSpPr/>
          <p:nvPr/>
        </p:nvSpPr>
        <p:spPr>
          <a:xfrm>
            <a:off x="3886200" y="24638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ond Papers (ream)"/>
          <p:cNvSpPr txBox="1"/>
          <p:nvPr/>
        </p:nvSpPr>
        <p:spPr>
          <a:xfrm>
            <a:off x="3886200" y="24638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Bond Papers (ream)</a:t>
            </a:r>
          </a:p>
        </p:txBody>
      </p:sp>
      <p:sp>
        <p:nvSpPr>
          <p:cNvPr id="108" name="proposed_supply3_qty"/>
          <p:cNvSpPr/>
          <p:nvPr/>
        </p:nvSpPr>
        <p:spPr>
          <a:xfrm>
            <a:off x="48895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proposed_supply3_qty"/>
          <p:cNvSpPr txBox="1"/>
          <p:nvPr/>
        </p:nvSpPr>
        <p:spPr>
          <a:xfrm>
            <a:off x="4889500" y="24638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4</a:t>
            </a:r>
          </a:p>
        </p:txBody>
      </p:sp>
      <p:sp>
        <p:nvSpPr>
          <p:cNvPr id="110" name="proposed_supply3_price"/>
          <p:cNvSpPr/>
          <p:nvPr/>
        </p:nvSpPr>
        <p:spPr>
          <a:xfrm>
            <a:off x="5511800" y="24638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proposed_supply3_price"/>
          <p:cNvSpPr txBox="1"/>
          <p:nvPr/>
        </p:nvSpPr>
        <p:spPr>
          <a:xfrm>
            <a:off x="5511800" y="24638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250.00</a:t>
            </a:r>
          </a:p>
        </p:txBody>
      </p:sp>
      <p:sp>
        <p:nvSpPr>
          <p:cNvPr id="112" name="proposed_supply3_subtotal"/>
          <p:cNvSpPr/>
          <p:nvPr/>
        </p:nvSpPr>
        <p:spPr>
          <a:xfrm>
            <a:off x="6134100" y="24638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proposed_supply3_subtotal"/>
          <p:cNvSpPr txBox="1"/>
          <p:nvPr/>
        </p:nvSpPr>
        <p:spPr>
          <a:xfrm>
            <a:off x="6134100" y="24638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1,000.00</a:t>
            </a:r>
          </a:p>
        </p:txBody>
      </p:sp>
      <p:sp>
        <p:nvSpPr>
          <p:cNvPr id="114" name="Rectangle 113"/>
          <p:cNvSpPr/>
          <p:nvPr/>
        </p:nvSpPr>
        <p:spPr>
          <a:xfrm>
            <a:off x="3886200" y="26289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ord Book (pc)"/>
          <p:cNvSpPr txBox="1"/>
          <p:nvPr/>
        </p:nvSpPr>
        <p:spPr>
          <a:xfrm>
            <a:off x="3886200" y="26289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Record Book (pc)</a:t>
            </a:r>
          </a:p>
        </p:txBody>
      </p:sp>
      <p:sp>
        <p:nvSpPr>
          <p:cNvPr id="116" name="proposed_supply4_qty"/>
          <p:cNvSpPr/>
          <p:nvPr/>
        </p:nvSpPr>
        <p:spPr>
          <a:xfrm>
            <a:off x="48895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proposed_supply4_qty"/>
          <p:cNvSpPr txBox="1"/>
          <p:nvPr/>
        </p:nvSpPr>
        <p:spPr>
          <a:xfrm>
            <a:off x="4889500" y="26289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2</a:t>
            </a:r>
          </a:p>
        </p:txBody>
      </p:sp>
      <p:sp>
        <p:nvSpPr>
          <p:cNvPr id="118" name="proposed_supply4_price"/>
          <p:cNvSpPr/>
          <p:nvPr/>
        </p:nvSpPr>
        <p:spPr>
          <a:xfrm>
            <a:off x="5511800" y="26289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proposed_supply4_price"/>
          <p:cNvSpPr txBox="1"/>
          <p:nvPr/>
        </p:nvSpPr>
        <p:spPr>
          <a:xfrm>
            <a:off x="5511800" y="26289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80.00</a:t>
            </a:r>
          </a:p>
        </p:txBody>
      </p:sp>
      <p:sp>
        <p:nvSpPr>
          <p:cNvPr id="120" name="proposed_supply4_subtotal"/>
          <p:cNvSpPr/>
          <p:nvPr/>
        </p:nvSpPr>
        <p:spPr>
          <a:xfrm>
            <a:off x="6134100" y="26289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proposed_supply4_subtotal"/>
          <p:cNvSpPr txBox="1"/>
          <p:nvPr/>
        </p:nvSpPr>
        <p:spPr>
          <a:xfrm>
            <a:off x="6134100" y="26289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160.00</a:t>
            </a:r>
          </a:p>
        </p:txBody>
      </p:sp>
      <p:sp>
        <p:nvSpPr>
          <p:cNvPr id="122" name="Rectangle 121"/>
          <p:cNvSpPr/>
          <p:nvPr/>
        </p:nvSpPr>
        <p:spPr>
          <a:xfrm>
            <a:off x="3886200" y="27940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USB (piece)"/>
          <p:cNvSpPr txBox="1"/>
          <p:nvPr/>
        </p:nvSpPr>
        <p:spPr>
          <a:xfrm>
            <a:off x="3886200" y="27940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USB (piece)</a:t>
            </a:r>
          </a:p>
        </p:txBody>
      </p:sp>
      <p:sp>
        <p:nvSpPr>
          <p:cNvPr id="124" name="proposed_supply5_qty"/>
          <p:cNvSpPr/>
          <p:nvPr/>
        </p:nvSpPr>
        <p:spPr>
          <a:xfrm>
            <a:off x="48895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proposed_supply5_qty"/>
          <p:cNvSpPr txBox="1"/>
          <p:nvPr/>
        </p:nvSpPr>
        <p:spPr>
          <a:xfrm>
            <a:off x="4889500" y="27940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0</a:t>
            </a:r>
          </a:p>
        </p:txBody>
      </p:sp>
      <p:sp>
        <p:nvSpPr>
          <p:cNvPr id="126" name="proposed_supply5_price"/>
          <p:cNvSpPr/>
          <p:nvPr/>
        </p:nvSpPr>
        <p:spPr>
          <a:xfrm>
            <a:off x="5511800" y="27940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proposed_supply5_price"/>
          <p:cNvSpPr txBox="1"/>
          <p:nvPr/>
        </p:nvSpPr>
        <p:spPr>
          <a:xfrm>
            <a:off x="5511800" y="27940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400.00</a:t>
            </a:r>
          </a:p>
        </p:txBody>
      </p:sp>
      <p:sp>
        <p:nvSpPr>
          <p:cNvPr id="128" name="proposed_supply5_subtotal"/>
          <p:cNvSpPr/>
          <p:nvPr/>
        </p:nvSpPr>
        <p:spPr>
          <a:xfrm>
            <a:off x="6134100" y="27940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proposed_supply5_subtotal"/>
          <p:cNvSpPr txBox="1"/>
          <p:nvPr/>
        </p:nvSpPr>
        <p:spPr>
          <a:xfrm>
            <a:off x="6134100" y="27940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0.00</a:t>
            </a:r>
          </a:p>
        </p:txBody>
      </p:sp>
      <p:sp>
        <p:nvSpPr>
          <p:cNvPr id="130" name="Rectangle 129"/>
          <p:cNvSpPr/>
          <p:nvPr/>
        </p:nvSpPr>
        <p:spPr>
          <a:xfrm>
            <a:off x="3886200" y="2959100"/>
            <a:ext cx="1003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Ink (bottle)"/>
          <p:cNvSpPr txBox="1"/>
          <p:nvPr/>
        </p:nvSpPr>
        <p:spPr>
          <a:xfrm>
            <a:off x="3886200" y="2959100"/>
            <a:ext cx="1003300" cy="165100"/>
          </a:xfrm>
          <a:prstGeom prst="rect">
            <a:avLst/>
          </a:prstGeom>
          <a:noFill/>
        </p:spPr>
        <p:txBody>
          <a:bodyPr wrap="none" anchor="t" lIns="16154" rIns="16154" tIns="16154" bIns="16154">
            <a:spAutoFit/>
          </a:bodyPr>
          <a:lstStyle/>
          <a:p>
            <a:pPr algn="l">
              <a:lnSpc>
                <a:spcPts val="985"/>
              </a:lnSpc>
              <a:spcBef>
                <a:spcPts val="0"/>
              </a:spcBef>
              <a:spcAft>
                <a:spcPts val="0"/>
              </a:spcAft>
            </a:pPr>
            <a:r>
              <a:rPr sz="880" b="0">
                <a:solidFill>
                  <a:srgbClr val="000000"/>
                </a:solidFill>
                <a:latin typeface="Arial Narrow"/>
              </a:rPr>
              <a:t>Ink (bottle)</a:t>
            </a:r>
          </a:p>
        </p:txBody>
      </p:sp>
      <p:sp>
        <p:nvSpPr>
          <p:cNvPr id="132" name="proposed_supply6_qty"/>
          <p:cNvSpPr/>
          <p:nvPr/>
        </p:nvSpPr>
        <p:spPr>
          <a:xfrm>
            <a:off x="48895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roposed_supply6_qty"/>
          <p:cNvSpPr txBox="1"/>
          <p:nvPr/>
        </p:nvSpPr>
        <p:spPr>
          <a:xfrm>
            <a:off x="4889500" y="2959100"/>
            <a:ext cx="622300" cy="165100"/>
          </a:xfrm>
          <a:prstGeom prst="rect">
            <a:avLst/>
          </a:prstGeom>
          <a:noFill/>
        </p:spPr>
        <p:txBody>
          <a:bodyPr wrap="none" anchor="t" lIns="16154" rIns="16154" tIns="16154" bIns="16154">
            <a:spAutoFit/>
          </a:bodyPr>
          <a:lstStyle/>
          <a:p>
            <a:pPr algn="ctr">
              <a:lnSpc>
                <a:spcPts val="985"/>
              </a:lnSpc>
              <a:spcBef>
                <a:spcPts val="0"/>
              </a:spcBef>
              <a:spcAft>
                <a:spcPts val="0"/>
              </a:spcAft>
            </a:pPr>
            <a:r>
              <a:rPr sz="880" b="0">
                <a:solidFill>
                  <a:srgbClr val="000000"/>
                </a:solidFill>
                <a:latin typeface="Arial Narrow"/>
              </a:rPr>
              <a:t>3</a:t>
            </a:r>
          </a:p>
        </p:txBody>
      </p:sp>
      <p:sp>
        <p:nvSpPr>
          <p:cNvPr id="134" name="proposed_supply6_price"/>
          <p:cNvSpPr/>
          <p:nvPr/>
        </p:nvSpPr>
        <p:spPr>
          <a:xfrm>
            <a:off x="5511800" y="2959100"/>
            <a:ext cx="6223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proposed_supply6_price"/>
          <p:cNvSpPr txBox="1"/>
          <p:nvPr/>
        </p:nvSpPr>
        <p:spPr>
          <a:xfrm>
            <a:off x="5511800" y="2959100"/>
            <a:ext cx="6223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350.00</a:t>
            </a:r>
          </a:p>
        </p:txBody>
      </p:sp>
      <p:sp>
        <p:nvSpPr>
          <p:cNvPr id="136" name="proposed_supply6_subtotal"/>
          <p:cNvSpPr/>
          <p:nvPr/>
        </p:nvSpPr>
        <p:spPr>
          <a:xfrm>
            <a:off x="6134100" y="2959100"/>
            <a:ext cx="774700" cy="1651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proposed_supply6_subtotal"/>
          <p:cNvSpPr txBox="1"/>
          <p:nvPr/>
        </p:nvSpPr>
        <p:spPr>
          <a:xfrm>
            <a:off x="6134100" y="2959100"/>
            <a:ext cx="774700" cy="165100"/>
          </a:xfrm>
          <a:prstGeom prst="rect">
            <a:avLst/>
          </a:prstGeom>
          <a:noFill/>
        </p:spPr>
        <p:txBody>
          <a:bodyPr wrap="none" anchor="t" lIns="16154" rIns="16154" tIns="16154" bIns="16154">
            <a:spAutoFit/>
          </a:bodyPr>
          <a:lstStyle/>
          <a:p>
            <a:pPr algn="r">
              <a:lnSpc>
                <a:spcPts val="985"/>
              </a:lnSpc>
              <a:spcBef>
                <a:spcPts val="0"/>
              </a:spcBef>
              <a:spcAft>
                <a:spcPts val="0"/>
              </a:spcAft>
            </a:pPr>
            <a:r>
              <a:rPr sz="880" b="0">
                <a:solidFill>
                  <a:srgbClr val="000000"/>
                </a:solidFill>
                <a:latin typeface="Arial Narrow"/>
              </a:rPr>
              <a:t>1,050.00</a:t>
            </a:r>
          </a:p>
        </p:txBody>
      </p:sp>
      <p:sp>
        <p:nvSpPr>
          <p:cNvPr id="138" name="Rectangle 137"/>
          <p:cNvSpPr/>
          <p:nvPr/>
        </p:nvSpPr>
        <p:spPr>
          <a:xfrm>
            <a:off x="3886200" y="3289300"/>
            <a:ext cx="2247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OTAL"/>
          <p:cNvSpPr txBox="1"/>
          <p:nvPr/>
        </p:nvSpPr>
        <p:spPr>
          <a:xfrm>
            <a:off x="3886200" y="3289300"/>
            <a:ext cx="2247900" cy="1905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1">
                <a:solidFill>
                  <a:srgbClr val="000000"/>
                </a:solidFill>
                <a:latin typeface="Arial Narrow"/>
              </a:rPr>
              <a:t>TOTAL</a:t>
            </a:r>
          </a:p>
        </p:txBody>
      </p:sp>
      <p:sp>
        <p:nvSpPr>
          <p:cNvPr id="140" name="proposed_supplies_total"/>
          <p:cNvSpPr/>
          <p:nvPr/>
        </p:nvSpPr>
        <p:spPr>
          <a:xfrm>
            <a:off x="6134100" y="3289300"/>
            <a:ext cx="774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roposed_supplies_total"/>
          <p:cNvSpPr txBox="1"/>
          <p:nvPr/>
        </p:nvSpPr>
        <p:spPr>
          <a:xfrm>
            <a:off x="6134100" y="3289300"/>
            <a:ext cx="774700" cy="190500"/>
          </a:xfrm>
          <a:prstGeom prst="rect">
            <a:avLst/>
          </a:prstGeom>
          <a:noFill/>
        </p:spPr>
        <p:txBody>
          <a:bodyPr wrap="none" anchor="t" lIns="25400" rIns="25400" tIns="25400" bIns="25400">
            <a:spAutoFit/>
          </a:bodyPr>
          <a:lstStyle/>
          <a:p>
            <a:pPr algn="r">
              <a:lnSpc>
                <a:spcPts val="985"/>
              </a:lnSpc>
              <a:spcBef>
                <a:spcPts val="0"/>
              </a:spcBef>
              <a:spcAft>
                <a:spcPts val="0"/>
              </a:spcAft>
            </a:pPr>
            <a:r>
              <a:rPr sz="880" b="1">
                <a:solidFill>
                  <a:srgbClr val="000000"/>
                </a:solidFill>
                <a:latin typeface="Arial Narrow"/>
              </a:rPr>
              <a:t>2,810.00</a:t>
            </a:r>
          </a:p>
        </p:txBody>
      </p:sp>
      <p:sp>
        <p:nvSpPr>
          <p:cNvPr id="142" name="Supplies Cost Reduction = Total Supplies of the Existing System −"/>
          <p:cNvSpPr txBox="1"/>
          <p:nvPr/>
        </p:nvSpPr>
        <p:spPr>
          <a:xfrm>
            <a:off x="647700" y="3517900"/>
            <a:ext cx="6261100" cy="190500"/>
          </a:xfrm>
          <a:prstGeom prst="rect">
            <a:avLst/>
          </a:prstGeom>
          <a:noFill/>
        </p:spPr>
        <p:txBody>
          <a:bodyPr wrap="none" anchor="t" lIns="25400" rIns="25400" tIns="25400" bIns="25400">
            <a:spAutoFit/>
          </a:bodyPr>
          <a:lstStyle/>
          <a:p>
            <a:pPr algn="l">
              <a:lnSpc>
                <a:spcPts val="985"/>
              </a:lnSpc>
              <a:spcBef>
                <a:spcPts val="0"/>
              </a:spcBef>
              <a:spcAft>
                <a:spcPts val="0"/>
              </a:spcAft>
            </a:pPr>
            <a:r>
              <a:rPr sz="880" b="1">
                <a:solidFill>
                  <a:srgbClr val="000000"/>
                </a:solidFill>
                <a:latin typeface="Arial Narrow"/>
              </a:rPr>
              <a:t>Supplies Cost Reduction = Total Supplies of the Existing System − Total Supplies of the Proposed System</a:t>
            </a:r>
          </a:p>
        </p:txBody>
      </p:sp>
      <p:sp>
        <p:nvSpPr>
          <p:cNvPr id="143" name="Rectangle 142"/>
          <p:cNvSpPr/>
          <p:nvPr/>
        </p:nvSpPr>
        <p:spPr>
          <a:xfrm>
            <a:off x="647700" y="3708400"/>
            <a:ext cx="5295900" cy="2032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Supplies Cost Reduction"/>
          <p:cNvSpPr txBox="1"/>
          <p:nvPr/>
        </p:nvSpPr>
        <p:spPr>
          <a:xfrm>
            <a:off x="647700" y="3708400"/>
            <a:ext cx="5295900" cy="203200"/>
          </a:xfrm>
          <a:prstGeom prst="rect">
            <a:avLst/>
          </a:prstGeom>
          <a:noFill/>
        </p:spPr>
        <p:txBody>
          <a:bodyPr wrap="none" anchor="t" lIns="25400" rIns="25400" tIns="25400" bIns="25400">
            <a:spAutoFit/>
          </a:bodyPr>
          <a:lstStyle/>
          <a:p>
            <a:pPr algn="l">
              <a:lnSpc>
                <a:spcPts val="1041"/>
              </a:lnSpc>
              <a:spcBef>
                <a:spcPts val="0"/>
              </a:spcBef>
              <a:spcAft>
                <a:spcPts val="0"/>
              </a:spcAft>
            </a:pPr>
            <a:r>
              <a:rPr sz="930" b="1">
                <a:solidFill>
                  <a:srgbClr val="000000"/>
                </a:solidFill>
                <a:latin typeface="Arial Narrow"/>
              </a:rPr>
              <a:t>Supplies Cost Reduction</a:t>
            </a:r>
          </a:p>
        </p:txBody>
      </p:sp>
      <p:sp>
        <p:nvSpPr>
          <p:cNvPr id="145" name="supplies_reduction"/>
          <p:cNvSpPr/>
          <p:nvPr/>
        </p:nvSpPr>
        <p:spPr>
          <a:xfrm>
            <a:off x="5943600" y="3708400"/>
            <a:ext cx="965200" cy="2032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supplies_reduction"/>
          <p:cNvSpPr txBox="1"/>
          <p:nvPr/>
        </p:nvSpPr>
        <p:spPr>
          <a:xfrm>
            <a:off x="5943600" y="3708400"/>
            <a:ext cx="965200" cy="203200"/>
          </a:xfrm>
          <a:prstGeom prst="rect">
            <a:avLst/>
          </a:prstGeom>
          <a:noFill/>
        </p:spPr>
        <p:txBody>
          <a:bodyPr wrap="none" anchor="t" lIns="25400" rIns="25400" tIns="25400" bIns="25400">
            <a:spAutoFit/>
          </a:bodyPr>
          <a:lstStyle/>
          <a:p>
            <a:pPr algn="r">
              <a:lnSpc>
                <a:spcPts val="1041"/>
              </a:lnSpc>
              <a:spcBef>
                <a:spcPts val="0"/>
              </a:spcBef>
              <a:spcAft>
                <a:spcPts val="0"/>
              </a:spcAft>
            </a:pPr>
            <a:r>
              <a:rPr sz="930" b="1">
                <a:solidFill>
                  <a:srgbClr val="000000"/>
                </a:solidFill>
                <a:latin typeface="Arial Narrow"/>
              </a:rPr>
              <a:t>4,690.00</a:t>
            </a:r>
          </a:p>
        </p:txBody>
      </p:sp>
      <p:sp>
        <p:nvSpPr>
          <p:cNvPr id="147" name="B. LABOR AND PRODUCTIVITY VALUE"/>
          <p:cNvSpPr txBox="1"/>
          <p:nvPr/>
        </p:nvSpPr>
        <p:spPr>
          <a:xfrm>
            <a:off x="647700" y="4038600"/>
            <a:ext cx="6261100" cy="190500"/>
          </a:xfrm>
          <a:prstGeom prst="rect">
            <a:avLst/>
          </a:prstGeom>
          <a:noFill/>
        </p:spPr>
        <p:txBody>
          <a:bodyPr wrap="none" anchor="t" lIns="20319" rIns="20319" tIns="20319" bIns="20319">
            <a:spAutoFit/>
          </a:bodyPr>
          <a:lstStyle/>
          <a:p>
            <a:pPr algn="l">
              <a:lnSpc>
                <a:spcPts val="1120"/>
              </a:lnSpc>
              <a:spcBef>
                <a:spcPts val="0"/>
              </a:spcBef>
              <a:spcAft>
                <a:spcPts val="0"/>
              </a:spcAft>
            </a:pPr>
            <a:r>
              <a:rPr sz="1000" b="1">
                <a:solidFill>
                  <a:srgbClr val="000000"/>
                </a:solidFill>
                <a:latin typeface="Arial Narrow"/>
              </a:rPr>
              <a:t>B. LABOR AND PRODUCTIVITY VALUE</a:t>
            </a:r>
          </a:p>
        </p:txBody>
      </p:sp>
      <p:sp>
        <p:nvSpPr>
          <p:cNvPr id="148" name="Rectangle 147"/>
          <p:cNvSpPr/>
          <p:nvPr/>
        </p:nvSpPr>
        <p:spPr>
          <a:xfrm>
            <a:off x="647700" y="4279900"/>
            <a:ext cx="2895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EXISTING SYSTEM"/>
          <p:cNvSpPr txBox="1"/>
          <p:nvPr/>
        </p:nvSpPr>
        <p:spPr>
          <a:xfrm>
            <a:off x="647700" y="4279900"/>
            <a:ext cx="2895600" cy="165100"/>
          </a:xfrm>
          <a:prstGeom prst="rect">
            <a:avLst/>
          </a:prstGeom>
          <a:noFill/>
        </p:spPr>
        <p:txBody>
          <a:bodyPr wrap="none" anchor="t" lIns="12598" rIns="12598" tIns="12598" bIns="12598">
            <a:spAutoFit/>
          </a:bodyPr>
          <a:lstStyle/>
          <a:p>
            <a:pPr algn="ctr">
              <a:lnSpc>
                <a:spcPts val="1041"/>
              </a:lnSpc>
              <a:spcBef>
                <a:spcPts val="0"/>
              </a:spcBef>
              <a:spcAft>
                <a:spcPts val="0"/>
              </a:spcAft>
            </a:pPr>
            <a:r>
              <a:rPr sz="930" b="1">
                <a:solidFill>
                  <a:srgbClr val="000000"/>
                </a:solidFill>
                <a:latin typeface="Arial Narrow"/>
              </a:rPr>
              <a:t>EXISTING SYSTEM</a:t>
            </a:r>
          </a:p>
        </p:txBody>
      </p:sp>
      <p:sp>
        <p:nvSpPr>
          <p:cNvPr id="150" name="Rectangle 149"/>
          <p:cNvSpPr/>
          <p:nvPr/>
        </p:nvSpPr>
        <p:spPr>
          <a:xfrm>
            <a:off x="647700" y="4445000"/>
            <a:ext cx="10922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ctivity"/>
          <p:cNvSpPr txBox="1"/>
          <p:nvPr/>
        </p:nvSpPr>
        <p:spPr>
          <a:xfrm>
            <a:off x="647700" y="4445000"/>
            <a:ext cx="10922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Activity</a:t>
            </a:r>
          </a:p>
        </p:txBody>
      </p:sp>
      <p:sp>
        <p:nvSpPr>
          <p:cNvPr id="152" name="Rectangle 151"/>
          <p:cNvSpPr/>
          <p:nvPr/>
        </p:nvSpPr>
        <p:spPr>
          <a:xfrm>
            <a:off x="17399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llocated Cost/&#10;Month"/>
          <p:cNvSpPr txBox="1"/>
          <p:nvPr/>
        </p:nvSpPr>
        <p:spPr>
          <a:xfrm>
            <a:off x="17399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Allocated Cost/</a:t>
            </a:r>
          </a:p>
          <a:p>
            <a:pPr algn="l">
              <a:lnSpc>
                <a:spcPts val="1008"/>
              </a:lnSpc>
              <a:spcBef>
                <a:spcPts val="0"/>
              </a:spcBef>
              <a:spcAft>
                <a:spcPts val="0"/>
              </a:spcAft>
            </a:pPr>
            <a:r>
              <a:rPr sz="900" b="1">
                <a:solidFill>
                  <a:srgbClr val="000000"/>
                </a:solidFill>
                <a:latin typeface="Arial Narrow"/>
              </a:rPr>
              <a:t>Month</a:t>
            </a:r>
          </a:p>
        </p:txBody>
      </p:sp>
      <p:sp>
        <p:nvSpPr>
          <p:cNvPr id="154" name="Rectangle 153"/>
          <p:cNvSpPr/>
          <p:nvPr/>
        </p:nvSpPr>
        <p:spPr>
          <a:xfrm>
            <a:off x="26416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Annual"/>
          <p:cNvSpPr txBox="1"/>
          <p:nvPr/>
        </p:nvSpPr>
        <p:spPr>
          <a:xfrm>
            <a:off x="26416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a:t>
            </a:r>
          </a:p>
        </p:txBody>
      </p:sp>
      <p:sp>
        <p:nvSpPr>
          <p:cNvPr id="156" name="Rectangle 155"/>
          <p:cNvSpPr/>
          <p:nvPr/>
        </p:nvSpPr>
        <p:spPr>
          <a:xfrm>
            <a:off x="647700" y="4762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Inventory monitoring"/>
          <p:cNvSpPr txBox="1"/>
          <p:nvPr/>
        </p:nvSpPr>
        <p:spPr>
          <a:xfrm>
            <a:off x="647700" y="4762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Inventory monitoring</a:t>
            </a:r>
          </a:p>
        </p:txBody>
      </p:sp>
      <p:sp>
        <p:nvSpPr>
          <p:cNvPr id="158" name="existing_labor1_monthly"/>
          <p:cNvSpPr/>
          <p:nvPr/>
        </p:nvSpPr>
        <p:spPr>
          <a:xfrm>
            <a:off x="17399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existing_labor1_monthly"/>
          <p:cNvSpPr txBox="1"/>
          <p:nvPr/>
        </p:nvSpPr>
        <p:spPr>
          <a:xfrm>
            <a:off x="1739900" y="4762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6,000.00</a:t>
            </a:r>
          </a:p>
        </p:txBody>
      </p:sp>
      <p:sp>
        <p:nvSpPr>
          <p:cNvPr id="160" name="existing_labor1_annual"/>
          <p:cNvSpPr/>
          <p:nvPr/>
        </p:nvSpPr>
        <p:spPr>
          <a:xfrm>
            <a:off x="26416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existing_labor1_annual"/>
          <p:cNvSpPr txBox="1"/>
          <p:nvPr/>
        </p:nvSpPr>
        <p:spPr>
          <a:xfrm>
            <a:off x="2641600" y="4762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72,000.00</a:t>
            </a:r>
          </a:p>
        </p:txBody>
      </p:sp>
      <p:sp>
        <p:nvSpPr>
          <p:cNvPr id="162" name="Rectangle 161"/>
          <p:cNvSpPr/>
          <p:nvPr/>
        </p:nvSpPr>
        <p:spPr>
          <a:xfrm>
            <a:off x="647700" y="49530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port preparation"/>
          <p:cNvSpPr txBox="1"/>
          <p:nvPr/>
        </p:nvSpPr>
        <p:spPr>
          <a:xfrm>
            <a:off x="647700" y="49530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Report preparation</a:t>
            </a:r>
          </a:p>
        </p:txBody>
      </p:sp>
      <p:sp>
        <p:nvSpPr>
          <p:cNvPr id="164" name="existing_labor2_monthly"/>
          <p:cNvSpPr/>
          <p:nvPr/>
        </p:nvSpPr>
        <p:spPr>
          <a:xfrm>
            <a:off x="17399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existing_labor2_monthly"/>
          <p:cNvSpPr txBox="1"/>
          <p:nvPr/>
        </p:nvSpPr>
        <p:spPr>
          <a:xfrm>
            <a:off x="1739900" y="49530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2,400.00</a:t>
            </a:r>
          </a:p>
        </p:txBody>
      </p:sp>
      <p:sp>
        <p:nvSpPr>
          <p:cNvPr id="166" name="existing_labor2_annual"/>
          <p:cNvSpPr/>
          <p:nvPr/>
        </p:nvSpPr>
        <p:spPr>
          <a:xfrm>
            <a:off x="26416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existing_labor2_annual"/>
          <p:cNvSpPr txBox="1"/>
          <p:nvPr/>
        </p:nvSpPr>
        <p:spPr>
          <a:xfrm>
            <a:off x="2641600" y="49530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28,800.00</a:t>
            </a:r>
          </a:p>
        </p:txBody>
      </p:sp>
      <p:sp>
        <p:nvSpPr>
          <p:cNvPr id="168" name="Rectangle 167"/>
          <p:cNvSpPr/>
          <p:nvPr/>
        </p:nvSpPr>
        <p:spPr>
          <a:xfrm>
            <a:off x="647700" y="5143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onciliation / follow-up"/>
          <p:cNvSpPr txBox="1"/>
          <p:nvPr/>
        </p:nvSpPr>
        <p:spPr>
          <a:xfrm>
            <a:off x="647700" y="5143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Reconciliation / follow-up</a:t>
            </a:r>
          </a:p>
        </p:txBody>
      </p:sp>
      <p:sp>
        <p:nvSpPr>
          <p:cNvPr id="170" name="existing_labor3_monthly"/>
          <p:cNvSpPr/>
          <p:nvPr/>
        </p:nvSpPr>
        <p:spPr>
          <a:xfrm>
            <a:off x="17399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existing_labor3_monthly"/>
          <p:cNvSpPr txBox="1"/>
          <p:nvPr/>
        </p:nvSpPr>
        <p:spPr>
          <a:xfrm>
            <a:off x="1739900" y="5143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3,600.00</a:t>
            </a:r>
          </a:p>
        </p:txBody>
      </p:sp>
      <p:sp>
        <p:nvSpPr>
          <p:cNvPr id="172" name="existing_labor3_annual"/>
          <p:cNvSpPr/>
          <p:nvPr/>
        </p:nvSpPr>
        <p:spPr>
          <a:xfrm>
            <a:off x="26416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existing_labor3_annual"/>
          <p:cNvSpPr txBox="1"/>
          <p:nvPr/>
        </p:nvSpPr>
        <p:spPr>
          <a:xfrm>
            <a:off x="2641600" y="5143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43,200.00</a:t>
            </a:r>
          </a:p>
        </p:txBody>
      </p:sp>
      <p:sp>
        <p:nvSpPr>
          <p:cNvPr id="174" name="Rectangle 173"/>
          <p:cNvSpPr/>
          <p:nvPr/>
        </p:nvSpPr>
        <p:spPr>
          <a:xfrm>
            <a:off x="647700" y="5334000"/>
            <a:ext cx="1993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OTAL"/>
          <p:cNvSpPr txBox="1"/>
          <p:nvPr/>
        </p:nvSpPr>
        <p:spPr>
          <a:xfrm>
            <a:off x="647700" y="5334000"/>
            <a:ext cx="1993900" cy="190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176" name="existing_labor_total"/>
          <p:cNvSpPr/>
          <p:nvPr/>
        </p:nvSpPr>
        <p:spPr>
          <a:xfrm>
            <a:off x="2641600" y="5334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existing_labor_total"/>
          <p:cNvSpPr txBox="1"/>
          <p:nvPr/>
        </p:nvSpPr>
        <p:spPr>
          <a:xfrm>
            <a:off x="2641600" y="5334000"/>
            <a:ext cx="901700" cy="1905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144,000.00</a:t>
            </a:r>
          </a:p>
        </p:txBody>
      </p:sp>
      <p:sp>
        <p:nvSpPr>
          <p:cNvPr id="178" name="Rectangle 177"/>
          <p:cNvSpPr/>
          <p:nvPr/>
        </p:nvSpPr>
        <p:spPr>
          <a:xfrm>
            <a:off x="3886200" y="4279900"/>
            <a:ext cx="2895600" cy="165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PROPOSED SYSTEM"/>
          <p:cNvSpPr txBox="1"/>
          <p:nvPr/>
        </p:nvSpPr>
        <p:spPr>
          <a:xfrm>
            <a:off x="3886200" y="4279900"/>
            <a:ext cx="2895600" cy="165100"/>
          </a:xfrm>
          <a:prstGeom prst="rect">
            <a:avLst/>
          </a:prstGeom>
          <a:noFill/>
        </p:spPr>
        <p:txBody>
          <a:bodyPr wrap="none" anchor="t" lIns="12598" rIns="12598" tIns="12598" bIns="12598">
            <a:spAutoFit/>
          </a:bodyPr>
          <a:lstStyle/>
          <a:p>
            <a:pPr algn="ctr">
              <a:lnSpc>
                <a:spcPts val="1041"/>
              </a:lnSpc>
              <a:spcBef>
                <a:spcPts val="0"/>
              </a:spcBef>
              <a:spcAft>
                <a:spcPts val="0"/>
              </a:spcAft>
            </a:pPr>
            <a:r>
              <a:rPr sz="930" b="1">
                <a:solidFill>
                  <a:srgbClr val="000000"/>
                </a:solidFill>
                <a:latin typeface="Arial Narrow"/>
              </a:rPr>
              <a:t>PROPOSED SYSTEM</a:t>
            </a:r>
          </a:p>
        </p:txBody>
      </p:sp>
      <p:sp>
        <p:nvSpPr>
          <p:cNvPr id="180" name="Rectangle 179"/>
          <p:cNvSpPr/>
          <p:nvPr/>
        </p:nvSpPr>
        <p:spPr>
          <a:xfrm>
            <a:off x="3886200" y="4445000"/>
            <a:ext cx="10922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Activity"/>
          <p:cNvSpPr txBox="1"/>
          <p:nvPr/>
        </p:nvSpPr>
        <p:spPr>
          <a:xfrm>
            <a:off x="3886200" y="4445000"/>
            <a:ext cx="10922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Activity</a:t>
            </a:r>
          </a:p>
        </p:txBody>
      </p:sp>
      <p:sp>
        <p:nvSpPr>
          <p:cNvPr id="182" name="Rectangle 181"/>
          <p:cNvSpPr/>
          <p:nvPr/>
        </p:nvSpPr>
        <p:spPr>
          <a:xfrm>
            <a:off x="49784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Allocated Cost/&#10;Month"/>
          <p:cNvSpPr txBox="1"/>
          <p:nvPr/>
        </p:nvSpPr>
        <p:spPr>
          <a:xfrm>
            <a:off x="49784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Allocated Cost/</a:t>
            </a:r>
          </a:p>
          <a:p>
            <a:pPr algn="l">
              <a:lnSpc>
                <a:spcPts val="1008"/>
              </a:lnSpc>
              <a:spcBef>
                <a:spcPts val="0"/>
              </a:spcBef>
              <a:spcAft>
                <a:spcPts val="0"/>
              </a:spcAft>
            </a:pPr>
            <a:r>
              <a:rPr sz="900" b="1">
                <a:solidFill>
                  <a:srgbClr val="000000"/>
                </a:solidFill>
                <a:latin typeface="Arial Narrow"/>
              </a:rPr>
              <a:t>Month</a:t>
            </a:r>
          </a:p>
        </p:txBody>
      </p:sp>
      <p:sp>
        <p:nvSpPr>
          <p:cNvPr id="184" name="Rectangle 183"/>
          <p:cNvSpPr/>
          <p:nvPr/>
        </p:nvSpPr>
        <p:spPr>
          <a:xfrm>
            <a:off x="5880100" y="4445000"/>
            <a:ext cx="901700" cy="3175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Annual"/>
          <p:cNvSpPr txBox="1"/>
          <p:nvPr/>
        </p:nvSpPr>
        <p:spPr>
          <a:xfrm>
            <a:off x="5880100" y="4445000"/>
            <a:ext cx="901700" cy="317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Annual</a:t>
            </a:r>
          </a:p>
        </p:txBody>
      </p:sp>
      <p:sp>
        <p:nvSpPr>
          <p:cNvPr id="186" name="Rectangle 185"/>
          <p:cNvSpPr/>
          <p:nvPr/>
        </p:nvSpPr>
        <p:spPr>
          <a:xfrm>
            <a:off x="3886200" y="4762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Inventory monitoring"/>
          <p:cNvSpPr txBox="1"/>
          <p:nvPr/>
        </p:nvSpPr>
        <p:spPr>
          <a:xfrm>
            <a:off x="3886200" y="4762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Inventory monitoring</a:t>
            </a:r>
          </a:p>
        </p:txBody>
      </p:sp>
      <p:sp>
        <p:nvSpPr>
          <p:cNvPr id="188" name="proposed_labor1_monthly"/>
          <p:cNvSpPr/>
          <p:nvPr/>
        </p:nvSpPr>
        <p:spPr>
          <a:xfrm>
            <a:off x="49784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proposed_labor1_monthly"/>
          <p:cNvSpPr txBox="1"/>
          <p:nvPr/>
        </p:nvSpPr>
        <p:spPr>
          <a:xfrm>
            <a:off x="4978400" y="4762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3,000.00</a:t>
            </a:r>
          </a:p>
        </p:txBody>
      </p:sp>
      <p:sp>
        <p:nvSpPr>
          <p:cNvPr id="190" name="proposed_labor1_annual"/>
          <p:cNvSpPr/>
          <p:nvPr/>
        </p:nvSpPr>
        <p:spPr>
          <a:xfrm>
            <a:off x="5880100" y="4762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proposed_labor1_annual"/>
          <p:cNvSpPr txBox="1"/>
          <p:nvPr/>
        </p:nvSpPr>
        <p:spPr>
          <a:xfrm>
            <a:off x="5880100" y="4762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36,000.00</a:t>
            </a:r>
          </a:p>
        </p:txBody>
      </p:sp>
      <p:sp>
        <p:nvSpPr>
          <p:cNvPr id="192" name="Rectangle 191"/>
          <p:cNvSpPr/>
          <p:nvPr/>
        </p:nvSpPr>
        <p:spPr>
          <a:xfrm>
            <a:off x="3886200" y="49530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port preparation"/>
          <p:cNvSpPr txBox="1"/>
          <p:nvPr/>
        </p:nvSpPr>
        <p:spPr>
          <a:xfrm>
            <a:off x="3886200" y="49530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Report preparation</a:t>
            </a:r>
          </a:p>
        </p:txBody>
      </p:sp>
      <p:sp>
        <p:nvSpPr>
          <p:cNvPr id="194" name="proposed_labor2_monthly"/>
          <p:cNvSpPr/>
          <p:nvPr/>
        </p:nvSpPr>
        <p:spPr>
          <a:xfrm>
            <a:off x="49784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proposed_labor2_monthly"/>
          <p:cNvSpPr txBox="1"/>
          <p:nvPr/>
        </p:nvSpPr>
        <p:spPr>
          <a:xfrm>
            <a:off x="4978400" y="49530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900.00</a:t>
            </a:r>
          </a:p>
        </p:txBody>
      </p:sp>
      <p:sp>
        <p:nvSpPr>
          <p:cNvPr id="196" name="proposed_labor2_annual"/>
          <p:cNvSpPr/>
          <p:nvPr/>
        </p:nvSpPr>
        <p:spPr>
          <a:xfrm>
            <a:off x="5880100" y="4953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proposed_labor2_annual"/>
          <p:cNvSpPr txBox="1"/>
          <p:nvPr/>
        </p:nvSpPr>
        <p:spPr>
          <a:xfrm>
            <a:off x="5880100" y="49530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10,800.00</a:t>
            </a:r>
          </a:p>
        </p:txBody>
      </p:sp>
      <p:sp>
        <p:nvSpPr>
          <p:cNvPr id="198" name="Rectangle 197"/>
          <p:cNvSpPr/>
          <p:nvPr/>
        </p:nvSpPr>
        <p:spPr>
          <a:xfrm>
            <a:off x="3886200" y="5143500"/>
            <a:ext cx="10922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onciliation / follow-up"/>
          <p:cNvSpPr txBox="1"/>
          <p:nvPr/>
        </p:nvSpPr>
        <p:spPr>
          <a:xfrm>
            <a:off x="3886200" y="5143500"/>
            <a:ext cx="1092200" cy="190500"/>
          </a:xfrm>
          <a:prstGeom prst="rect">
            <a:avLst/>
          </a:prstGeom>
          <a:noFill/>
        </p:spPr>
        <p:txBody>
          <a:bodyPr wrap="none" anchor="t" lIns="25400" rIns="25400" tIns="25400" bIns="25400">
            <a:spAutoFit/>
          </a:bodyPr>
          <a:lstStyle/>
          <a:p>
            <a:pPr algn="l">
              <a:lnSpc>
                <a:spcPts val="963"/>
              </a:lnSpc>
              <a:spcBef>
                <a:spcPts val="0"/>
              </a:spcBef>
              <a:spcAft>
                <a:spcPts val="0"/>
              </a:spcAft>
            </a:pPr>
            <a:r>
              <a:rPr sz="860" b="0">
                <a:solidFill>
                  <a:srgbClr val="000000"/>
                </a:solidFill>
                <a:latin typeface="Arial Narrow"/>
              </a:rPr>
              <a:t>Reconciliation / follow-up</a:t>
            </a:r>
          </a:p>
        </p:txBody>
      </p:sp>
      <p:sp>
        <p:nvSpPr>
          <p:cNvPr id="200" name="proposed_labor3_monthly"/>
          <p:cNvSpPr/>
          <p:nvPr/>
        </p:nvSpPr>
        <p:spPr>
          <a:xfrm>
            <a:off x="49784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proposed_labor3_monthly"/>
          <p:cNvSpPr txBox="1"/>
          <p:nvPr/>
        </p:nvSpPr>
        <p:spPr>
          <a:xfrm>
            <a:off x="4978400" y="5143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1,800.00</a:t>
            </a:r>
          </a:p>
        </p:txBody>
      </p:sp>
      <p:sp>
        <p:nvSpPr>
          <p:cNvPr id="202" name="proposed_labor3_annual"/>
          <p:cNvSpPr/>
          <p:nvPr/>
        </p:nvSpPr>
        <p:spPr>
          <a:xfrm>
            <a:off x="5880100" y="51435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proposed_labor3_annual"/>
          <p:cNvSpPr txBox="1"/>
          <p:nvPr/>
        </p:nvSpPr>
        <p:spPr>
          <a:xfrm>
            <a:off x="5880100" y="5143500"/>
            <a:ext cx="901700" cy="190500"/>
          </a:xfrm>
          <a:prstGeom prst="rect">
            <a:avLst/>
          </a:prstGeom>
          <a:noFill/>
        </p:spPr>
        <p:txBody>
          <a:bodyPr wrap="none" anchor="t" lIns="25400" rIns="25400" tIns="25400" bIns="25400">
            <a:spAutoFit/>
          </a:bodyPr>
          <a:lstStyle/>
          <a:p>
            <a:pPr algn="r">
              <a:lnSpc>
                <a:spcPts val="963"/>
              </a:lnSpc>
              <a:spcBef>
                <a:spcPts val="0"/>
              </a:spcBef>
              <a:spcAft>
                <a:spcPts val="0"/>
              </a:spcAft>
            </a:pPr>
            <a:r>
              <a:rPr sz="860" b="0">
                <a:solidFill>
                  <a:srgbClr val="000000"/>
                </a:solidFill>
                <a:latin typeface="Arial Narrow"/>
              </a:rPr>
              <a:t>21,600.00</a:t>
            </a:r>
          </a:p>
        </p:txBody>
      </p:sp>
      <p:sp>
        <p:nvSpPr>
          <p:cNvPr id="204" name="Rectangle 203"/>
          <p:cNvSpPr/>
          <p:nvPr/>
        </p:nvSpPr>
        <p:spPr>
          <a:xfrm>
            <a:off x="3886200" y="5334000"/>
            <a:ext cx="19939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OTAL"/>
          <p:cNvSpPr txBox="1"/>
          <p:nvPr/>
        </p:nvSpPr>
        <p:spPr>
          <a:xfrm>
            <a:off x="3886200" y="5334000"/>
            <a:ext cx="1993900" cy="1905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TOTAL</a:t>
            </a:r>
          </a:p>
        </p:txBody>
      </p:sp>
      <p:sp>
        <p:nvSpPr>
          <p:cNvPr id="206" name="proposed_labor_total"/>
          <p:cNvSpPr/>
          <p:nvPr/>
        </p:nvSpPr>
        <p:spPr>
          <a:xfrm>
            <a:off x="5880100" y="5334000"/>
            <a:ext cx="901700" cy="1905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proposed_labor_total"/>
          <p:cNvSpPr txBox="1"/>
          <p:nvPr/>
        </p:nvSpPr>
        <p:spPr>
          <a:xfrm>
            <a:off x="5880100" y="5334000"/>
            <a:ext cx="901700" cy="1905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1">
                <a:solidFill>
                  <a:srgbClr val="000000"/>
                </a:solidFill>
                <a:latin typeface="Arial Narrow"/>
              </a:rPr>
              <a:t>68,400.00</a:t>
            </a:r>
          </a:p>
        </p:txBody>
      </p:sp>
      <p:sp>
        <p:nvSpPr>
          <p:cNvPr id="208" name="Productivity Value = Existing Allocated Labor Cost − Proposed All"/>
          <p:cNvSpPr txBox="1"/>
          <p:nvPr/>
        </p:nvSpPr>
        <p:spPr>
          <a:xfrm>
            <a:off x="647700" y="5613400"/>
            <a:ext cx="6261100" cy="177800"/>
          </a:xfrm>
          <a:prstGeom prst="rect">
            <a:avLst/>
          </a:prstGeom>
          <a:noFill/>
        </p:spPr>
        <p:txBody>
          <a:bodyPr wrap="none" anchor="t" lIns="22504" rIns="22504" tIns="22504" bIns="22504">
            <a:spAutoFit/>
          </a:bodyPr>
          <a:lstStyle/>
          <a:p>
            <a:pPr algn="l">
              <a:lnSpc>
                <a:spcPts val="985"/>
              </a:lnSpc>
              <a:spcBef>
                <a:spcPts val="0"/>
              </a:spcBef>
              <a:spcAft>
                <a:spcPts val="0"/>
              </a:spcAft>
            </a:pPr>
            <a:r>
              <a:rPr sz="880" b="1">
                <a:solidFill>
                  <a:srgbClr val="000000"/>
                </a:solidFill>
                <a:latin typeface="Arial Narrow"/>
              </a:rPr>
              <a:t>Productivity Value = Existing Allocated Labor Cost − Proposed Allocated Labor Cost</a:t>
            </a:r>
          </a:p>
        </p:txBody>
      </p:sp>
      <p:sp>
        <p:nvSpPr>
          <p:cNvPr id="209" name="Rectangle 208"/>
          <p:cNvSpPr/>
          <p:nvPr/>
        </p:nvSpPr>
        <p:spPr>
          <a:xfrm>
            <a:off x="647700" y="5791200"/>
            <a:ext cx="5295900" cy="1905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Labor Productivity Value"/>
          <p:cNvSpPr txBox="1"/>
          <p:nvPr/>
        </p:nvSpPr>
        <p:spPr>
          <a:xfrm>
            <a:off x="647700" y="5791200"/>
            <a:ext cx="5295900" cy="190500"/>
          </a:xfrm>
          <a:prstGeom prst="rect">
            <a:avLst/>
          </a:prstGeom>
          <a:noFill/>
        </p:spPr>
        <p:txBody>
          <a:bodyPr wrap="none" anchor="t" lIns="25298" rIns="25298" tIns="25298" bIns="25298">
            <a:spAutoFit/>
          </a:bodyPr>
          <a:lstStyle/>
          <a:p>
            <a:pPr algn="l">
              <a:lnSpc>
                <a:spcPts val="1041"/>
              </a:lnSpc>
              <a:spcBef>
                <a:spcPts val="0"/>
              </a:spcBef>
              <a:spcAft>
                <a:spcPts val="0"/>
              </a:spcAft>
            </a:pPr>
            <a:r>
              <a:rPr sz="930" b="1">
                <a:solidFill>
                  <a:srgbClr val="000000"/>
                </a:solidFill>
                <a:latin typeface="Arial Narrow"/>
              </a:rPr>
              <a:t>Labor Productivity Value</a:t>
            </a:r>
          </a:p>
        </p:txBody>
      </p:sp>
      <p:sp>
        <p:nvSpPr>
          <p:cNvPr id="211" name="labor_reduction"/>
          <p:cNvSpPr/>
          <p:nvPr/>
        </p:nvSpPr>
        <p:spPr>
          <a:xfrm>
            <a:off x="5943600" y="5791200"/>
            <a:ext cx="965200" cy="1905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labor_reduction"/>
          <p:cNvSpPr txBox="1"/>
          <p:nvPr/>
        </p:nvSpPr>
        <p:spPr>
          <a:xfrm>
            <a:off x="5943600" y="5791200"/>
            <a:ext cx="965200" cy="190500"/>
          </a:xfrm>
          <a:prstGeom prst="rect">
            <a:avLst/>
          </a:prstGeom>
          <a:noFill/>
        </p:spPr>
        <p:txBody>
          <a:bodyPr wrap="none" anchor="t" lIns="25298" rIns="25298" tIns="25298" bIns="25298">
            <a:spAutoFit/>
          </a:bodyPr>
          <a:lstStyle/>
          <a:p>
            <a:pPr algn="r">
              <a:lnSpc>
                <a:spcPts val="1041"/>
              </a:lnSpc>
              <a:spcBef>
                <a:spcPts val="0"/>
              </a:spcBef>
              <a:spcAft>
                <a:spcPts val="0"/>
              </a:spcAft>
            </a:pPr>
            <a:r>
              <a:rPr sz="930" b="1">
                <a:solidFill>
                  <a:srgbClr val="000000"/>
                </a:solidFill>
                <a:latin typeface="Arial Narrow"/>
              </a:rPr>
              <a:t>75,600.00</a:t>
            </a:r>
          </a:p>
        </p:txBody>
      </p:sp>
      <p:sp>
        <p:nvSpPr>
          <p:cNvPr id="213" name="Total Annual Tangible Value = Productivity Value + Supplies Cash "/>
          <p:cNvSpPr txBox="1"/>
          <p:nvPr/>
        </p:nvSpPr>
        <p:spPr>
          <a:xfrm>
            <a:off x="647700" y="6032500"/>
            <a:ext cx="6261100" cy="152400"/>
          </a:xfrm>
          <a:prstGeom prst="rect">
            <a:avLst/>
          </a:prstGeom>
          <a:noFill/>
        </p:spPr>
        <p:txBody>
          <a:bodyPr wrap="none" anchor="t" lIns="9804" rIns="9804" tIns="9804" bIns="9804">
            <a:spAutoFit/>
          </a:bodyPr>
          <a:lstStyle/>
          <a:p>
            <a:pPr algn="l">
              <a:lnSpc>
                <a:spcPts val="985"/>
              </a:lnSpc>
              <a:spcBef>
                <a:spcPts val="0"/>
              </a:spcBef>
              <a:spcAft>
                <a:spcPts val="0"/>
              </a:spcAft>
            </a:pPr>
            <a:r>
              <a:rPr sz="880" b="1">
                <a:solidFill>
                  <a:srgbClr val="000000"/>
                </a:solidFill>
                <a:latin typeface="Arial Narrow"/>
              </a:rPr>
              <a:t>Total Annual Tangible Value = Productivity Value + Supplies Cash Savings</a:t>
            </a:r>
          </a:p>
        </p:txBody>
      </p:sp>
      <p:sp>
        <p:nvSpPr>
          <p:cNvPr id="214" name="Rectangle 213"/>
          <p:cNvSpPr/>
          <p:nvPr/>
        </p:nvSpPr>
        <p:spPr>
          <a:xfrm>
            <a:off x="647700" y="6184900"/>
            <a:ext cx="5295900" cy="1524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otal Annual Tangible Value"/>
          <p:cNvSpPr txBox="1"/>
          <p:nvPr/>
        </p:nvSpPr>
        <p:spPr>
          <a:xfrm>
            <a:off x="647700" y="6184900"/>
            <a:ext cx="5295900" cy="152400"/>
          </a:xfrm>
          <a:prstGeom prst="rect">
            <a:avLst/>
          </a:prstGeom>
          <a:noFill/>
        </p:spPr>
        <p:txBody>
          <a:bodyPr wrap="none" anchor="t" lIns="6248" rIns="6248" tIns="6248" bIns="6248">
            <a:spAutoFit/>
          </a:bodyPr>
          <a:lstStyle/>
          <a:p>
            <a:pPr algn="l">
              <a:lnSpc>
                <a:spcPts val="1041"/>
              </a:lnSpc>
              <a:spcBef>
                <a:spcPts val="0"/>
              </a:spcBef>
              <a:spcAft>
                <a:spcPts val="0"/>
              </a:spcAft>
            </a:pPr>
            <a:r>
              <a:rPr sz="930" b="1">
                <a:solidFill>
                  <a:srgbClr val="000000"/>
                </a:solidFill>
                <a:latin typeface="Arial Narrow"/>
              </a:rPr>
              <a:t>Total Annual Tangible Value</a:t>
            </a:r>
          </a:p>
        </p:txBody>
      </p:sp>
      <p:sp>
        <p:nvSpPr>
          <p:cNvPr id="216" name="total_reduction"/>
          <p:cNvSpPr/>
          <p:nvPr/>
        </p:nvSpPr>
        <p:spPr>
          <a:xfrm>
            <a:off x="5943600" y="6184900"/>
            <a:ext cx="965200" cy="152400"/>
          </a:xfrm>
          <a:prstGeom prst="rect">
            <a:avLst/>
          </a:prstGeom>
          <a:solidFill>
            <a:srgbClr val="D9E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otal_reduction"/>
          <p:cNvSpPr txBox="1"/>
          <p:nvPr/>
        </p:nvSpPr>
        <p:spPr>
          <a:xfrm>
            <a:off x="5943600" y="6184900"/>
            <a:ext cx="965200" cy="152400"/>
          </a:xfrm>
          <a:prstGeom prst="rect">
            <a:avLst/>
          </a:prstGeom>
          <a:noFill/>
        </p:spPr>
        <p:txBody>
          <a:bodyPr wrap="none" anchor="t" lIns="6248" rIns="6248" tIns="6248" bIns="6248">
            <a:spAutoFit/>
          </a:bodyPr>
          <a:lstStyle/>
          <a:p>
            <a:pPr algn="r">
              <a:lnSpc>
                <a:spcPts val="1041"/>
              </a:lnSpc>
              <a:spcBef>
                <a:spcPts val="0"/>
              </a:spcBef>
              <a:spcAft>
                <a:spcPts val="0"/>
              </a:spcAft>
            </a:pPr>
            <a:r>
              <a:rPr sz="930" b="1">
                <a:solidFill>
                  <a:srgbClr val="000000"/>
                </a:solidFill>
                <a:latin typeface="Arial Narrow"/>
              </a:rPr>
              <a:t>80,290.00</a:t>
            </a:r>
          </a:p>
        </p:txBody>
      </p:sp>
      <p:sp>
        <p:nvSpPr>
          <p:cNvPr id="218" name="Estimated annual supplies spending falls from PHP 7,500.00 to PHP"/>
          <p:cNvSpPr txBox="1"/>
          <p:nvPr/>
        </p:nvSpPr>
        <p:spPr>
          <a:xfrm>
            <a:off x="558800" y="6616700"/>
            <a:ext cx="6438900" cy="876300"/>
          </a:xfrm>
          <a:prstGeom prst="rect">
            <a:avLst/>
          </a:prstGeom>
          <a:noFill/>
        </p:spPr>
        <p:txBody>
          <a:bodyPr wrap="none" anchor="t" lIns="0" rIns="0" tIns="0" bIns="0">
            <a:spAutoFit/>
          </a:bodyPr>
          <a:lstStyle/>
          <a:p>
            <a:pPr algn="l">
              <a:lnSpc>
                <a:spcPts val="1232"/>
              </a:lnSpc>
              <a:spcBef>
                <a:spcPts val="0"/>
              </a:spcBef>
              <a:spcAft>
                <a:spcPts val="0"/>
              </a:spcAft>
            </a:pPr>
            <a:r>
              <a:rPr sz="1100" b="0">
                <a:solidFill>
                  <a:srgbClr val="000000"/>
                </a:solidFill>
                <a:latin typeface="Arial Narrow"/>
              </a:rPr>
              <a:t>Estimated annual supplies spending falls from PHP 7,500.00 to PHP 2,810.00, a potential cash saving of PHP 4,690.00.</a:t>
            </a:r>
          </a:p>
          <a:p>
            <a:pPr algn="l">
              <a:lnSpc>
                <a:spcPts val="1232"/>
              </a:lnSpc>
              <a:spcBef>
                <a:spcPts val="0"/>
              </a:spcBef>
              <a:spcAft>
                <a:spcPts val="0"/>
              </a:spcAft>
            </a:pPr>
            <a:r>
              <a:rPr sz="1100" b="0">
                <a:solidFill>
                  <a:srgbClr val="000000"/>
                </a:solidFill>
                <a:latin typeface="Arial Narrow"/>
              </a:rPr>
              <a:t>Allocated labor falls from PHP 144,000.00 to PHP 68,400.00, releasing capacity valued at PHP 75,600.00 per year. Combined</a:t>
            </a:r>
          </a:p>
          <a:p>
            <a:pPr algn="l">
              <a:lnSpc>
                <a:spcPts val="1232"/>
              </a:lnSpc>
              <a:spcBef>
                <a:spcPts val="0"/>
              </a:spcBef>
              <a:spcAft>
                <a:spcPts val="0"/>
              </a:spcAft>
            </a:pPr>
            <a:r>
              <a:rPr sz="1100" b="0">
                <a:solidFill>
                  <a:srgbClr val="000000"/>
                </a:solidFill>
                <a:latin typeface="Arial Narrow"/>
              </a:rPr>
              <a:t>tangible value is PHP 80,290.00; no salary or headcount reduction is assumed.</a:t>
            </a:r>
          </a:p>
        </p:txBody>
      </p:sp>
      <p:sp>
        <p:nvSpPr>
          <p:cNvPr id="219" name="No equipment-loss or recovery saving is credited (PHP 0.00). The "/>
          <p:cNvSpPr txBox="1"/>
          <p:nvPr/>
        </p:nvSpPr>
        <p:spPr>
          <a:xfrm>
            <a:off x="558800" y="7708900"/>
            <a:ext cx="6438900" cy="749300"/>
          </a:xfrm>
          <a:prstGeom prst="rect">
            <a:avLst/>
          </a:prstGeom>
          <a:noFill/>
        </p:spPr>
        <p:txBody>
          <a:bodyPr wrap="none" anchor="t" lIns="0" rIns="0" tIns="0" bIns="0">
            <a:spAutoFit/>
          </a:bodyPr>
          <a:lstStyle/>
          <a:p>
            <a:pPr algn="l">
              <a:lnSpc>
                <a:spcPts val="1176"/>
              </a:lnSpc>
              <a:spcBef>
                <a:spcPts val="0"/>
              </a:spcBef>
              <a:spcAft>
                <a:spcPts val="0"/>
              </a:spcAft>
            </a:pPr>
            <a:r>
              <a:rPr sz="1050" b="0">
                <a:solidFill>
                  <a:srgbClr val="000000"/>
                </a:solidFill>
                <a:latin typeface="Arial Narrow"/>
              </a:rPr>
              <a:t>No equipment-loss or recovery saving is credited (PHP 0.00). The 463 missing or unreported units remain a reconciliation concern,</a:t>
            </a:r>
          </a:p>
          <a:p>
            <a:pPr algn="l">
              <a:lnSpc>
                <a:spcPts val="1176"/>
              </a:lnSpc>
              <a:spcBef>
                <a:spcPts val="0"/>
              </a:spcBef>
              <a:spcAft>
                <a:spcPts val="0"/>
              </a:spcAft>
            </a:pPr>
            <a:r>
              <a:rPr sz="1050" b="0">
                <a:solidFill>
                  <a:srgbClr val="000000"/>
                </a:solidFill>
                <a:latin typeface="Arial Narrow"/>
              </a:rPr>
              <a:t>not confirmed losses. A USB purchase is unnecessary in this scenario because cloud reporting and the separately budgeted backup</a:t>
            </a:r>
          </a:p>
          <a:p>
            <a:pPr algn="l">
              <a:lnSpc>
                <a:spcPts val="1176"/>
              </a:lnSpc>
              <a:spcBef>
                <a:spcPts val="0"/>
              </a:spcBef>
              <a:spcAft>
                <a:spcPts val="0"/>
              </a:spcAft>
            </a:pPr>
            <a:r>
              <a:rPr sz="1050" b="0">
                <a:solidFill>
                  <a:srgbClr val="000000"/>
                </a:solidFill>
                <a:latin typeface="Arial Narrow"/>
              </a:rPr>
              <a:t>drive are available; its subtotal is PHP 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81000" y="673100"/>
            <a:ext cx="6794500" cy="368300"/>
          </a:xfrm>
          <a:prstGeom prst="rect">
            <a:avLst/>
          </a:prstGeom>
          <a:solidFill>
            <a:srgbClr val="98C3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HAND TOOLS AND OTHERS MONITORING"/>
          <p:cNvSpPr txBox="1"/>
          <p:nvPr/>
        </p:nvSpPr>
        <p:spPr>
          <a:xfrm>
            <a:off x="381000" y="673100"/>
            <a:ext cx="6794500" cy="368300"/>
          </a:xfrm>
          <a:prstGeom prst="rect">
            <a:avLst/>
          </a:prstGeom>
          <a:noFill/>
        </p:spPr>
        <p:txBody>
          <a:bodyPr wrap="none" anchor="t" lIns="50800" rIns="50800" tIns="50800" bIns="50800">
            <a:spAutoFit/>
          </a:bodyPr>
          <a:lstStyle/>
          <a:p>
            <a:pPr algn="l">
              <a:lnSpc>
                <a:spcPts val="1680"/>
              </a:lnSpc>
              <a:spcBef>
                <a:spcPts val="0"/>
              </a:spcBef>
              <a:spcAft>
                <a:spcPts val="0"/>
              </a:spcAft>
            </a:pPr>
            <a:r>
              <a:rPr sz="1500" b="1">
                <a:solidFill>
                  <a:srgbClr val="000000"/>
                </a:solidFill>
                <a:latin typeface="Arial Narrow"/>
              </a:rPr>
              <a:t>HAND TOOLS AND OTHERS MONITORING</a:t>
            </a:r>
          </a:p>
        </p:txBody>
      </p:sp>
      <p:sp>
        <p:nvSpPr>
          <p:cNvPr id="4" name="Rectangle 3"/>
          <p:cNvSpPr/>
          <p:nvPr/>
        </p:nvSpPr>
        <p:spPr>
          <a:xfrm>
            <a:off x="381000" y="1257300"/>
            <a:ext cx="4953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TEM&#10;NO."/>
          <p:cNvSpPr txBox="1"/>
          <p:nvPr/>
        </p:nvSpPr>
        <p:spPr>
          <a:xfrm>
            <a:off x="381000" y="1257300"/>
            <a:ext cx="4953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ITEM</a:t>
            </a:r>
          </a:p>
          <a:p>
            <a:pPr algn="ctr">
              <a:lnSpc>
                <a:spcPts val="1064"/>
              </a:lnSpc>
              <a:spcBef>
                <a:spcPts val="0"/>
              </a:spcBef>
              <a:spcAft>
                <a:spcPts val="0"/>
              </a:spcAft>
            </a:pPr>
            <a:r>
              <a:rPr sz="950" b="1">
                <a:solidFill>
                  <a:srgbClr val="000000"/>
                </a:solidFill>
                <a:latin typeface="Arial Narrow"/>
              </a:rPr>
              <a:t>NO.</a:t>
            </a:r>
          </a:p>
        </p:txBody>
      </p:sp>
      <p:sp>
        <p:nvSpPr>
          <p:cNvPr id="6" name="Rectangle 5"/>
          <p:cNvSpPr/>
          <p:nvPr/>
        </p:nvSpPr>
        <p:spPr>
          <a:xfrm>
            <a:off x="876300" y="1257300"/>
            <a:ext cx="30226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WER TOOLS"/>
          <p:cNvSpPr txBox="1"/>
          <p:nvPr/>
        </p:nvSpPr>
        <p:spPr>
          <a:xfrm>
            <a:off x="876300" y="1257300"/>
            <a:ext cx="30226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POWER TOOLS</a:t>
            </a:r>
          </a:p>
        </p:txBody>
      </p:sp>
      <p:sp>
        <p:nvSpPr>
          <p:cNvPr id="8" name="Rectangle 7"/>
          <p:cNvSpPr/>
          <p:nvPr/>
        </p:nvSpPr>
        <p:spPr>
          <a:xfrm>
            <a:off x="3898900" y="1257300"/>
            <a:ext cx="4699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QTY."/>
          <p:cNvSpPr txBox="1"/>
          <p:nvPr/>
        </p:nvSpPr>
        <p:spPr>
          <a:xfrm>
            <a:off x="3898900" y="1257300"/>
            <a:ext cx="4699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QTY.</a:t>
            </a:r>
          </a:p>
        </p:txBody>
      </p:sp>
      <p:sp>
        <p:nvSpPr>
          <p:cNvPr id="10" name="Rectangle 9"/>
          <p:cNvSpPr/>
          <p:nvPr/>
        </p:nvSpPr>
        <p:spPr>
          <a:xfrm>
            <a:off x="4368800" y="1257300"/>
            <a:ext cx="13970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EED TO COMPLY"/>
          <p:cNvSpPr txBox="1"/>
          <p:nvPr/>
        </p:nvSpPr>
        <p:spPr>
          <a:xfrm>
            <a:off x="4368800" y="1257300"/>
            <a:ext cx="13970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NEED TO COMPLY</a:t>
            </a:r>
          </a:p>
        </p:txBody>
      </p:sp>
      <p:sp>
        <p:nvSpPr>
          <p:cNvPr id="12" name="Rectangle 11"/>
          <p:cNvSpPr/>
          <p:nvPr/>
        </p:nvSpPr>
        <p:spPr>
          <a:xfrm>
            <a:off x="5765800" y="1257300"/>
            <a:ext cx="1409700" cy="4445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ISSING OR&#10;NO REPORT"/>
          <p:cNvSpPr txBox="1"/>
          <p:nvPr/>
        </p:nvSpPr>
        <p:spPr>
          <a:xfrm>
            <a:off x="5765800" y="1257300"/>
            <a:ext cx="1409700" cy="444500"/>
          </a:xfrm>
          <a:prstGeom prst="rect">
            <a:avLst/>
          </a:prstGeom>
          <a:noFill/>
        </p:spPr>
        <p:txBody>
          <a:bodyPr wrap="none" anchor="t" lIns="25400" rIns="25400" tIns="25400" bIns="25400">
            <a:spAutoFit/>
          </a:bodyPr>
          <a:lstStyle/>
          <a:p>
            <a:pPr algn="ctr">
              <a:lnSpc>
                <a:spcPts val="1064"/>
              </a:lnSpc>
              <a:spcBef>
                <a:spcPts val="0"/>
              </a:spcBef>
              <a:spcAft>
                <a:spcPts val="0"/>
              </a:spcAft>
            </a:pPr>
            <a:r>
              <a:rPr sz="950" b="1">
                <a:solidFill>
                  <a:srgbClr val="000000"/>
                </a:solidFill>
                <a:latin typeface="Arial Narrow"/>
              </a:rPr>
              <a:t>MISSING OR</a:t>
            </a:r>
          </a:p>
          <a:p>
            <a:pPr algn="ctr">
              <a:lnSpc>
                <a:spcPts val="1064"/>
              </a:lnSpc>
              <a:spcBef>
                <a:spcPts val="0"/>
              </a:spcBef>
              <a:spcAft>
                <a:spcPts val="0"/>
              </a:spcAft>
            </a:pPr>
            <a:r>
              <a:rPr sz="950" b="1">
                <a:solidFill>
                  <a:srgbClr val="000000"/>
                </a:solidFill>
                <a:latin typeface="Arial Narrow"/>
              </a:rPr>
              <a:t>NO REPORT</a:t>
            </a:r>
          </a:p>
        </p:txBody>
      </p:sp>
      <p:sp>
        <p:nvSpPr>
          <p:cNvPr id="14" name="Rectangle 13"/>
          <p:cNvSpPr/>
          <p:nvPr/>
        </p:nvSpPr>
        <p:spPr>
          <a:xfrm>
            <a:off x="381000" y="17018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1"/>
          <p:cNvSpPr txBox="1"/>
          <p:nvPr/>
        </p:nvSpPr>
        <p:spPr>
          <a:xfrm>
            <a:off x="381000" y="1701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a:t>
            </a:r>
          </a:p>
        </p:txBody>
      </p:sp>
      <p:sp>
        <p:nvSpPr>
          <p:cNvPr id="16" name="Rectangle 15"/>
          <p:cNvSpPr/>
          <p:nvPr/>
        </p:nvSpPr>
        <p:spPr>
          <a:xfrm>
            <a:off x="876300" y="17018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HOVEL (PALA, LAPAD)"/>
          <p:cNvSpPr txBox="1"/>
          <p:nvPr/>
        </p:nvSpPr>
        <p:spPr>
          <a:xfrm>
            <a:off x="876300" y="1701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SHOVEL (PALA, LAPAD)</a:t>
            </a:r>
          </a:p>
        </p:txBody>
      </p:sp>
      <p:sp>
        <p:nvSpPr>
          <p:cNvPr id="18" name="inventory_qty1"/>
          <p:cNvSpPr/>
          <p:nvPr/>
        </p:nvSpPr>
        <p:spPr>
          <a:xfrm>
            <a:off x="3898900" y="17018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nventory_qty1"/>
          <p:cNvSpPr txBox="1"/>
          <p:nvPr/>
        </p:nvSpPr>
        <p:spPr>
          <a:xfrm>
            <a:off x="3898900" y="1701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19</a:t>
            </a:r>
          </a:p>
        </p:txBody>
      </p:sp>
      <p:sp>
        <p:nvSpPr>
          <p:cNvPr id="20" name="inventory_need1"/>
          <p:cNvSpPr/>
          <p:nvPr/>
        </p:nvSpPr>
        <p:spPr>
          <a:xfrm>
            <a:off x="4368800" y="17018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inventory_need1"/>
          <p:cNvSpPr txBox="1"/>
          <p:nvPr/>
        </p:nvSpPr>
        <p:spPr>
          <a:xfrm>
            <a:off x="4368800" y="1701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2" name="inventory_gap1"/>
          <p:cNvSpPr/>
          <p:nvPr/>
        </p:nvSpPr>
        <p:spPr>
          <a:xfrm>
            <a:off x="5765800" y="17018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inventory_gap1"/>
          <p:cNvSpPr txBox="1"/>
          <p:nvPr/>
        </p:nvSpPr>
        <p:spPr>
          <a:xfrm>
            <a:off x="5765800" y="1701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4" name="Rectangle 23"/>
          <p:cNvSpPr/>
          <p:nvPr/>
        </p:nvSpPr>
        <p:spPr>
          <a:xfrm>
            <a:off x="381000" y="19304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2"/>
          <p:cNvSpPr txBox="1"/>
          <p:nvPr/>
        </p:nvSpPr>
        <p:spPr>
          <a:xfrm>
            <a:off x="381000" y="1930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26" name="Rectangle 25"/>
          <p:cNvSpPr/>
          <p:nvPr/>
        </p:nvSpPr>
        <p:spPr>
          <a:xfrm>
            <a:off x="876300" y="19304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HOVEL (PALA, BILOG)"/>
          <p:cNvSpPr txBox="1"/>
          <p:nvPr/>
        </p:nvSpPr>
        <p:spPr>
          <a:xfrm>
            <a:off x="876300" y="1930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SHOVEL (PALA, BILOG)</a:t>
            </a:r>
          </a:p>
        </p:txBody>
      </p:sp>
      <p:sp>
        <p:nvSpPr>
          <p:cNvPr id="28" name="inventory_qty2"/>
          <p:cNvSpPr/>
          <p:nvPr/>
        </p:nvSpPr>
        <p:spPr>
          <a:xfrm>
            <a:off x="3898900" y="19304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inventory_qty2"/>
          <p:cNvSpPr txBox="1"/>
          <p:nvPr/>
        </p:nvSpPr>
        <p:spPr>
          <a:xfrm>
            <a:off x="3898900" y="1930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23</a:t>
            </a:r>
          </a:p>
        </p:txBody>
      </p:sp>
      <p:sp>
        <p:nvSpPr>
          <p:cNvPr id="30" name="inventory_need2"/>
          <p:cNvSpPr/>
          <p:nvPr/>
        </p:nvSpPr>
        <p:spPr>
          <a:xfrm>
            <a:off x="4368800" y="19304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inventory_need2"/>
          <p:cNvSpPr txBox="1"/>
          <p:nvPr/>
        </p:nvSpPr>
        <p:spPr>
          <a:xfrm>
            <a:off x="4368800" y="1930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42</a:t>
            </a:r>
          </a:p>
        </p:txBody>
      </p:sp>
      <p:sp>
        <p:nvSpPr>
          <p:cNvPr id="32" name="inventory_gap2"/>
          <p:cNvSpPr/>
          <p:nvPr/>
        </p:nvSpPr>
        <p:spPr>
          <a:xfrm>
            <a:off x="5765800" y="19304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inventory_gap2"/>
          <p:cNvSpPr txBox="1"/>
          <p:nvPr/>
        </p:nvSpPr>
        <p:spPr>
          <a:xfrm>
            <a:off x="5765800" y="1930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19</a:t>
            </a:r>
          </a:p>
        </p:txBody>
      </p:sp>
      <p:sp>
        <p:nvSpPr>
          <p:cNvPr id="34" name="Rectangle 33"/>
          <p:cNvSpPr/>
          <p:nvPr/>
        </p:nvSpPr>
        <p:spPr>
          <a:xfrm>
            <a:off x="381000" y="21590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3"/>
          <p:cNvSpPr txBox="1"/>
          <p:nvPr/>
        </p:nvSpPr>
        <p:spPr>
          <a:xfrm>
            <a:off x="381000" y="2159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a:t>
            </a:r>
          </a:p>
        </p:txBody>
      </p:sp>
      <p:sp>
        <p:nvSpPr>
          <p:cNvPr id="36" name="Rectangle 35"/>
          <p:cNvSpPr/>
          <p:nvPr/>
        </p:nvSpPr>
        <p:spPr>
          <a:xfrm>
            <a:off x="876300" y="21590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RETA"/>
          <p:cNvSpPr txBox="1"/>
          <p:nvPr/>
        </p:nvSpPr>
        <p:spPr>
          <a:xfrm>
            <a:off x="876300" y="2159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BARETA</a:t>
            </a:r>
          </a:p>
        </p:txBody>
      </p:sp>
      <p:sp>
        <p:nvSpPr>
          <p:cNvPr id="38" name="inventory_qty3"/>
          <p:cNvSpPr/>
          <p:nvPr/>
        </p:nvSpPr>
        <p:spPr>
          <a:xfrm>
            <a:off x="3898900" y="21590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inventory_qty3"/>
          <p:cNvSpPr txBox="1"/>
          <p:nvPr/>
        </p:nvSpPr>
        <p:spPr>
          <a:xfrm>
            <a:off x="3898900" y="2159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13</a:t>
            </a:r>
          </a:p>
        </p:txBody>
      </p:sp>
      <p:sp>
        <p:nvSpPr>
          <p:cNvPr id="40" name="inventory_need3"/>
          <p:cNvSpPr/>
          <p:nvPr/>
        </p:nvSpPr>
        <p:spPr>
          <a:xfrm>
            <a:off x="4368800" y="21590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inventory_need3"/>
          <p:cNvSpPr txBox="1"/>
          <p:nvPr/>
        </p:nvSpPr>
        <p:spPr>
          <a:xfrm>
            <a:off x="4368800" y="21590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42" name="inventory_gap3"/>
          <p:cNvSpPr/>
          <p:nvPr/>
        </p:nvSpPr>
        <p:spPr>
          <a:xfrm>
            <a:off x="5765800" y="21590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inventory_gap3"/>
          <p:cNvSpPr txBox="1"/>
          <p:nvPr/>
        </p:nvSpPr>
        <p:spPr>
          <a:xfrm>
            <a:off x="5765800" y="21590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44" name="Rectangle 43"/>
          <p:cNvSpPr/>
          <p:nvPr/>
        </p:nvSpPr>
        <p:spPr>
          <a:xfrm>
            <a:off x="381000" y="23876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4"/>
          <p:cNvSpPr txBox="1"/>
          <p:nvPr/>
        </p:nvSpPr>
        <p:spPr>
          <a:xfrm>
            <a:off x="381000" y="2387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46" name="Rectangle 45"/>
          <p:cNvSpPr/>
          <p:nvPr/>
        </p:nvSpPr>
        <p:spPr>
          <a:xfrm>
            <a:off x="876300" y="23876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ITAK"/>
          <p:cNvSpPr txBox="1"/>
          <p:nvPr/>
        </p:nvSpPr>
        <p:spPr>
          <a:xfrm>
            <a:off x="876300" y="2387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ITAK</a:t>
            </a:r>
          </a:p>
        </p:txBody>
      </p:sp>
      <p:sp>
        <p:nvSpPr>
          <p:cNvPr id="48" name="inventory_qty4"/>
          <p:cNvSpPr/>
          <p:nvPr/>
        </p:nvSpPr>
        <p:spPr>
          <a:xfrm>
            <a:off x="3898900" y="23876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inventory_qty4"/>
          <p:cNvSpPr txBox="1"/>
          <p:nvPr/>
        </p:nvSpPr>
        <p:spPr>
          <a:xfrm>
            <a:off x="3898900" y="2387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50" name="inventory_need4"/>
          <p:cNvSpPr/>
          <p:nvPr/>
        </p:nvSpPr>
        <p:spPr>
          <a:xfrm>
            <a:off x="4368800" y="23876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inventory_need4"/>
          <p:cNvSpPr txBox="1"/>
          <p:nvPr/>
        </p:nvSpPr>
        <p:spPr>
          <a:xfrm>
            <a:off x="4368800" y="23876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52" name="inventory_gap4"/>
          <p:cNvSpPr/>
          <p:nvPr/>
        </p:nvSpPr>
        <p:spPr>
          <a:xfrm>
            <a:off x="5765800" y="23876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inventory_gap4"/>
          <p:cNvSpPr txBox="1"/>
          <p:nvPr/>
        </p:nvSpPr>
        <p:spPr>
          <a:xfrm>
            <a:off x="5765800" y="23876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54" name="Rectangle 53"/>
          <p:cNvSpPr/>
          <p:nvPr/>
        </p:nvSpPr>
        <p:spPr>
          <a:xfrm>
            <a:off x="381000" y="26162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5"/>
          <p:cNvSpPr txBox="1"/>
          <p:nvPr/>
        </p:nvSpPr>
        <p:spPr>
          <a:xfrm>
            <a:off x="381000" y="2616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56" name="Rectangle 55"/>
          <p:cNvSpPr/>
          <p:nvPr/>
        </p:nvSpPr>
        <p:spPr>
          <a:xfrm>
            <a:off x="876300" y="26162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IKO"/>
          <p:cNvSpPr txBox="1"/>
          <p:nvPr/>
        </p:nvSpPr>
        <p:spPr>
          <a:xfrm>
            <a:off x="876300" y="2616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PIKO</a:t>
            </a:r>
          </a:p>
        </p:txBody>
      </p:sp>
      <p:sp>
        <p:nvSpPr>
          <p:cNvPr id="58" name="inventory_qty5"/>
          <p:cNvSpPr/>
          <p:nvPr/>
        </p:nvSpPr>
        <p:spPr>
          <a:xfrm>
            <a:off x="3898900" y="26162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inventory_qty5"/>
          <p:cNvSpPr txBox="1"/>
          <p:nvPr/>
        </p:nvSpPr>
        <p:spPr>
          <a:xfrm>
            <a:off x="3898900" y="2616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60" name="inventory_need5"/>
          <p:cNvSpPr/>
          <p:nvPr/>
        </p:nvSpPr>
        <p:spPr>
          <a:xfrm>
            <a:off x="4368800" y="26162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inventory_need5"/>
          <p:cNvSpPr txBox="1"/>
          <p:nvPr/>
        </p:nvSpPr>
        <p:spPr>
          <a:xfrm>
            <a:off x="4368800" y="26162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62" name="inventory_gap5"/>
          <p:cNvSpPr/>
          <p:nvPr/>
        </p:nvSpPr>
        <p:spPr>
          <a:xfrm>
            <a:off x="5765800" y="26162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inventory_gap5"/>
          <p:cNvSpPr txBox="1"/>
          <p:nvPr/>
        </p:nvSpPr>
        <p:spPr>
          <a:xfrm>
            <a:off x="5765800" y="26162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64" name="Rectangle 63"/>
          <p:cNvSpPr/>
          <p:nvPr/>
        </p:nvSpPr>
        <p:spPr>
          <a:xfrm>
            <a:off x="381000" y="28448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6"/>
          <p:cNvSpPr txBox="1"/>
          <p:nvPr/>
        </p:nvSpPr>
        <p:spPr>
          <a:xfrm>
            <a:off x="381000" y="2844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6</a:t>
            </a:r>
          </a:p>
        </p:txBody>
      </p:sp>
      <p:sp>
        <p:nvSpPr>
          <p:cNvPr id="66" name="Rectangle 65"/>
          <p:cNvSpPr/>
          <p:nvPr/>
        </p:nvSpPr>
        <p:spPr>
          <a:xfrm>
            <a:off x="876300" y="28448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LASTIC DRUM 200L"/>
          <p:cNvSpPr txBox="1"/>
          <p:nvPr/>
        </p:nvSpPr>
        <p:spPr>
          <a:xfrm>
            <a:off x="876300" y="2844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PLASTIC DRUM 200L</a:t>
            </a:r>
          </a:p>
        </p:txBody>
      </p:sp>
      <p:sp>
        <p:nvSpPr>
          <p:cNvPr id="68" name="inventory_qty6"/>
          <p:cNvSpPr/>
          <p:nvPr/>
        </p:nvSpPr>
        <p:spPr>
          <a:xfrm>
            <a:off x="3898900" y="28448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inventory_qty6"/>
          <p:cNvSpPr txBox="1"/>
          <p:nvPr/>
        </p:nvSpPr>
        <p:spPr>
          <a:xfrm>
            <a:off x="3898900" y="2844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14</a:t>
            </a:r>
          </a:p>
        </p:txBody>
      </p:sp>
      <p:sp>
        <p:nvSpPr>
          <p:cNvPr id="70" name="inventory_need6"/>
          <p:cNvSpPr/>
          <p:nvPr/>
        </p:nvSpPr>
        <p:spPr>
          <a:xfrm>
            <a:off x="4368800" y="28448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inventory_need6"/>
          <p:cNvSpPr txBox="1"/>
          <p:nvPr/>
        </p:nvSpPr>
        <p:spPr>
          <a:xfrm>
            <a:off x="4368800" y="2844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72" name="inventory_gap6"/>
          <p:cNvSpPr/>
          <p:nvPr/>
        </p:nvSpPr>
        <p:spPr>
          <a:xfrm>
            <a:off x="5765800" y="28448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inventory_gap6"/>
          <p:cNvSpPr txBox="1"/>
          <p:nvPr/>
        </p:nvSpPr>
        <p:spPr>
          <a:xfrm>
            <a:off x="5765800" y="2844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74" name="Rectangle 73"/>
          <p:cNvSpPr/>
          <p:nvPr/>
        </p:nvSpPr>
        <p:spPr>
          <a:xfrm>
            <a:off x="381000" y="30734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7"/>
          <p:cNvSpPr txBox="1"/>
          <p:nvPr/>
        </p:nvSpPr>
        <p:spPr>
          <a:xfrm>
            <a:off x="381000" y="3073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7</a:t>
            </a:r>
          </a:p>
        </p:txBody>
      </p:sp>
      <p:sp>
        <p:nvSpPr>
          <p:cNvPr id="76" name="Rectangle 75"/>
          <p:cNvSpPr/>
          <p:nvPr/>
        </p:nvSpPr>
        <p:spPr>
          <a:xfrm>
            <a:off x="876300" y="30734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IBC WATER TANK 1000L"/>
          <p:cNvSpPr txBox="1"/>
          <p:nvPr/>
        </p:nvSpPr>
        <p:spPr>
          <a:xfrm>
            <a:off x="876300" y="3073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IBC WATER TANK 1000L</a:t>
            </a:r>
          </a:p>
        </p:txBody>
      </p:sp>
      <p:sp>
        <p:nvSpPr>
          <p:cNvPr id="78" name="inventory_qty7"/>
          <p:cNvSpPr/>
          <p:nvPr/>
        </p:nvSpPr>
        <p:spPr>
          <a:xfrm>
            <a:off x="3898900" y="30734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inventory_qty7"/>
          <p:cNvSpPr txBox="1"/>
          <p:nvPr/>
        </p:nvSpPr>
        <p:spPr>
          <a:xfrm>
            <a:off x="3898900" y="3073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80" name="inventory_need7"/>
          <p:cNvSpPr/>
          <p:nvPr/>
        </p:nvSpPr>
        <p:spPr>
          <a:xfrm>
            <a:off x="4368800" y="30734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inventory_need7"/>
          <p:cNvSpPr txBox="1"/>
          <p:nvPr/>
        </p:nvSpPr>
        <p:spPr>
          <a:xfrm>
            <a:off x="4368800" y="3073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82" name="inventory_gap7"/>
          <p:cNvSpPr/>
          <p:nvPr/>
        </p:nvSpPr>
        <p:spPr>
          <a:xfrm>
            <a:off x="5765800" y="30734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inventory_gap7"/>
          <p:cNvSpPr txBox="1"/>
          <p:nvPr/>
        </p:nvSpPr>
        <p:spPr>
          <a:xfrm>
            <a:off x="5765800" y="3073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84" name="Rectangle 83"/>
          <p:cNvSpPr/>
          <p:nvPr/>
        </p:nvSpPr>
        <p:spPr>
          <a:xfrm>
            <a:off x="381000" y="33020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8"/>
          <p:cNvSpPr txBox="1"/>
          <p:nvPr/>
        </p:nvSpPr>
        <p:spPr>
          <a:xfrm>
            <a:off x="381000" y="3302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8</a:t>
            </a:r>
          </a:p>
        </p:txBody>
      </p:sp>
      <p:sp>
        <p:nvSpPr>
          <p:cNvPr id="86" name="Rectangle 85"/>
          <p:cNvSpPr/>
          <p:nvPr/>
        </p:nvSpPr>
        <p:spPr>
          <a:xfrm>
            <a:off x="876300" y="33020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WHEEL BARROW"/>
          <p:cNvSpPr txBox="1"/>
          <p:nvPr/>
        </p:nvSpPr>
        <p:spPr>
          <a:xfrm>
            <a:off x="876300" y="3302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WHEEL BARROW</a:t>
            </a:r>
          </a:p>
        </p:txBody>
      </p:sp>
      <p:sp>
        <p:nvSpPr>
          <p:cNvPr id="88" name="inventory_qty8"/>
          <p:cNvSpPr/>
          <p:nvPr/>
        </p:nvSpPr>
        <p:spPr>
          <a:xfrm>
            <a:off x="3898900" y="33020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inventory_qty8"/>
          <p:cNvSpPr txBox="1"/>
          <p:nvPr/>
        </p:nvSpPr>
        <p:spPr>
          <a:xfrm>
            <a:off x="3898900" y="3302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90" name="inventory_need8"/>
          <p:cNvSpPr/>
          <p:nvPr/>
        </p:nvSpPr>
        <p:spPr>
          <a:xfrm>
            <a:off x="4368800" y="33020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inventory_need8"/>
          <p:cNvSpPr txBox="1"/>
          <p:nvPr/>
        </p:nvSpPr>
        <p:spPr>
          <a:xfrm>
            <a:off x="4368800" y="33020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92" name="inventory_gap8"/>
          <p:cNvSpPr/>
          <p:nvPr/>
        </p:nvSpPr>
        <p:spPr>
          <a:xfrm>
            <a:off x="5765800" y="33020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inventory_gap8"/>
          <p:cNvSpPr txBox="1"/>
          <p:nvPr/>
        </p:nvSpPr>
        <p:spPr>
          <a:xfrm>
            <a:off x="5765800" y="33020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94" name="Rectangle 93"/>
          <p:cNvSpPr/>
          <p:nvPr/>
        </p:nvSpPr>
        <p:spPr>
          <a:xfrm>
            <a:off x="381000" y="35306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9"/>
          <p:cNvSpPr txBox="1"/>
          <p:nvPr/>
        </p:nvSpPr>
        <p:spPr>
          <a:xfrm>
            <a:off x="381000" y="3530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9</a:t>
            </a:r>
          </a:p>
        </p:txBody>
      </p:sp>
      <p:sp>
        <p:nvSpPr>
          <p:cNvPr id="96" name="Rectangle 95"/>
          <p:cNvSpPr/>
          <p:nvPr/>
        </p:nvSpPr>
        <p:spPr>
          <a:xfrm>
            <a:off x="876300" y="35306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XYGEN TANK"/>
          <p:cNvSpPr txBox="1"/>
          <p:nvPr/>
        </p:nvSpPr>
        <p:spPr>
          <a:xfrm>
            <a:off x="876300" y="3530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OXYGEN TANK</a:t>
            </a:r>
          </a:p>
        </p:txBody>
      </p:sp>
      <p:sp>
        <p:nvSpPr>
          <p:cNvPr id="98" name="inventory_qty9"/>
          <p:cNvSpPr/>
          <p:nvPr/>
        </p:nvSpPr>
        <p:spPr>
          <a:xfrm>
            <a:off x="3898900" y="35306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inventory_qty9"/>
          <p:cNvSpPr txBox="1"/>
          <p:nvPr/>
        </p:nvSpPr>
        <p:spPr>
          <a:xfrm>
            <a:off x="3898900" y="3530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a:t>
            </a:r>
          </a:p>
        </p:txBody>
      </p:sp>
      <p:sp>
        <p:nvSpPr>
          <p:cNvPr id="100" name="inventory_need9"/>
          <p:cNvSpPr/>
          <p:nvPr/>
        </p:nvSpPr>
        <p:spPr>
          <a:xfrm>
            <a:off x="4368800" y="35306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inventory_need9"/>
          <p:cNvSpPr txBox="1"/>
          <p:nvPr/>
        </p:nvSpPr>
        <p:spPr>
          <a:xfrm>
            <a:off x="4368800" y="35306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02" name="inventory_gap9"/>
          <p:cNvSpPr/>
          <p:nvPr/>
        </p:nvSpPr>
        <p:spPr>
          <a:xfrm>
            <a:off x="5765800" y="35306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inventory_gap9"/>
          <p:cNvSpPr txBox="1"/>
          <p:nvPr/>
        </p:nvSpPr>
        <p:spPr>
          <a:xfrm>
            <a:off x="5765800" y="35306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04" name="Rectangle 103"/>
          <p:cNvSpPr/>
          <p:nvPr/>
        </p:nvSpPr>
        <p:spPr>
          <a:xfrm>
            <a:off x="381000" y="37592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10"/>
          <p:cNvSpPr txBox="1"/>
          <p:nvPr/>
        </p:nvSpPr>
        <p:spPr>
          <a:xfrm>
            <a:off x="381000" y="3759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10</a:t>
            </a:r>
          </a:p>
        </p:txBody>
      </p:sp>
      <p:sp>
        <p:nvSpPr>
          <p:cNvPr id="106" name="Rectangle 105"/>
          <p:cNvSpPr/>
          <p:nvPr/>
        </p:nvSpPr>
        <p:spPr>
          <a:xfrm>
            <a:off x="876300" y="37592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GAS TANK"/>
          <p:cNvSpPr txBox="1"/>
          <p:nvPr/>
        </p:nvSpPr>
        <p:spPr>
          <a:xfrm>
            <a:off x="876300" y="3759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GAS TANK</a:t>
            </a:r>
          </a:p>
        </p:txBody>
      </p:sp>
      <p:sp>
        <p:nvSpPr>
          <p:cNvPr id="108" name="inventory_qty10"/>
          <p:cNvSpPr/>
          <p:nvPr/>
        </p:nvSpPr>
        <p:spPr>
          <a:xfrm>
            <a:off x="3898900" y="37592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inventory_qty10"/>
          <p:cNvSpPr txBox="1"/>
          <p:nvPr/>
        </p:nvSpPr>
        <p:spPr>
          <a:xfrm>
            <a:off x="3898900" y="3759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110" name="inventory_need10"/>
          <p:cNvSpPr/>
          <p:nvPr/>
        </p:nvSpPr>
        <p:spPr>
          <a:xfrm>
            <a:off x="4368800" y="37592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inventory_need10"/>
          <p:cNvSpPr txBox="1"/>
          <p:nvPr/>
        </p:nvSpPr>
        <p:spPr>
          <a:xfrm>
            <a:off x="4368800" y="37592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12" name="inventory_gap10"/>
          <p:cNvSpPr/>
          <p:nvPr/>
        </p:nvSpPr>
        <p:spPr>
          <a:xfrm>
            <a:off x="5765800" y="37592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inventory_gap10"/>
          <p:cNvSpPr txBox="1"/>
          <p:nvPr/>
        </p:nvSpPr>
        <p:spPr>
          <a:xfrm>
            <a:off x="5765800" y="37592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14" name="Rectangle 113"/>
          <p:cNvSpPr/>
          <p:nvPr/>
        </p:nvSpPr>
        <p:spPr>
          <a:xfrm>
            <a:off x="381000" y="39878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11"/>
          <p:cNvSpPr txBox="1"/>
          <p:nvPr/>
        </p:nvSpPr>
        <p:spPr>
          <a:xfrm>
            <a:off x="381000" y="3987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11</a:t>
            </a:r>
          </a:p>
        </p:txBody>
      </p:sp>
      <p:sp>
        <p:nvSpPr>
          <p:cNvPr id="116" name="Rectangle 115"/>
          <p:cNvSpPr/>
          <p:nvPr/>
        </p:nvSpPr>
        <p:spPr>
          <a:xfrm>
            <a:off x="876300" y="39878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ELECTRIC KETTLE"/>
          <p:cNvSpPr txBox="1"/>
          <p:nvPr/>
        </p:nvSpPr>
        <p:spPr>
          <a:xfrm>
            <a:off x="876300" y="3987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ELECTRIC KETTLE</a:t>
            </a:r>
          </a:p>
        </p:txBody>
      </p:sp>
      <p:sp>
        <p:nvSpPr>
          <p:cNvPr id="118" name="inventory_qty11"/>
          <p:cNvSpPr/>
          <p:nvPr/>
        </p:nvSpPr>
        <p:spPr>
          <a:xfrm>
            <a:off x="3898900" y="39878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inventory_qty11"/>
          <p:cNvSpPr txBox="1"/>
          <p:nvPr/>
        </p:nvSpPr>
        <p:spPr>
          <a:xfrm>
            <a:off x="3898900" y="3987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120" name="inventory_need11"/>
          <p:cNvSpPr/>
          <p:nvPr/>
        </p:nvSpPr>
        <p:spPr>
          <a:xfrm>
            <a:off x="4368800" y="39878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inventory_need11"/>
          <p:cNvSpPr txBox="1"/>
          <p:nvPr/>
        </p:nvSpPr>
        <p:spPr>
          <a:xfrm>
            <a:off x="4368800" y="3987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22" name="inventory_gap11"/>
          <p:cNvSpPr/>
          <p:nvPr/>
        </p:nvSpPr>
        <p:spPr>
          <a:xfrm>
            <a:off x="5765800" y="39878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inventory_gap11"/>
          <p:cNvSpPr txBox="1"/>
          <p:nvPr/>
        </p:nvSpPr>
        <p:spPr>
          <a:xfrm>
            <a:off x="5765800" y="3987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24" name="Rectangle 123"/>
          <p:cNvSpPr/>
          <p:nvPr/>
        </p:nvSpPr>
        <p:spPr>
          <a:xfrm>
            <a:off x="381000" y="42164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12"/>
          <p:cNvSpPr txBox="1"/>
          <p:nvPr/>
        </p:nvSpPr>
        <p:spPr>
          <a:xfrm>
            <a:off x="381000" y="4216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12</a:t>
            </a:r>
          </a:p>
        </p:txBody>
      </p:sp>
      <p:sp>
        <p:nvSpPr>
          <p:cNvPr id="126" name="Rectangle 125"/>
          <p:cNvSpPr/>
          <p:nvPr/>
        </p:nvSpPr>
        <p:spPr>
          <a:xfrm>
            <a:off x="876300" y="42164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EXTENSION"/>
          <p:cNvSpPr txBox="1"/>
          <p:nvPr/>
        </p:nvSpPr>
        <p:spPr>
          <a:xfrm>
            <a:off x="876300" y="4216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EXTENSION</a:t>
            </a:r>
          </a:p>
        </p:txBody>
      </p:sp>
      <p:sp>
        <p:nvSpPr>
          <p:cNvPr id="128" name="inventory_qty12"/>
          <p:cNvSpPr/>
          <p:nvPr/>
        </p:nvSpPr>
        <p:spPr>
          <a:xfrm>
            <a:off x="3898900" y="42164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inventory_qty12"/>
          <p:cNvSpPr txBox="1"/>
          <p:nvPr/>
        </p:nvSpPr>
        <p:spPr>
          <a:xfrm>
            <a:off x="3898900" y="4216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10</a:t>
            </a:r>
          </a:p>
        </p:txBody>
      </p:sp>
      <p:sp>
        <p:nvSpPr>
          <p:cNvPr id="130" name="inventory_need12"/>
          <p:cNvSpPr/>
          <p:nvPr/>
        </p:nvSpPr>
        <p:spPr>
          <a:xfrm>
            <a:off x="4368800" y="42164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inventory_need12"/>
          <p:cNvSpPr txBox="1"/>
          <p:nvPr/>
        </p:nvSpPr>
        <p:spPr>
          <a:xfrm>
            <a:off x="4368800" y="4216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32" name="inventory_gap12"/>
          <p:cNvSpPr/>
          <p:nvPr/>
        </p:nvSpPr>
        <p:spPr>
          <a:xfrm>
            <a:off x="5765800" y="42164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inventory_gap12"/>
          <p:cNvSpPr txBox="1"/>
          <p:nvPr/>
        </p:nvSpPr>
        <p:spPr>
          <a:xfrm>
            <a:off x="5765800" y="4216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34" name="Rectangle 133"/>
          <p:cNvSpPr/>
          <p:nvPr/>
        </p:nvSpPr>
        <p:spPr>
          <a:xfrm>
            <a:off x="381000" y="44450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13"/>
          <p:cNvSpPr txBox="1"/>
          <p:nvPr/>
        </p:nvSpPr>
        <p:spPr>
          <a:xfrm>
            <a:off x="381000" y="4445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13</a:t>
            </a:r>
          </a:p>
        </p:txBody>
      </p:sp>
      <p:sp>
        <p:nvSpPr>
          <p:cNvPr id="136" name="Rectangle 135"/>
          <p:cNvSpPr/>
          <p:nvPr/>
        </p:nvSpPr>
        <p:spPr>
          <a:xfrm>
            <a:off x="876300" y="44450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DOUBLE BURNER STOVE"/>
          <p:cNvSpPr txBox="1"/>
          <p:nvPr/>
        </p:nvSpPr>
        <p:spPr>
          <a:xfrm>
            <a:off x="876300" y="4445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DOUBLE BURNER STOVE</a:t>
            </a:r>
          </a:p>
        </p:txBody>
      </p:sp>
      <p:sp>
        <p:nvSpPr>
          <p:cNvPr id="138" name="inventory_qty13"/>
          <p:cNvSpPr/>
          <p:nvPr/>
        </p:nvSpPr>
        <p:spPr>
          <a:xfrm>
            <a:off x="3898900" y="44450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inventory_qty13"/>
          <p:cNvSpPr txBox="1"/>
          <p:nvPr/>
        </p:nvSpPr>
        <p:spPr>
          <a:xfrm>
            <a:off x="3898900" y="4445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8</a:t>
            </a:r>
          </a:p>
        </p:txBody>
      </p:sp>
      <p:sp>
        <p:nvSpPr>
          <p:cNvPr id="140" name="inventory_need13"/>
          <p:cNvSpPr/>
          <p:nvPr/>
        </p:nvSpPr>
        <p:spPr>
          <a:xfrm>
            <a:off x="4368800" y="44450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inventory_need13"/>
          <p:cNvSpPr txBox="1"/>
          <p:nvPr/>
        </p:nvSpPr>
        <p:spPr>
          <a:xfrm>
            <a:off x="4368800" y="44450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42" name="inventory_gap13"/>
          <p:cNvSpPr/>
          <p:nvPr/>
        </p:nvSpPr>
        <p:spPr>
          <a:xfrm>
            <a:off x="5765800" y="44450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inventory_gap13"/>
          <p:cNvSpPr txBox="1"/>
          <p:nvPr/>
        </p:nvSpPr>
        <p:spPr>
          <a:xfrm>
            <a:off x="5765800" y="44450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44" name="Rectangle 143"/>
          <p:cNvSpPr/>
          <p:nvPr/>
        </p:nvSpPr>
        <p:spPr>
          <a:xfrm>
            <a:off x="381000" y="46736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14"/>
          <p:cNvSpPr txBox="1"/>
          <p:nvPr/>
        </p:nvSpPr>
        <p:spPr>
          <a:xfrm>
            <a:off x="381000" y="4673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14</a:t>
            </a:r>
          </a:p>
        </p:txBody>
      </p:sp>
      <p:sp>
        <p:nvSpPr>
          <p:cNvPr id="146" name="Rectangle 145"/>
          <p:cNvSpPr/>
          <p:nvPr/>
        </p:nvSpPr>
        <p:spPr>
          <a:xfrm>
            <a:off x="876300" y="46736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LABABO"/>
          <p:cNvSpPr txBox="1"/>
          <p:nvPr/>
        </p:nvSpPr>
        <p:spPr>
          <a:xfrm>
            <a:off x="876300" y="4673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LABABO</a:t>
            </a:r>
          </a:p>
        </p:txBody>
      </p:sp>
      <p:sp>
        <p:nvSpPr>
          <p:cNvPr id="148" name="inventory_qty14"/>
          <p:cNvSpPr/>
          <p:nvPr/>
        </p:nvSpPr>
        <p:spPr>
          <a:xfrm>
            <a:off x="3898900" y="46736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inventory_qty14"/>
          <p:cNvSpPr txBox="1"/>
          <p:nvPr/>
        </p:nvSpPr>
        <p:spPr>
          <a:xfrm>
            <a:off x="3898900" y="4673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150" name="inventory_need14"/>
          <p:cNvSpPr/>
          <p:nvPr/>
        </p:nvSpPr>
        <p:spPr>
          <a:xfrm>
            <a:off x="4368800" y="46736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inventory_need14"/>
          <p:cNvSpPr txBox="1"/>
          <p:nvPr/>
        </p:nvSpPr>
        <p:spPr>
          <a:xfrm>
            <a:off x="4368800" y="46736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52" name="inventory_gap14"/>
          <p:cNvSpPr/>
          <p:nvPr/>
        </p:nvSpPr>
        <p:spPr>
          <a:xfrm>
            <a:off x="5765800" y="46736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inventory_gap14"/>
          <p:cNvSpPr txBox="1"/>
          <p:nvPr/>
        </p:nvSpPr>
        <p:spPr>
          <a:xfrm>
            <a:off x="5765800" y="46736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54" name="Rectangle 153"/>
          <p:cNvSpPr/>
          <p:nvPr/>
        </p:nvSpPr>
        <p:spPr>
          <a:xfrm>
            <a:off x="381000" y="49022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15"/>
          <p:cNvSpPr txBox="1"/>
          <p:nvPr/>
        </p:nvSpPr>
        <p:spPr>
          <a:xfrm>
            <a:off x="381000" y="4902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15</a:t>
            </a:r>
          </a:p>
        </p:txBody>
      </p:sp>
      <p:sp>
        <p:nvSpPr>
          <p:cNvPr id="156" name="Rectangle 155"/>
          <p:cNvSpPr/>
          <p:nvPr/>
        </p:nvSpPr>
        <p:spPr>
          <a:xfrm>
            <a:off x="876300" y="49022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MASO"/>
          <p:cNvSpPr txBox="1"/>
          <p:nvPr/>
        </p:nvSpPr>
        <p:spPr>
          <a:xfrm>
            <a:off x="876300" y="4902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MASO</a:t>
            </a:r>
          </a:p>
        </p:txBody>
      </p:sp>
      <p:sp>
        <p:nvSpPr>
          <p:cNvPr id="158" name="inventory_qty15"/>
          <p:cNvSpPr/>
          <p:nvPr/>
        </p:nvSpPr>
        <p:spPr>
          <a:xfrm>
            <a:off x="3898900" y="49022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inventory_qty15"/>
          <p:cNvSpPr txBox="1"/>
          <p:nvPr/>
        </p:nvSpPr>
        <p:spPr>
          <a:xfrm>
            <a:off x="3898900" y="4902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a:t>
            </a:r>
          </a:p>
        </p:txBody>
      </p:sp>
      <p:sp>
        <p:nvSpPr>
          <p:cNvPr id="160" name="inventory_need15"/>
          <p:cNvSpPr/>
          <p:nvPr/>
        </p:nvSpPr>
        <p:spPr>
          <a:xfrm>
            <a:off x="4368800" y="49022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inventory_need15"/>
          <p:cNvSpPr txBox="1"/>
          <p:nvPr/>
        </p:nvSpPr>
        <p:spPr>
          <a:xfrm>
            <a:off x="4368800" y="49022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62" name="inventory_gap15"/>
          <p:cNvSpPr/>
          <p:nvPr/>
        </p:nvSpPr>
        <p:spPr>
          <a:xfrm>
            <a:off x="5765800" y="49022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inventory_gap15"/>
          <p:cNvSpPr txBox="1"/>
          <p:nvPr/>
        </p:nvSpPr>
        <p:spPr>
          <a:xfrm>
            <a:off x="5765800" y="49022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64" name="Rectangle 163"/>
          <p:cNvSpPr/>
          <p:nvPr/>
        </p:nvSpPr>
        <p:spPr>
          <a:xfrm>
            <a:off x="381000" y="51308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16"/>
          <p:cNvSpPr txBox="1"/>
          <p:nvPr/>
        </p:nvSpPr>
        <p:spPr>
          <a:xfrm>
            <a:off x="381000" y="5130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16</a:t>
            </a:r>
          </a:p>
        </p:txBody>
      </p:sp>
      <p:sp>
        <p:nvSpPr>
          <p:cNvPr id="166" name="Rectangle 165"/>
          <p:cNvSpPr/>
          <p:nvPr/>
        </p:nvSpPr>
        <p:spPr>
          <a:xfrm>
            <a:off x="876300" y="51308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GARDEN HOSE"/>
          <p:cNvSpPr txBox="1"/>
          <p:nvPr/>
        </p:nvSpPr>
        <p:spPr>
          <a:xfrm>
            <a:off x="876300" y="5130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GARDEN HOSE</a:t>
            </a:r>
          </a:p>
        </p:txBody>
      </p:sp>
      <p:sp>
        <p:nvSpPr>
          <p:cNvPr id="168" name="inventory_qty16"/>
          <p:cNvSpPr/>
          <p:nvPr/>
        </p:nvSpPr>
        <p:spPr>
          <a:xfrm>
            <a:off x="3898900" y="51308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inventory_qty16"/>
          <p:cNvSpPr txBox="1"/>
          <p:nvPr/>
        </p:nvSpPr>
        <p:spPr>
          <a:xfrm>
            <a:off x="3898900" y="5130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a:t>
            </a:r>
          </a:p>
        </p:txBody>
      </p:sp>
      <p:sp>
        <p:nvSpPr>
          <p:cNvPr id="170" name="inventory_need16"/>
          <p:cNvSpPr/>
          <p:nvPr/>
        </p:nvSpPr>
        <p:spPr>
          <a:xfrm>
            <a:off x="4368800" y="51308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inventory_need16"/>
          <p:cNvSpPr txBox="1"/>
          <p:nvPr/>
        </p:nvSpPr>
        <p:spPr>
          <a:xfrm>
            <a:off x="4368800" y="5130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72" name="inventory_gap16"/>
          <p:cNvSpPr/>
          <p:nvPr/>
        </p:nvSpPr>
        <p:spPr>
          <a:xfrm>
            <a:off x="5765800" y="51308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inventory_gap16"/>
          <p:cNvSpPr txBox="1"/>
          <p:nvPr/>
        </p:nvSpPr>
        <p:spPr>
          <a:xfrm>
            <a:off x="5765800" y="5130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74" name="Rectangle 173"/>
          <p:cNvSpPr/>
          <p:nvPr/>
        </p:nvSpPr>
        <p:spPr>
          <a:xfrm>
            <a:off x="381000" y="53594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17"/>
          <p:cNvSpPr txBox="1"/>
          <p:nvPr/>
        </p:nvSpPr>
        <p:spPr>
          <a:xfrm>
            <a:off x="381000" y="5359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17</a:t>
            </a:r>
          </a:p>
        </p:txBody>
      </p:sp>
      <p:sp>
        <p:nvSpPr>
          <p:cNvPr id="176" name="Rectangle 175"/>
          <p:cNvSpPr/>
          <p:nvPr/>
        </p:nvSpPr>
        <p:spPr>
          <a:xfrm>
            <a:off x="876300" y="53594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GI PIPES"/>
          <p:cNvSpPr txBox="1"/>
          <p:nvPr/>
        </p:nvSpPr>
        <p:spPr>
          <a:xfrm>
            <a:off x="876300" y="5359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GI PIPES</a:t>
            </a:r>
          </a:p>
        </p:txBody>
      </p:sp>
      <p:sp>
        <p:nvSpPr>
          <p:cNvPr id="178" name="inventory_qty17"/>
          <p:cNvSpPr/>
          <p:nvPr/>
        </p:nvSpPr>
        <p:spPr>
          <a:xfrm>
            <a:off x="3898900" y="53594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inventory_qty17"/>
          <p:cNvSpPr txBox="1"/>
          <p:nvPr/>
        </p:nvSpPr>
        <p:spPr>
          <a:xfrm>
            <a:off x="3898900" y="5359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225</a:t>
            </a:r>
          </a:p>
        </p:txBody>
      </p:sp>
      <p:sp>
        <p:nvSpPr>
          <p:cNvPr id="180" name="inventory_need17"/>
          <p:cNvSpPr/>
          <p:nvPr/>
        </p:nvSpPr>
        <p:spPr>
          <a:xfrm>
            <a:off x="4368800" y="53594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inventory_need17"/>
          <p:cNvSpPr txBox="1"/>
          <p:nvPr/>
        </p:nvSpPr>
        <p:spPr>
          <a:xfrm>
            <a:off x="4368800" y="5359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300</a:t>
            </a:r>
          </a:p>
        </p:txBody>
      </p:sp>
      <p:sp>
        <p:nvSpPr>
          <p:cNvPr id="182" name="inventory_gap17"/>
          <p:cNvSpPr/>
          <p:nvPr/>
        </p:nvSpPr>
        <p:spPr>
          <a:xfrm>
            <a:off x="5765800" y="53594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inventory_gap17"/>
          <p:cNvSpPr txBox="1"/>
          <p:nvPr/>
        </p:nvSpPr>
        <p:spPr>
          <a:xfrm>
            <a:off x="5765800" y="5359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75</a:t>
            </a:r>
          </a:p>
        </p:txBody>
      </p:sp>
      <p:sp>
        <p:nvSpPr>
          <p:cNvPr id="184" name="Rectangle 183"/>
          <p:cNvSpPr/>
          <p:nvPr/>
        </p:nvSpPr>
        <p:spPr>
          <a:xfrm>
            <a:off x="381000" y="55880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18"/>
          <p:cNvSpPr txBox="1"/>
          <p:nvPr/>
        </p:nvSpPr>
        <p:spPr>
          <a:xfrm>
            <a:off x="381000" y="5588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18</a:t>
            </a:r>
          </a:p>
        </p:txBody>
      </p:sp>
      <p:sp>
        <p:nvSpPr>
          <p:cNvPr id="186" name="Rectangle 185"/>
          <p:cNvSpPr/>
          <p:nvPr/>
        </p:nvSpPr>
        <p:spPr>
          <a:xfrm>
            <a:off x="876300" y="55880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BASE JACK"/>
          <p:cNvSpPr txBox="1"/>
          <p:nvPr/>
        </p:nvSpPr>
        <p:spPr>
          <a:xfrm>
            <a:off x="876300" y="5588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BASE JACK</a:t>
            </a:r>
          </a:p>
        </p:txBody>
      </p:sp>
      <p:sp>
        <p:nvSpPr>
          <p:cNvPr id="188" name="inventory_qty18"/>
          <p:cNvSpPr/>
          <p:nvPr/>
        </p:nvSpPr>
        <p:spPr>
          <a:xfrm>
            <a:off x="3898900" y="55880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inventory_qty18"/>
          <p:cNvSpPr txBox="1"/>
          <p:nvPr/>
        </p:nvSpPr>
        <p:spPr>
          <a:xfrm>
            <a:off x="3898900" y="5588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27</a:t>
            </a:r>
          </a:p>
        </p:txBody>
      </p:sp>
      <p:sp>
        <p:nvSpPr>
          <p:cNvPr id="190" name="inventory_need18"/>
          <p:cNvSpPr/>
          <p:nvPr/>
        </p:nvSpPr>
        <p:spPr>
          <a:xfrm>
            <a:off x="4368800" y="55880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inventory_need18"/>
          <p:cNvSpPr txBox="1"/>
          <p:nvPr/>
        </p:nvSpPr>
        <p:spPr>
          <a:xfrm>
            <a:off x="4368800" y="55880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92" name="inventory_gap18"/>
          <p:cNvSpPr/>
          <p:nvPr/>
        </p:nvSpPr>
        <p:spPr>
          <a:xfrm>
            <a:off x="5765800" y="55880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inventory_gap18"/>
          <p:cNvSpPr txBox="1"/>
          <p:nvPr/>
        </p:nvSpPr>
        <p:spPr>
          <a:xfrm>
            <a:off x="5765800" y="55880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194" name="Rectangle 193"/>
          <p:cNvSpPr/>
          <p:nvPr/>
        </p:nvSpPr>
        <p:spPr>
          <a:xfrm>
            <a:off x="381000" y="58166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19"/>
          <p:cNvSpPr txBox="1"/>
          <p:nvPr/>
        </p:nvSpPr>
        <p:spPr>
          <a:xfrm>
            <a:off x="381000" y="5816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19</a:t>
            </a:r>
          </a:p>
        </p:txBody>
      </p:sp>
      <p:sp>
        <p:nvSpPr>
          <p:cNvPr id="196" name="Rectangle 195"/>
          <p:cNvSpPr/>
          <p:nvPr/>
        </p:nvSpPr>
        <p:spPr>
          <a:xfrm>
            <a:off x="876300" y="58166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U-JACK"/>
          <p:cNvSpPr txBox="1"/>
          <p:nvPr/>
        </p:nvSpPr>
        <p:spPr>
          <a:xfrm>
            <a:off x="876300" y="5816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U-JACK</a:t>
            </a:r>
          </a:p>
        </p:txBody>
      </p:sp>
      <p:sp>
        <p:nvSpPr>
          <p:cNvPr id="198" name="inventory_qty19"/>
          <p:cNvSpPr/>
          <p:nvPr/>
        </p:nvSpPr>
        <p:spPr>
          <a:xfrm>
            <a:off x="3898900" y="58166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inventory_qty19"/>
          <p:cNvSpPr txBox="1"/>
          <p:nvPr/>
        </p:nvSpPr>
        <p:spPr>
          <a:xfrm>
            <a:off x="3898900" y="5816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56</a:t>
            </a:r>
          </a:p>
        </p:txBody>
      </p:sp>
      <p:sp>
        <p:nvSpPr>
          <p:cNvPr id="200" name="inventory_need19"/>
          <p:cNvSpPr/>
          <p:nvPr/>
        </p:nvSpPr>
        <p:spPr>
          <a:xfrm>
            <a:off x="4368800" y="58166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inventory_need19"/>
          <p:cNvSpPr txBox="1"/>
          <p:nvPr/>
        </p:nvSpPr>
        <p:spPr>
          <a:xfrm>
            <a:off x="4368800" y="58166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02" name="inventory_gap19"/>
          <p:cNvSpPr/>
          <p:nvPr/>
        </p:nvSpPr>
        <p:spPr>
          <a:xfrm>
            <a:off x="5765800" y="58166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inventory_gap19"/>
          <p:cNvSpPr txBox="1"/>
          <p:nvPr/>
        </p:nvSpPr>
        <p:spPr>
          <a:xfrm>
            <a:off x="5765800" y="58166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04" name="Rectangle 203"/>
          <p:cNvSpPr/>
          <p:nvPr/>
        </p:nvSpPr>
        <p:spPr>
          <a:xfrm>
            <a:off x="381000" y="60452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20"/>
          <p:cNvSpPr txBox="1"/>
          <p:nvPr/>
        </p:nvSpPr>
        <p:spPr>
          <a:xfrm>
            <a:off x="381000" y="6045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20</a:t>
            </a:r>
          </a:p>
        </p:txBody>
      </p:sp>
      <p:sp>
        <p:nvSpPr>
          <p:cNvPr id="206" name="Rectangle 205"/>
          <p:cNvSpPr/>
          <p:nvPr/>
        </p:nvSpPr>
        <p:spPr>
          <a:xfrm>
            <a:off x="876300" y="60452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BUCKETS"/>
          <p:cNvSpPr txBox="1"/>
          <p:nvPr/>
        </p:nvSpPr>
        <p:spPr>
          <a:xfrm>
            <a:off x="876300" y="6045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BUCKETS</a:t>
            </a:r>
          </a:p>
        </p:txBody>
      </p:sp>
      <p:sp>
        <p:nvSpPr>
          <p:cNvPr id="208" name="inventory_qty20"/>
          <p:cNvSpPr/>
          <p:nvPr/>
        </p:nvSpPr>
        <p:spPr>
          <a:xfrm>
            <a:off x="3898900" y="60452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inventory_qty20"/>
          <p:cNvSpPr txBox="1"/>
          <p:nvPr/>
        </p:nvSpPr>
        <p:spPr>
          <a:xfrm>
            <a:off x="3898900" y="6045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39</a:t>
            </a:r>
          </a:p>
        </p:txBody>
      </p:sp>
      <p:sp>
        <p:nvSpPr>
          <p:cNvPr id="210" name="inventory_need20"/>
          <p:cNvSpPr/>
          <p:nvPr/>
        </p:nvSpPr>
        <p:spPr>
          <a:xfrm>
            <a:off x="4368800" y="60452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inventory_need20"/>
          <p:cNvSpPr txBox="1"/>
          <p:nvPr/>
        </p:nvSpPr>
        <p:spPr>
          <a:xfrm>
            <a:off x="4368800" y="60452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12" name="inventory_gap20"/>
          <p:cNvSpPr/>
          <p:nvPr/>
        </p:nvSpPr>
        <p:spPr>
          <a:xfrm>
            <a:off x="5765800" y="60452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inventory_gap20"/>
          <p:cNvSpPr txBox="1"/>
          <p:nvPr/>
        </p:nvSpPr>
        <p:spPr>
          <a:xfrm>
            <a:off x="5765800" y="60452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14" name="Rectangle 213"/>
          <p:cNvSpPr/>
          <p:nvPr/>
        </p:nvSpPr>
        <p:spPr>
          <a:xfrm>
            <a:off x="381000" y="62738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21"/>
          <p:cNvSpPr txBox="1"/>
          <p:nvPr/>
        </p:nvSpPr>
        <p:spPr>
          <a:xfrm>
            <a:off x="381000" y="6273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21</a:t>
            </a:r>
          </a:p>
        </p:txBody>
      </p:sp>
      <p:sp>
        <p:nvSpPr>
          <p:cNvPr id="216" name="Rectangle 215"/>
          <p:cNvSpPr/>
          <p:nvPr/>
        </p:nvSpPr>
        <p:spPr>
          <a:xfrm>
            <a:off x="876300" y="62738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CATWALK FLATFORM SCAFFOLDING"/>
          <p:cNvSpPr txBox="1"/>
          <p:nvPr/>
        </p:nvSpPr>
        <p:spPr>
          <a:xfrm>
            <a:off x="876300" y="6273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CATWALK FLATFORM SCAFFOLDING</a:t>
            </a:r>
          </a:p>
        </p:txBody>
      </p:sp>
      <p:sp>
        <p:nvSpPr>
          <p:cNvPr id="218" name="inventory_qty21"/>
          <p:cNvSpPr/>
          <p:nvPr/>
        </p:nvSpPr>
        <p:spPr>
          <a:xfrm>
            <a:off x="3898900" y="62738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inventory_qty21"/>
          <p:cNvSpPr txBox="1"/>
          <p:nvPr/>
        </p:nvSpPr>
        <p:spPr>
          <a:xfrm>
            <a:off x="3898900" y="6273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33</a:t>
            </a:r>
          </a:p>
        </p:txBody>
      </p:sp>
      <p:sp>
        <p:nvSpPr>
          <p:cNvPr id="220" name="inventory_need21"/>
          <p:cNvSpPr/>
          <p:nvPr/>
        </p:nvSpPr>
        <p:spPr>
          <a:xfrm>
            <a:off x="4368800" y="62738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inventory_need21"/>
          <p:cNvSpPr txBox="1"/>
          <p:nvPr/>
        </p:nvSpPr>
        <p:spPr>
          <a:xfrm>
            <a:off x="4368800" y="6273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22" name="inventory_gap21"/>
          <p:cNvSpPr/>
          <p:nvPr/>
        </p:nvSpPr>
        <p:spPr>
          <a:xfrm>
            <a:off x="5765800" y="62738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inventory_gap21"/>
          <p:cNvSpPr txBox="1"/>
          <p:nvPr/>
        </p:nvSpPr>
        <p:spPr>
          <a:xfrm>
            <a:off x="5765800" y="6273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24" name="Rectangle 223"/>
          <p:cNvSpPr/>
          <p:nvPr/>
        </p:nvSpPr>
        <p:spPr>
          <a:xfrm>
            <a:off x="381000" y="65024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22"/>
          <p:cNvSpPr txBox="1"/>
          <p:nvPr/>
        </p:nvSpPr>
        <p:spPr>
          <a:xfrm>
            <a:off x="381000" y="65024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22</a:t>
            </a:r>
          </a:p>
        </p:txBody>
      </p:sp>
      <p:sp>
        <p:nvSpPr>
          <p:cNvPr id="226" name="Rectangle 225"/>
          <p:cNvSpPr/>
          <p:nvPr/>
        </p:nvSpPr>
        <p:spPr>
          <a:xfrm>
            <a:off x="876300" y="65024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H-FRAME SCAFFOLDING"/>
          <p:cNvSpPr txBox="1"/>
          <p:nvPr/>
        </p:nvSpPr>
        <p:spPr>
          <a:xfrm>
            <a:off x="876300" y="65024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H-FRAME SCAFFOLDING</a:t>
            </a:r>
          </a:p>
        </p:txBody>
      </p:sp>
      <p:sp>
        <p:nvSpPr>
          <p:cNvPr id="228" name="inventory_qty22"/>
          <p:cNvSpPr/>
          <p:nvPr/>
        </p:nvSpPr>
        <p:spPr>
          <a:xfrm>
            <a:off x="3898900" y="65024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inventory_qty22"/>
          <p:cNvSpPr txBox="1"/>
          <p:nvPr/>
        </p:nvSpPr>
        <p:spPr>
          <a:xfrm>
            <a:off x="3898900" y="65024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64</a:t>
            </a:r>
          </a:p>
        </p:txBody>
      </p:sp>
      <p:sp>
        <p:nvSpPr>
          <p:cNvPr id="230" name="inventory_need22"/>
          <p:cNvSpPr/>
          <p:nvPr/>
        </p:nvSpPr>
        <p:spPr>
          <a:xfrm>
            <a:off x="4368800" y="65024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inventory_need22"/>
          <p:cNvSpPr txBox="1"/>
          <p:nvPr/>
        </p:nvSpPr>
        <p:spPr>
          <a:xfrm>
            <a:off x="4368800" y="65024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32" name="inventory_gap22"/>
          <p:cNvSpPr/>
          <p:nvPr/>
        </p:nvSpPr>
        <p:spPr>
          <a:xfrm>
            <a:off x="5765800" y="65024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inventory_gap22"/>
          <p:cNvSpPr txBox="1"/>
          <p:nvPr/>
        </p:nvSpPr>
        <p:spPr>
          <a:xfrm>
            <a:off x="5765800" y="65024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34" name="Rectangle 233"/>
          <p:cNvSpPr/>
          <p:nvPr/>
        </p:nvSpPr>
        <p:spPr>
          <a:xfrm>
            <a:off x="381000" y="67310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23"/>
          <p:cNvSpPr txBox="1"/>
          <p:nvPr/>
        </p:nvSpPr>
        <p:spPr>
          <a:xfrm>
            <a:off x="381000" y="67310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23</a:t>
            </a:r>
          </a:p>
        </p:txBody>
      </p:sp>
      <p:sp>
        <p:nvSpPr>
          <p:cNvPr id="236" name="Rectangle 235"/>
          <p:cNvSpPr/>
          <p:nvPr/>
        </p:nvSpPr>
        <p:spPr>
          <a:xfrm>
            <a:off x="876300" y="67310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BRACES SCAFFOLDING"/>
          <p:cNvSpPr txBox="1"/>
          <p:nvPr/>
        </p:nvSpPr>
        <p:spPr>
          <a:xfrm>
            <a:off x="876300" y="67310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BRACES SCAFFOLDING</a:t>
            </a:r>
          </a:p>
        </p:txBody>
      </p:sp>
      <p:sp>
        <p:nvSpPr>
          <p:cNvPr id="238" name="inventory_qty23"/>
          <p:cNvSpPr/>
          <p:nvPr/>
        </p:nvSpPr>
        <p:spPr>
          <a:xfrm>
            <a:off x="3898900" y="67310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inventory_qty23"/>
          <p:cNvSpPr txBox="1"/>
          <p:nvPr/>
        </p:nvSpPr>
        <p:spPr>
          <a:xfrm>
            <a:off x="3898900" y="67310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41</a:t>
            </a:r>
          </a:p>
        </p:txBody>
      </p:sp>
      <p:sp>
        <p:nvSpPr>
          <p:cNvPr id="240" name="inventory_need23"/>
          <p:cNvSpPr/>
          <p:nvPr/>
        </p:nvSpPr>
        <p:spPr>
          <a:xfrm>
            <a:off x="4368800" y="67310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inventory_need23"/>
          <p:cNvSpPr txBox="1"/>
          <p:nvPr/>
        </p:nvSpPr>
        <p:spPr>
          <a:xfrm>
            <a:off x="4368800" y="67310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42" name="inventory_gap23"/>
          <p:cNvSpPr/>
          <p:nvPr/>
        </p:nvSpPr>
        <p:spPr>
          <a:xfrm>
            <a:off x="5765800" y="67310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inventory_gap23"/>
          <p:cNvSpPr txBox="1"/>
          <p:nvPr/>
        </p:nvSpPr>
        <p:spPr>
          <a:xfrm>
            <a:off x="5765800" y="67310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44" name="Rectangle 243"/>
          <p:cNvSpPr/>
          <p:nvPr/>
        </p:nvSpPr>
        <p:spPr>
          <a:xfrm>
            <a:off x="381000" y="69596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24"/>
          <p:cNvSpPr txBox="1"/>
          <p:nvPr/>
        </p:nvSpPr>
        <p:spPr>
          <a:xfrm>
            <a:off x="381000" y="69596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24</a:t>
            </a:r>
          </a:p>
        </p:txBody>
      </p:sp>
      <p:sp>
        <p:nvSpPr>
          <p:cNvPr id="246" name="Rectangle 245"/>
          <p:cNvSpPr/>
          <p:nvPr/>
        </p:nvSpPr>
        <p:spPr>
          <a:xfrm>
            <a:off x="876300" y="69596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WATER-PUMP"/>
          <p:cNvSpPr txBox="1"/>
          <p:nvPr/>
        </p:nvSpPr>
        <p:spPr>
          <a:xfrm>
            <a:off x="876300" y="69596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WATER-PUMP</a:t>
            </a:r>
          </a:p>
        </p:txBody>
      </p:sp>
      <p:sp>
        <p:nvSpPr>
          <p:cNvPr id="248" name="inventory_qty24"/>
          <p:cNvSpPr/>
          <p:nvPr/>
        </p:nvSpPr>
        <p:spPr>
          <a:xfrm>
            <a:off x="3898900" y="69596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inventory_qty24"/>
          <p:cNvSpPr txBox="1"/>
          <p:nvPr/>
        </p:nvSpPr>
        <p:spPr>
          <a:xfrm>
            <a:off x="3898900" y="69596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250" name="inventory_need24"/>
          <p:cNvSpPr/>
          <p:nvPr/>
        </p:nvSpPr>
        <p:spPr>
          <a:xfrm>
            <a:off x="4368800" y="69596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inventory_need24"/>
          <p:cNvSpPr txBox="1"/>
          <p:nvPr/>
        </p:nvSpPr>
        <p:spPr>
          <a:xfrm>
            <a:off x="4368800" y="69596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52" name="inventory_gap24"/>
          <p:cNvSpPr/>
          <p:nvPr/>
        </p:nvSpPr>
        <p:spPr>
          <a:xfrm>
            <a:off x="5765800" y="69596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inventory_gap24"/>
          <p:cNvSpPr txBox="1"/>
          <p:nvPr/>
        </p:nvSpPr>
        <p:spPr>
          <a:xfrm>
            <a:off x="5765800" y="69596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54" name="Rectangle 253"/>
          <p:cNvSpPr/>
          <p:nvPr/>
        </p:nvSpPr>
        <p:spPr>
          <a:xfrm>
            <a:off x="381000" y="7188200"/>
            <a:ext cx="4953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25"/>
          <p:cNvSpPr txBox="1"/>
          <p:nvPr/>
        </p:nvSpPr>
        <p:spPr>
          <a:xfrm>
            <a:off x="381000" y="71882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25</a:t>
            </a:r>
          </a:p>
        </p:txBody>
      </p:sp>
      <p:sp>
        <p:nvSpPr>
          <p:cNvPr id="256" name="Rectangle 255"/>
          <p:cNvSpPr/>
          <p:nvPr/>
        </p:nvSpPr>
        <p:spPr>
          <a:xfrm>
            <a:off x="876300" y="7188200"/>
            <a:ext cx="30226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GARDEN SPRINKLER"/>
          <p:cNvSpPr txBox="1"/>
          <p:nvPr/>
        </p:nvSpPr>
        <p:spPr>
          <a:xfrm>
            <a:off x="876300" y="71882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GARDEN SPRINKLER</a:t>
            </a:r>
          </a:p>
        </p:txBody>
      </p:sp>
      <p:sp>
        <p:nvSpPr>
          <p:cNvPr id="258" name="inventory_qty25"/>
          <p:cNvSpPr/>
          <p:nvPr/>
        </p:nvSpPr>
        <p:spPr>
          <a:xfrm>
            <a:off x="3898900" y="7188200"/>
            <a:ext cx="4699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inventory_qty25"/>
          <p:cNvSpPr txBox="1"/>
          <p:nvPr/>
        </p:nvSpPr>
        <p:spPr>
          <a:xfrm>
            <a:off x="3898900" y="71882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a:t>
            </a:r>
          </a:p>
        </p:txBody>
      </p:sp>
      <p:sp>
        <p:nvSpPr>
          <p:cNvPr id="260" name="inventory_need25"/>
          <p:cNvSpPr/>
          <p:nvPr/>
        </p:nvSpPr>
        <p:spPr>
          <a:xfrm>
            <a:off x="4368800" y="7188200"/>
            <a:ext cx="13970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inventory_need25"/>
          <p:cNvSpPr txBox="1"/>
          <p:nvPr/>
        </p:nvSpPr>
        <p:spPr>
          <a:xfrm>
            <a:off x="4368800" y="71882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62" name="inventory_gap25"/>
          <p:cNvSpPr/>
          <p:nvPr/>
        </p:nvSpPr>
        <p:spPr>
          <a:xfrm>
            <a:off x="5765800" y="7188200"/>
            <a:ext cx="1409700" cy="228600"/>
          </a:xfrm>
          <a:prstGeom prst="rect">
            <a:avLst/>
          </a:prstGeom>
          <a:solidFill>
            <a:srgbClr val="FFFFF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inventory_gap25"/>
          <p:cNvSpPr txBox="1"/>
          <p:nvPr/>
        </p:nvSpPr>
        <p:spPr>
          <a:xfrm>
            <a:off x="5765800" y="71882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a:t>
            </a:r>
          </a:p>
        </p:txBody>
      </p:sp>
      <p:sp>
        <p:nvSpPr>
          <p:cNvPr id="264" name="Rectangle 263"/>
          <p:cNvSpPr/>
          <p:nvPr/>
        </p:nvSpPr>
        <p:spPr>
          <a:xfrm>
            <a:off x="381000" y="7416800"/>
            <a:ext cx="4953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26"/>
          <p:cNvSpPr txBox="1"/>
          <p:nvPr/>
        </p:nvSpPr>
        <p:spPr>
          <a:xfrm>
            <a:off x="381000" y="7416800"/>
            <a:ext cx="4953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26</a:t>
            </a:r>
          </a:p>
        </p:txBody>
      </p:sp>
      <p:sp>
        <p:nvSpPr>
          <p:cNvPr id="266" name="Rectangle 265"/>
          <p:cNvSpPr/>
          <p:nvPr/>
        </p:nvSpPr>
        <p:spPr>
          <a:xfrm>
            <a:off x="876300" y="7416800"/>
            <a:ext cx="30226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SWIVEL CLAMP"/>
          <p:cNvSpPr txBox="1"/>
          <p:nvPr/>
        </p:nvSpPr>
        <p:spPr>
          <a:xfrm>
            <a:off x="876300" y="7416800"/>
            <a:ext cx="30226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SWIVEL CLAMP</a:t>
            </a:r>
          </a:p>
        </p:txBody>
      </p:sp>
      <p:sp>
        <p:nvSpPr>
          <p:cNvPr id="268" name="inventory_qty26"/>
          <p:cNvSpPr/>
          <p:nvPr/>
        </p:nvSpPr>
        <p:spPr>
          <a:xfrm>
            <a:off x="3898900" y="7416800"/>
            <a:ext cx="4699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inventory_qty26"/>
          <p:cNvSpPr txBox="1"/>
          <p:nvPr/>
        </p:nvSpPr>
        <p:spPr>
          <a:xfrm>
            <a:off x="3898900" y="7416800"/>
            <a:ext cx="4699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141</a:t>
            </a:r>
          </a:p>
        </p:txBody>
      </p:sp>
      <p:sp>
        <p:nvSpPr>
          <p:cNvPr id="270" name="inventory_need26"/>
          <p:cNvSpPr/>
          <p:nvPr/>
        </p:nvSpPr>
        <p:spPr>
          <a:xfrm>
            <a:off x="4368800" y="7416800"/>
            <a:ext cx="13970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inventory_need26"/>
          <p:cNvSpPr txBox="1"/>
          <p:nvPr/>
        </p:nvSpPr>
        <p:spPr>
          <a:xfrm>
            <a:off x="4368800" y="7416800"/>
            <a:ext cx="13970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510</a:t>
            </a:r>
          </a:p>
        </p:txBody>
      </p:sp>
      <p:sp>
        <p:nvSpPr>
          <p:cNvPr id="272" name="inventory_gap26"/>
          <p:cNvSpPr/>
          <p:nvPr/>
        </p:nvSpPr>
        <p:spPr>
          <a:xfrm>
            <a:off x="5765800" y="7416800"/>
            <a:ext cx="1409700" cy="228600"/>
          </a:xfrm>
          <a:prstGeom prst="rect">
            <a:avLst/>
          </a:prstGeom>
          <a:solidFill>
            <a:srgbClr val="B5D6A4"/>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inventory_gap26"/>
          <p:cNvSpPr txBox="1"/>
          <p:nvPr/>
        </p:nvSpPr>
        <p:spPr>
          <a:xfrm>
            <a:off x="5765800" y="7416800"/>
            <a:ext cx="1409700" cy="228600"/>
          </a:xfrm>
          <a:prstGeom prst="rect">
            <a:avLst/>
          </a:prstGeom>
          <a:noFill/>
        </p:spPr>
        <p:txBody>
          <a:bodyPr wrap="none" anchor="t" lIns="25400" rIns="25400" tIns="25400" bIns="25400">
            <a:spAutoFit/>
          </a:bodyPr>
          <a:lstStyle/>
          <a:p>
            <a:pPr algn="ctr">
              <a:lnSpc>
                <a:spcPts val="1019"/>
              </a:lnSpc>
              <a:spcBef>
                <a:spcPts val="0"/>
              </a:spcBef>
              <a:spcAft>
                <a:spcPts val="0"/>
              </a:spcAft>
            </a:pPr>
            <a:r>
              <a:rPr sz="910" b="0">
                <a:solidFill>
                  <a:srgbClr val="000000"/>
                </a:solidFill>
                <a:latin typeface="Arial Narrow"/>
              </a:rPr>
              <a:t>369</a:t>
            </a:r>
          </a:p>
        </p:txBody>
      </p:sp>
      <p:sp>
        <p:nvSpPr>
          <p:cNvPr id="274" name="SOURCE CHECK: 26 populated categories; 758 recorded units; 463 mi"/>
          <p:cNvSpPr txBox="1"/>
          <p:nvPr/>
        </p:nvSpPr>
        <p:spPr>
          <a:xfrm>
            <a:off x="381000" y="8204200"/>
            <a:ext cx="6794500" cy="228600"/>
          </a:xfrm>
          <a:prstGeom prst="rect">
            <a:avLst/>
          </a:prstGeom>
          <a:noFill/>
        </p:spPr>
        <p:txBody>
          <a:bodyPr wrap="none" anchor="t" lIns="25400" rIns="25400" tIns="25400" bIns="25400">
            <a:spAutoFit/>
          </a:bodyPr>
          <a:lstStyle/>
          <a:p>
            <a:pPr algn="l">
              <a:lnSpc>
                <a:spcPts val="1120"/>
              </a:lnSpc>
              <a:spcBef>
                <a:spcPts val="0"/>
              </a:spcBef>
              <a:spcAft>
                <a:spcPts val="0"/>
              </a:spcAft>
            </a:pPr>
            <a:r>
              <a:rPr sz="1000" b="1">
                <a:solidFill>
                  <a:srgbClr val="000000"/>
                </a:solidFill>
                <a:latin typeface="Arial Narrow"/>
              </a:rPr>
              <a:t>SOURCE CHECK: 26 populated categories; 758 recorded units; 463 missing or unreported units.</a:t>
            </a:r>
          </a:p>
        </p:txBody>
      </p:sp>
      <p:sp>
        <p:nvSpPr>
          <p:cNvPr id="275" name="A dash means not reported in the source, not zero. Only three cat"/>
          <p:cNvSpPr txBox="1"/>
          <p:nvPr/>
        </p:nvSpPr>
        <p:spPr>
          <a:xfrm>
            <a:off x="381000" y="8559800"/>
            <a:ext cx="6794500" cy="660400"/>
          </a:xfrm>
          <a:prstGeom prst="rect">
            <a:avLst/>
          </a:prstGeom>
          <a:noFill/>
        </p:spPr>
        <p:txBody>
          <a:bodyPr wrap="none" anchor="t" lIns="0" rIns="0" tIns="0" bIns="0">
            <a:spAutoFit/>
          </a:bodyPr>
          <a:lstStyle/>
          <a:p>
            <a:pPr algn="l">
              <a:lnSpc>
                <a:spcPts val="1120"/>
              </a:lnSpc>
              <a:spcBef>
                <a:spcPts val="0"/>
              </a:spcBef>
              <a:spcAft>
                <a:spcPts val="0"/>
              </a:spcAft>
            </a:pPr>
            <a:r>
              <a:rPr sz="1000" b="0">
                <a:solidFill>
                  <a:srgbClr val="000000"/>
                </a:solidFill>
                <a:latin typeface="Arial Narrow"/>
              </a:rPr>
              <a:t>A dash means not reported in the source, not zero. Only three categories have supplied requirements and gaps. The 463 units are not confirmed</a:t>
            </a:r>
          </a:p>
          <a:p>
            <a:pPr algn="l">
              <a:lnSpc>
                <a:spcPts val="1120"/>
              </a:lnSpc>
              <a:spcBef>
                <a:spcPts val="0"/>
              </a:spcBef>
              <a:spcAft>
                <a:spcPts val="0"/>
              </a:spcAft>
            </a:pPr>
            <a:r>
              <a:rPr sz="1000" b="0">
                <a:solidFill>
                  <a:srgbClr val="000000"/>
                </a:solidFill>
                <a:latin typeface="Arial Narrow"/>
              </a:rPr>
              <a:t>physical losses. “CATWALK FLATFORM SCAFFOLDING” preserves the source spelling; unused row 27 is omitted.</a:t>
            </a:r>
          </a:p>
        </p:txBody>
      </p:sp>
      <p:sp>
        <p:nvSpPr>
          <p:cNvPr id="276" name="Source: user-supplied green “HAND TOOLS AND OTHERS MONITORING” im"/>
          <p:cNvSpPr txBox="1"/>
          <p:nvPr/>
        </p:nvSpPr>
        <p:spPr>
          <a:xfrm>
            <a:off x="381000" y="9436100"/>
            <a:ext cx="6794500" cy="393700"/>
          </a:xfrm>
          <a:prstGeom prst="rect">
            <a:avLst/>
          </a:prstGeom>
          <a:noFill/>
        </p:spPr>
        <p:txBody>
          <a:bodyPr wrap="none" anchor="t" lIns="0" rIns="0" tIns="0" bIns="0">
            <a:spAutoFit/>
          </a:bodyPr>
          <a:lstStyle/>
          <a:p>
            <a:pPr algn="l">
              <a:lnSpc>
                <a:spcPts val="1064"/>
              </a:lnSpc>
              <a:spcBef>
                <a:spcPts val="0"/>
              </a:spcBef>
              <a:spcAft>
                <a:spcPts val="0"/>
              </a:spcAft>
            </a:pPr>
            <a:r>
              <a:rPr sz="950" b="0">
                <a:solidFill>
                  <a:srgbClr val="000000"/>
                </a:solidFill>
                <a:latin typeface="Arial Narrow"/>
              </a:rPr>
              <a:t>Source: user-supplied green “HAND TOOLS AND OTHERS MONITORING” image. Application records are demonstration data and are excluded.</a:t>
            </a:r>
          </a:p>
        </p:txBody>
      </p:sp>
      <p:sp>
        <p:nvSpPr>
          <p:cNvPr id="277" name="COMPANY DATA SOURCE: GREEN INVENTORY TABLE ONLY"/>
          <p:cNvSpPr txBox="1"/>
          <p:nvPr/>
        </p:nvSpPr>
        <p:spPr>
          <a:xfrm>
            <a:off x="381000" y="10172700"/>
            <a:ext cx="62230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COMPANY DATA SOURCE: GREEN INVENTORY TABLE ONLY</a:t>
            </a:r>
          </a:p>
        </p:txBody>
      </p:sp>
      <p:sp>
        <p:nvSpPr>
          <p:cNvPr id="278" name="4"/>
          <p:cNvSpPr txBox="1"/>
          <p:nvPr/>
        </p:nvSpPr>
        <p:spPr>
          <a:xfrm>
            <a:off x="66167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LANNING BASIS — EDITABLE ESTIMATES (PHP)"/>
          <p:cNvSpPr txBox="1"/>
          <p:nvPr/>
        </p:nvSpPr>
        <p:spPr>
          <a:xfrm>
            <a:off x="444500" y="482600"/>
            <a:ext cx="6667500" cy="342900"/>
          </a:xfrm>
          <a:prstGeom prst="rect">
            <a:avLst/>
          </a:prstGeom>
          <a:noFill/>
        </p:spPr>
        <p:txBody>
          <a:bodyPr wrap="none" anchor="t" lIns="25400" rIns="25400" tIns="25400" bIns="25400">
            <a:spAutoFit/>
          </a:bodyPr>
          <a:lstStyle/>
          <a:p>
            <a:pPr algn="l">
              <a:lnSpc>
                <a:spcPts val="1456"/>
              </a:lnSpc>
              <a:spcBef>
                <a:spcPts val="0"/>
              </a:spcBef>
              <a:spcAft>
                <a:spcPts val="0"/>
              </a:spcAft>
            </a:pPr>
            <a:r>
              <a:rPr sz="1300" b="1">
                <a:solidFill>
                  <a:srgbClr val="000000"/>
                </a:solidFill>
                <a:latin typeface="Arial Narrow"/>
              </a:rPr>
              <a:t>PLANNING BASIS — EDITABLE ESTIMATES (PHP)</a:t>
            </a:r>
          </a:p>
        </p:txBody>
      </p:sp>
      <p:sp>
        <p:nvSpPr>
          <p:cNvPr id="3" name="These financial values and task timings are illustrative estimate"/>
          <p:cNvSpPr txBox="1"/>
          <p:nvPr/>
        </p:nvSpPr>
        <p:spPr>
          <a:xfrm>
            <a:off x="444500" y="965200"/>
            <a:ext cx="6667500" cy="546100"/>
          </a:xfrm>
          <a:prstGeom prst="rect">
            <a:avLst/>
          </a:prstGeom>
          <a:noFill/>
        </p:spPr>
        <p:txBody>
          <a:bodyPr wrap="none" anchor="t" lIns="0" rIns="0" tIns="0" bIns="0">
            <a:spAutoFit/>
          </a:bodyPr>
          <a:lstStyle/>
          <a:p>
            <a:pPr algn="l">
              <a:lnSpc>
                <a:spcPts val="1176"/>
              </a:lnSpc>
              <a:spcBef>
                <a:spcPts val="0"/>
              </a:spcBef>
              <a:spcAft>
                <a:spcPts val="0"/>
              </a:spcAft>
            </a:pPr>
            <a:r>
              <a:rPr sz="1050" b="0">
                <a:solidFill>
                  <a:srgbClr val="000000"/>
                </a:solidFill>
                <a:latin typeface="Arial Narrow"/>
              </a:rPr>
              <a:t>These financial values and task timings are illustrative estimates, not actual company expenses. Only the green inventory quantities are</a:t>
            </a:r>
          </a:p>
          <a:p>
            <a:pPr algn="l">
              <a:lnSpc>
                <a:spcPts val="1176"/>
              </a:lnSpc>
              <a:spcBef>
                <a:spcPts val="0"/>
              </a:spcBef>
              <a:spcAft>
                <a:spcPts val="0"/>
              </a:spcAft>
            </a:pPr>
            <a:r>
              <a:rPr sz="1050" b="0">
                <a:solidFill>
                  <a:srgbClr val="000000"/>
                </a:solidFill>
                <a:latin typeface="Arial Narrow"/>
              </a:rPr>
              <a:t>company data. A three-month build is assumed; project fees cover part-time services.</a:t>
            </a:r>
          </a:p>
        </p:txBody>
      </p:sp>
      <p:sp>
        <p:nvSpPr>
          <p:cNvPr id="4" name="Rectangle 3"/>
          <p:cNvSpPr/>
          <p:nvPr/>
        </p:nvSpPr>
        <p:spPr>
          <a:xfrm>
            <a:off x="444500" y="1701800"/>
            <a:ext cx="3365500" cy="292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upporting input"/>
          <p:cNvSpPr txBox="1"/>
          <p:nvPr/>
        </p:nvSpPr>
        <p:spPr>
          <a:xfrm>
            <a:off x="444500" y="1701800"/>
            <a:ext cx="3365500" cy="2921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Supporting input</a:t>
            </a:r>
          </a:p>
        </p:txBody>
      </p:sp>
      <p:sp>
        <p:nvSpPr>
          <p:cNvPr id="6" name="Rectangle 5"/>
          <p:cNvSpPr/>
          <p:nvPr/>
        </p:nvSpPr>
        <p:spPr>
          <a:xfrm>
            <a:off x="3810000" y="1701800"/>
            <a:ext cx="1016000" cy="292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stimate"/>
          <p:cNvSpPr txBox="1"/>
          <p:nvPr/>
        </p:nvSpPr>
        <p:spPr>
          <a:xfrm>
            <a:off x="3810000" y="1701800"/>
            <a:ext cx="1016000" cy="2921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Estimate</a:t>
            </a:r>
          </a:p>
        </p:txBody>
      </p:sp>
      <p:sp>
        <p:nvSpPr>
          <p:cNvPr id="8" name="Rectangle 7"/>
          <p:cNvSpPr/>
          <p:nvPr/>
        </p:nvSpPr>
        <p:spPr>
          <a:xfrm>
            <a:off x="4826000" y="1701800"/>
            <a:ext cx="2286000" cy="292100"/>
          </a:xfrm>
          <a:prstGeom prst="rect">
            <a:avLst/>
          </a:prstGeom>
          <a:solidFill>
            <a:srgbClr val="EFEFEF"/>
          </a:solid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Unit / basis"/>
          <p:cNvSpPr txBox="1"/>
          <p:nvPr/>
        </p:nvSpPr>
        <p:spPr>
          <a:xfrm>
            <a:off x="4826000" y="1701800"/>
            <a:ext cx="2286000" cy="2921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1">
                <a:solidFill>
                  <a:srgbClr val="000000"/>
                </a:solidFill>
                <a:latin typeface="Arial Narrow"/>
              </a:rPr>
              <a:t>Unit / basis</a:t>
            </a:r>
          </a:p>
        </p:txBody>
      </p:sp>
      <p:sp>
        <p:nvSpPr>
          <p:cNvPr id="10" name="Rectangle 9"/>
          <p:cNvSpPr/>
          <p:nvPr/>
        </p:nvSpPr>
        <p:spPr>
          <a:xfrm>
            <a:off x="444500" y="1993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raining duration"/>
          <p:cNvSpPr txBox="1"/>
          <p:nvPr/>
        </p:nvSpPr>
        <p:spPr>
          <a:xfrm>
            <a:off x="444500" y="1993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Training duration</a:t>
            </a:r>
          </a:p>
        </p:txBody>
      </p:sp>
      <p:sp>
        <p:nvSpPr>
          <p:cNvPr id="12" name="training_days"/>
          <p:cNvSpPr/>
          <p:nvPr/>
        </p:nvSpPr>
        <p:spPr>
          <a:xfrm>
            <a:off x="3810000" y="1993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raining_days"/>
          <p:cNvSpPr txBox="1"/>
          <p:nvPr/>
        </p:nvSpPr>
        <p:spPr>
          <a:xfrm>
            <a:off x="3810000" y="1993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a:t>
            </a:r>
          </a:p>
        </p:txBody>
      </p:sp>
      <p:sp>
        <p:nvSpPr>
          <p:cNvPr id="14" name="Rectangle 13"/>
          <p:cNvSpPr/>
          <p:nvPr/>
        </p:nvSpPr>
        <p:spPr>
          <a:xfrm>
            <a:off x="4826000" y="1993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ays"/>
          <p:cNvSpPr txBox="1"/>
          <p:nvPr/>
        </p:nvSpPr>
        <p:spPr>
          <a:xfrm>
            <a:off x="4826000" y="1993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days</a:t>
            </a:r>
          </a:p>
        </p:txBody>
      </p:sp>
      <p:sp>
        <p:nvSpPr>
          <p:cNvPr id="16" name="Rectangle 15"/>
          <p:cNvSpPr/>
          <p:nvPr/>
        </p:nvSpPr>
        <p:spPr>
          <a:xfrm>
            <a:off x="444500" y="2247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loud deployment setup quantity"/>
          <p:cNvSpPr txBox="1"/>
          <p:nvPr/>
        </p:nvSpPr>
        <p:spPr>
          <a:xfrm>
            <a:off x="444500" y="2247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Cloud deployment setup quantity</a:t>
            </a:r>
          </a:p>
        </p:txBody>
      </p:sp>
      <p:sp>
        <p:nvSpPr>
          <p:cNvPr id="18" name="server_qty"/>
          <p:cNvSpPr/>
          <p:nvPr/>
        </p:nvSpPr>
        <p:spPr>
          <a:xfrm>
            <a:off x="3810000" y="2247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erver_qty"/>
          <p:cNvSpPr txBox="1"/>
          <p:nvPr/>
        </p:nvSpPr>
        <p:spPr>
          <a:xfrm>
            <a:off x="3810000" y="2247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a:t>
            </a:r>
          </a:p>
        </p:txBody>
      </p:sp>
      <p:sp>
        <p:nvSpPr>
          <p:cNvPr id="20" name="Rectangle 19"/>
          <p:cNvSpPr/>
          <p:nvPr/>
        </p:nvSpPr>
        <p:spPr>
          <a:xfrm>
            <a:off x="4826000" y="2247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etup service"/>
          <p:cNvSpPr txBox="1"/>
          <p:nvPr/>
        </p:nvSpPr>
        <p:spPr>
          <a:xfrm>
            <a:off x="4826000" y="2247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setup service</a:t>
            </a:r>
          </a:p>
        </p:txBody>
      </p:sp>
      <p:sp>
        <p:nvSpPr>
          <p:cNvPr id="22" name="Rectangle 21"/>
          <p:cNvSpPr/>
          <p:nvPr/>
        </p:nvSpPr>
        <p:spPr>
          <a:xfrm>
            <a:off x="444500" y="2501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External backup drive quantity"/>
          <p:cNvSpPr txBox="1"/>
          <p:nvPr/>
        </p:nvSpPr>
        <p:spPr>
          <a:xfrm>
            <a:off x="444500" y="2501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External backup drive quantity</a:t>
            </a:r>
          </a:p>
        </p:txBody>
      </p:sp>
      <p:sp>
        <p:nvSpPr>
          <p:cNvPr id="24" name="drive_qty"/>
          <p:cNvSpPr/>
          <p:nvPr/>
        </p:nvSpPr>
        <p:spPr>
          <a:xfrm>
            <a:off x="3810000" y="2501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rive_qty"/>
          <p:cNvSpPr txBox="1"/>
          <p:nvPr/>
        </p:nvSpPr>
        <p:spPr>
          <a:xfrm>
            <a:off x="3810000" y="2501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a:t>
            </a:r>
          </a:p>
        </p:txBody>
      </p:sp>
      <p:sp>
        <p:nvSpPr>
          <p:cNvPr id="26" name="Rectangle 25"/>
          <p:cNvSpPr/>
          <p:nvPr/>
        </p:nvSpPr>
        <p:spPr>
          <a:xfrm>
            <a:off x="4826000" y="2501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ne drive"/>
          <p:cNvSpPr txBox="1"/>
          <p:nvPr/>
        </p:nvSpPr>
        <p:spPr>
          <a:xfrm>
            <a:off x="4826000" y="2501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one drive</a:t>
            </a:r>
          </a:p>
        </p:txBody>
      </p:sp>
      <p:sp>
        <p:nvSpPr>
          <p:cNvPr id="28" name="Rectangle 27"/>
          <p:cNvSpPr/>
          <p:nvPr/>
        </p:nvSpPr>
        <p:spPr>
          <a:xfrm>
            <a:off x="444500" y="2755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pen-source / SSL package quantity"/>
          <p:cNvSpPr txBox="1"/>
          <p:nvPr/>
        </p:nvSpPr>
        <p:spPr>
          <a:xfrm>
            <a:off x="444500" y="2755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Open-source / SSL package quantity</a:t>
            </a:r>
          </a:p>
        </p:txBody>
      </p:sp>
      <p:sp>
        <p:nvSpPr>
          <p:cNvPr id="30" name="license_qty"/>
          <p:cNvSpPr/>
          <p:nvPr/>
        </p:nvSpPr>
        <p:spPr>
          <a:xfrm>
            <a:off x="3810000" y="2755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icense_qty"/>
          <p:cNvSpPr txBox="1"/>
          <p:nvPr/>
        </p:nvSpPr>
        <p:spPr>
          <a:xfrm>
            <a:off x="3810000" y="2755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a:t>
            </a:r>
          </a:p>
        </p:txBody>
      </p:sp>
      <p:sp>
        <p:nvSpPr>
          <p:cNvPr id="32" name="Rectangle 31"/>
          <p:cNvSpPr/>
          <p:nvPr/>
        </p:nvSpPr>
        <p:spPr>
          <a:xfrm>
            <a:off x="4826000" y="2755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 package"/>
          <p:cNvSpPr txBox="1"/>
          <p:nvPr/>
        </p:nvSpPr>
        <p:spPr>
          <a:xfrm>
            <a:off x="4826000" y="2755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free package</a:t>
            </a:r>
          </a:p>
        </p:txBody>
      </p:sp>
      <p:sp>
        <p:nvSpPr>
          <p:cNvPr id="34" name="Rectangle 33"/>
          <p:cNvSpPr/>
          <p:nvPr/>
        </p:nvSpPr>
        <p:spPr>
          <a:xfrm>
            <a:off x="444500" y="3009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lanning exchange rate"/>
          <p:cNvSpPr txBox="1"/>
          <p:nvPr/>
        </p:nvSpPr>
        <p:spPr>
          <a:xfrm>
            <a:off x="444500" y="3009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Planning exchange rate</a:t>
            </a:r>
          </a:p>
        </p:txBody>
      </p:sp>
      <p:sp>
        <p:nvSpPr>
          <p:cNvPr id="36" name="fx_php_usd"/>
          <p:cNvSpPr/>
          <p:nvPr/>
        </p:nvSpPr>
        <p:spPr>
          <a:xfrm>
            <a:off x="3810000" y="3009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x_php_usd"/>
          <p:cNvSpPr txBox="1"/>
          <p:nvPr/>
        </p:nvSpPr>
        <p:spPr>
          <a:xfrm>
            <a:off x="3810000" y="3009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65</a:t>
            </a:r>
          </a:p>
        </p:txBody>
      </p:sp>
      <p:sp>
        <p:nvSpPr>
          <p:cNvPr id="38" name="Rectangle 37"/>
          <p:cNvSpPr/>
          <p:nvPr/>
        </p:nvSpPr>
        <p:spPr>
          <a:xfrm>
            <a:off x="4826000" y="3009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HP per USD"/>
          <p:cNvSpPr txBox="1"/>
          <p:nvPr/>
        </p:nvSpPr>
        <p:spPr>
          <a:xfrm>
            <a:off x="4826000" y="3009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PHP per USD</a:t>
            </a:r>
          </a:p>
        </p:txBody>
      </p:sp>
      <p:sp>
        <p:nvSpPr>
          <p:cNvPr id="40" name="Rectangle 39"/>
          <p:cNvSpPr/>
          <p:nvPr/>
        </p:nvSpPr>
        <p:spPr>
          <a:xfrm>
            <a:off x="444500" y="3263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Hosted backend subscription"/>
          <p:cNvSpPr txBox="1"/>
          <p:nvPr/>
        </p:nvSpPr>
        <p:spPr>
          <a:xfrm>
            <a:off x="444500" y="3263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Hosted backend subscription</a:t>
            </a:r>
          </a:p>
        </p:txBody>
      </p:sp>
      <p:sp>
        <p:nvSpPr>
          <p:cNvPr id="42" name="database_usd_month"/>
          <p:cNvSpPr/>
          <p:nvPr/>
        </p:nvSpPr>
        <p:spPr>
          <a:xfrm>
            <a:off x="3810000" y="3263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database_usd_month"/>
          <p:cNvSpPr txBox="1"/>
          <p:nvPr/>
        </p:nvSpPr>
        <p:spPr>
          <a:xfrm>
            <a:off x="3810000" y="3263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25</a:t>
            </a:r>
          </a:p>
        </p:txBody>
      </p:sp>
      <p:sp>
        <p:nvSpPr>
          <p:cNvPr id="44" name="Rectangle 43"/>
          <p:cNvSpPr/>
          <p:nvPr/>
        </p:nvSpPr>
        <p:spPr>
          <a:xfrm>
            <a:off x="4826000" y="3263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USD per month [S1]"/>
          <p:cNvSpPr txBox="1"/>
          <p:nvPr/>
        </p:nvSpPr>
        <p:spPr>
          <a:xfrm>
            <a:off x="4826000" y="3263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USD per month [S1]</a:t>
            </a:r>
          </a:p>
        </p:txBody>
      </p:sp>
      <p:sp>
        <p:nvSpPr>
          <p:cNvPr id="46" name="Rectangle 45"/>
          <p:cNvSpPr/>
          <p:nvPr/>
        </p:nvSpPr>
        <p:spPr>
          <a:xfrm>
            <a:off x="444500" y="3517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dministrative time valuation"/>
          <p:cNvSpPr txBox="1"/>
          <p:nvPr/>
        </p:nvSpPr>
        <p:spPr>
          <a:xfrm>
            <a:off x="444500" y="3517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Administrative time valuation</a:t>
            </a:r>
          </a:p>
        </p:txBody>
      </p:sp>
      <p:sp>
        <p:nvSpPr>
          <p:cNvPr id="48" name="hourly_labor_rate"/>
          <p:cNvSpPr/>
          <p:nvPr/>
        </p:nvSpPr>
        <p:spPr>
          <a:xfrm>
            <a:off x="3810000" y="3517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hourly_labor_rate"/>
          <p:cNvSpPr txBox="1"/>
          <p:nvPr/>
        </p:nvSpPr>
        <p:spPr>
          <a:xfrm>
            <a:off x="3810000" y="3517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150.00</a:t>
            </a:r>
          </a:p>
        </p:txBody>
      </p:sp>
      <p:sp>
        <p:nvSpPr>
          <p:cNvPr id="50" name="Rectangle 49"/>
          <p:cNvSpPr/>
          <p:nvPr/>
        </p:nvSpPr>
        <p:spPr>
          <a:xfrm>
            <a:off x="4826000" y="3517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PHP per person-hour"/>
          <p:cNvSpPr txBox="1"/>
          <p:nvPr/>
        </p:nvSpPr>
        <p:spPr>
          <a:xfrm>
            <a:off x="4826000" y="3517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PHP per person-hour</a:t>
            </a:r>
          </a:p>
        </p:txBody>
      </p:sp>
      <p:sp>
        <p:nvSpPr>
          <p:cNvPr id="52" name="Rectangle 51"/>
          <p:cNvSpPr/>
          <p:nvPr/>
        </p:nvSpPr>
        <p:spPr>
          <a:xfrm>
            <a:off x="444500" y="3771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Existing inventory-monitoring time"/>
          <p:cNvSpPr txBox="1"/>
          <p:nvPr/>
        </p:nvSpPr>
        <p:spPr>
          <a:xfrm>
            <a:off x="444500" y="3771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Existing inventory-monitoring time</a:t>
            </a:r>
          </a:p>
        </p:txBody>
      </p:sp>
      <p:sp>
        <p:nvSpPr>
          <p:cNvPr id="54" name="existing_labor1_hours"/>
          <p:cNvSpPr/>
          <p:nvPr/>
        </p:nvSpPr>
        <p:spPr>
          <a:xfrm>
            <a:off x="3810000" y="3771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existing_labor1_hours"/>
          <p:cNvSpPr txBox="1"/>
          <p:nvPr/>
        </p:nvSpPr>
        <p:spPr>
          <a:xfrm>
            <a:off x="3810000" y="3771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40</a:t>
            </a:r>
          </a:p>
        </p:txBody>
      </p:sp>
      <p:sp>
        <p:nvSpPr>
          <p:cNvPr id="56" name="Rectangle 55"/>
          <p:cNvSpPr/>
          <p:nvPr/>
        </p:nvSpPr>
        <p:spPr>
          <a:xfrm>
            <a:off x="4826000" y="3771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person-hours per month"/>
          <p:cNvSpPr txBox="1"/>
          <p:nvPr/>
        </p:nvSpPr>
        <p:spPr>
          <a:xfrm>
            <a:off x="4826000" y="3771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person-hours per month</a:t>
            </a:r>
          </a:p>
        </p:txBody>
      </p:sp>
      <p:sp>
        <p:nvSpPr>
          <p:cNvPr id="58" name="Rectangle 57"/>
          <p:cNvSpPr/>
          <p:nvPr/>
        </p:nvSpPr>
        <p:spPr>
          <a:xfrm>
            <a:off x="444500" y="4025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Existing report-preparation time"/>
          <p:cNvSpPr txBox="1"/>
          <p:nvPr/>
        </p:nvSpPr>
        <p:spPr>
          <a:xfrm>
            <a:off x="444500" y="4025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Existing report-preparation time</a:t>
            </a:r>
          </a:p>
        </p:txBody>
      </p:sp>
      <p:sp>
        <p:nvSpPr>
          <p:cNvPr id="60" name="existing_labor2_hours"/>
          <p:cNvSpPr/>
          <p:nvPr/>
        </p:nvSpPr>
        <p:spPr>
          <a:xfrm>
            <a:off x="3810000" y="4025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existing_labor2_hours"/>
          <p:cNvSpPr txBox="1"/>
          <p:nvPr/>
        </p:nvSpPr>
        <p:spPr>
          <a:xfrm>
            <a:off x="3810000" y="4025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16</a:t>
            </a:r>
          </a:p>
        </p:txBody>
      </p:sp>
      <p:sp>
        <p:nvSpPr>
          <p:cNvPr id="62" name="Rectangle 61"/>
          <p:cNvSpPr/>
          <p:nvPr/>
        </p:nvSpPr>
        <p:spPr>
          <a:xfrm>
            <a:off x="4826000" y="4025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erson-hours per month"/>
          <p:cNvSpPr txBox="1"/>
          <p:nvPr/>
        </p:nvSpPr>
        <p:spPr>
          <a:xfrm>
            <a:off x="4826000" y="4025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person-hours per month</a:t>
            </a:r>
          </a:p>
        </p:txBody>
      </p:sp>
      <p:sp>
        <p:nvSpPr>
          <p:cNvPr id="64" name="Rectangle 63"/>
          <p:cNvSpPr/>
          <p:nvPr/>
        </p:nvSpPr>
        <p:spPr>
          <a:xfrm>
            <a:off x="444500" y="4279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Existing reconciliation / follow-up time"/>
          <p:cNvSpPr txBox="1"/>
          <p:nvPr/>
        </p:nvSpPr>
        <p:spPr>
          <a:xfrm>
            <a:off x="444500" y="4279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Existing reconciliation / follow-up time</a:t>
            </a:r>
          </a:p>
        </p:txBody>
      </p:sp>
      <p:sp>
        <p:nvSpPr>
          <p:cNvPr id="66" name="existing_labor3_hours"/>
          <p:cNvSpPr/>
          <p:nvPr/>
        </p:nvSpPr>
        <p:spPr>
          <a:xfrm>
            <a:off x="3810000" y="4279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xisting_labor3_hours"/>
          <p:cNvSpPr txBox="1"/>
          <p:nvPr/>
        </p:nvSpPr>
        <p:spPr>
          <a:xfrm>
            <a:off x="3810000" y="4279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24</a:t>
            </a:r>
          </a:p>
        </p:txBody>
      </p:sp>
      <p:sp>
        <p:nvSpPr>
          <p:cNvPr id="68" name="Rectangle 67"/>
          <p:cNvSpPr/>
          <p:nvPr/>
        </p:nvSpPr>
        <p:spPr>
          <a:xfrm>
            <a:off x="4826000" y="4279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person-hours per month"/>
          <p:cNvSpPr txBox="1"/>
          <p:nvPr/>
        </p:nvSpPr>
        <p:spPr>
          <a:xfrm>
            <a:off x="4826000" y="4279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person-hours per month</a:t>
            </a:r>
          </a:p>
        </p:txBody>
      </p:sp>
      <p:sp>
        <p:nvSpPr>
          <p:cNvPr id="70" name="Rectangle 69"/>
          <p:cNvSpPr/>
          <p:nvPr/>
        </p:nvSpPr>
        <p:spPr>
          <a:xfrm>
            <a:off x="444500" y="4533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roposed inventory-monitoring time"/>
          <p:cNvSpPr txBox="1"/>
          <p:nvPr/>
        </p:nvSpPr>
        <p:spPr>
          <a:xfrm>
            <a:off x="444500" y="4533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Proposed inventory-monitoring time</a:t>
            </a:r>
          </a:p>
        </p:txBody>
      </p:sp>
      <p:sp>
        <p:nvSpPr>
          <p:cNvPr id="72" name="proposed_labor1_hours"/>
          <p:cNvSpPr/>
          <p:nvPr/>
        </p:nvSpPr>
        <p:spPr>
          <a:xfrm>
            <a:off x="3810000" y="4533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roposed_labor1_hours"/>
          <p:cNvSpPr txBox="1"/>
          <p:nvPr/>
        </p:nvSpPr>
        <p:spPr>
          <a:xfrm>
            <a:off x="3810000" y="4533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20</a:t>
            </a:r>
          </a:p>
        </p:txBody>
      </p:sp>
      <p:sp>
        <p:nvSpPr>
          <p:cNvPr id="74" name="Rectangle 73"/>
          <p:cNvSpPr/>
          <p:nvPr/>
        </p:nvSpPr>
        <p:spPr>
          <a:xfrm>
            <a:off x="4826000" y="4533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person-hours per month"/>
          <p:cNvSpPr txBox="1"/>
          <p:nvPr/>
        </p:nvSpPr>
        <p:spPr>
          <a:xfrm>
            <a:off x="4826000" y="4533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person-hours per month</a:t>
            </a:r>
          </a:p>
        </p:txBody>
      </p:sp>
      <p:sp>
        <p:nvSpPr>
          <p:cNvPr id="76" name="Rectangle 75"/>
          <p:cNvSpPr/>
          <p:nvPr/>
        </p:nvSpPr>
        <p:spPr>
          <a:xfrm>
            <a:off x="444500" y="4787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roposed report-preparation time"/>
          <p:cNvSpPr txBox="1"/>
          <p:nvPr/>
        </p:nvSpPr>
        <p:spPr>
          <a:xfrm>
            <a:off x="444500" y="4787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Proposed report-preparation time</a:t>
            </a:r>
          </a:p>
        </p:txBody>
      </p:sp>
      <p:sp>
        <p:nvSpPr>
          <p:cNvPr id="78" name="proposed_labor2_hours"/>
          <p:cNvSpPr/>
          <p:nvPr/>
        </p:nvSpPr>
        <p:spPr>
          <a:xfrm>
            <a:off x="3810000" y="4787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roposed_labor2_hours"/>
          <p:cNvSpPr txBox="1"/>
          <p:nvPr/>
        </p:nvSpPr>
        <p:spPr>
          <a:xfrm>
            <a:off x="3810000" y="4787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6</a:t>
            </a:r>
          </a:p>
        </p:txBody>
      </p:sp>
      <p:sp>
        <p:nvSpPr>
          <p:cNvPr id="80" name="Rectangle 79"/>
          <p:cNvSpPr/>
          <p:nvPr/>
        </p:nvSpPr>
        <p:spPr>
          <a:xfrm>
            <a:off x="4826000" y="4787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erson-hours per month"/>
          <p:cNvSpPr txBox="1"/>
          <p:nvPr/>
        </p:nvSpPr>
        <p:spPr>
          <a:xfrm>
            <a:off x="4826000" y="4787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person-hours per month</a:t>
            </a:r>
          </a:p>
        </p:txBody>
      </p:sp>
      <p:sp>
        <p:nvSpPr>
          <p:cNvPr id="82" name="Rectangle 81"/>
          <p:cNvSpPr/>
          <p:nvPr/>
        </p:nvSpPr>
        <p:spPr>
          <a:xfrm>
            <a:off x="444500" y="5041900"/>
            <a:ext cx="33655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roposed reconciliation / follow-up time"/>
          <p:cNvSpPr txBox="1"/>
          <p:nvPr/>
        </p:nvSpPr>
        <p:spPr>
          <a:xfrm>
            <a:off x="444500" y="5041900"/>
            <a:ext cx="33655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Proposed reconciliation / follow-up time</a:t>
            </a:r>
          </a:p>
        </p:txBody>
      </p:sp>
      <p:sp>
        <p:nvSpPr>
          <p:cNvPr id="84" name="proposed_labor3_hours"/>
          <p:cNvSpPr/>
          <p:nvPr/>
        </p:nvSpPr>
        <p:spPr>
          <a:xfrm>
            <a:off x="3810000" y="5041900"/>
            <a:ext cx="101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roposed_labor3_hours"/>
          <p:cNvSpPr txBox="1"/>
          <p:nvPr/>
        </p:nvSpPr>
        <p:spPr>
          <a:xfrm>
            <a:off x="3810000" y="5041900"/>
            <a:ext cx="1016000" cy="254000"/>
          </a:xfrm>
          <a:prstGeom prst="rect">
            <a:avLst/>
          </a:prstGeom>
          <a:noFill/>
        </p:spPr>
        <p:txBody>
          <a:bodyPr wrap="none" anchor="t" lIns="25400" rIns="25400" tIns="25400" bIns="25400">
            <a:spAutoFit/>
          </a:bodyPr>
          <a:lstStyle/>
          <a:p>
            <a:pPr algn="r">
              <a:lnSpc>
                <a:spcPts val="1008"/>
              </a:lnSpc>
              <a:spcBef>
                <a:spcPts val="0"/>
              </a:spcBef>
              <a:spcAft>
                <a:spcPts val="0"/>
              </a:spcAft>
            </a:pPr>
            <a:r>
              <a:rPr sz="900" b="0">
                <a:solidFill>
                  <a:srgbClr val="000000"/>
                </a:solidFill>
                <a:latin typeface="Arial Narrow"/>
              </a:rPr>
              <a:t>12</a:t>
            </a:r>
          </a:p>
        </p:txBody>
      </p:sp>
      <p:sp>
        <p:nvSpPr>
          <p:cNvPr id="86" name="Rectangle 85"/>
          <p:cNvSpPr/>
          <p:nvPr/>
        </p:nvSpPr>
        <p:spPr>
          <a:xfrm>
            <a:off x="4826000" y="5041900"/>
            <a:ext cx="2286000" cy="254000"/>
          </a:xfrm>
          <a:prstGeom prst="rect">
            <a:avLst/>
          </a:prstGeom>
          <a:noFill/>
          <a:ln w="63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erson-hours per month"/>
          <p:cNvSpPr txBox="1"/>
          <p:nvPr/>
        </p:nvSpPr>
        <p:spPr>
          <a:xfrm>
            <a:off x="4826000" y="5041900"/>
            <a:ext cx="2286000" cy="254000"/>
          </a:xfrm>
          <a:prstGeom prst="rect">
            <a:avLst/>
          </a:prstGeom>
          <a:noFill/>
        </p:spPr>
        <p:txBody>
          <a:bodyPr wrap="none" anchor="t" lIns="25400" rIns="25400" tIns="25400" bIns="25400">
            <a:spAutoFit/>
          </a:bodyPr>
          <a:lstStyle/>
          <a:p>
            <a:pPr algn="l">
              <a:lnSpc>
                <a:spcPts val="1008"/>
              </a:lnSpc>
              <a:spcBef>
                <a:spcPts val="0"/>
              </a:spcBef>
              <a:spcAft>
                <a:spcPts val="0"/>
              </a:spcAft>
            </a:pPr>
            <a:r>
              <a:rPr sz="900" b="0">
                <a:solidFill>
                  <a:srgbClr val="000000"/>
                </a:solidFill>
                <a:latin typeface="Arial Narrow"/>
              </a:rPr>
              <a:t>person-hours per month</a:t>
            </a:r>
          </a:p>
        </p:txBody>
      </p:sp>
      <p:sp>
        <p:nvSpPr>
          <p:cNvPr id="88" name="Cost boundaries: coding/testing is covered by the development ret"/>
          <p:cNvSpPr txBox="1"/>
          <p:nvPr/>
        </p:nvSpPr>
        <p:spPr>
          <a:xfrm>
            <a:off x="444500" y="5499100"/>
            <a:ext cx="6667500" cy="685800"/>
          </a:xfrm>
          <a:prstGeom prst="rect">
            <a:avLst/>
          </a:prstGeom>
          <a:noFill/>
        </p:spPr>
        <p:txBody>
          <a:bodyPr wrap="none" anchor="t" lIns="0" rIns="0" tIns="0" bIns="0">
            <a:spAutoFit/>
          </a:bodyPr>
          <a:lstStyle/>
          <a:p>
            <a:pPr algn="l">
              <a:lnSpc>
                <a:spcPts val="1097"/>
              </a:lnSpc>
              <a:spcBef>
                <a:spcPts val="0"/>
              </a:spcBef>
              <a:spcAft>
                <a:spcPts val="0"/>
              </a:spcAft>
            </a:pPr>
            <a:r>
              <a:rPr sz="980" b="0">
                <a:solidFill>
                  <a:srgbClr val="000000"/>
                </a:solidFill>
                <a:latin typeface="Arial Narrow"/>
              </a:rPr>
              <a:t>Cost boundaries: coding/testing is covered by the development retainers; PHP 1,000 setup covers account provisioning and deployment checks.</a:t>
            </a:r>
          </a:p>
          <a:p>
            <a:pPr algn="l">
              <a:lnSpc>
                <a:spcPts val="1097"/>
              </a:lnSpc>
              <a:spcBef>
                <a:spcPts val="0"/>
              </a:spcBef>
              <a:spcAft>
                <a:spcPts val="0"/>
              </a:spcAft>
            </a:pPr>
            <a:r>
              <a:rPr sz="980" b="0">
                <a:solidFill>
                  <a:srgbClr val="000000"/>
                </a:solidFill>
                <a:latin typeface="Arial Narrow"/>
              </a:rPr>
              <a:t>The backup drive is a separate offline export copy. Hosted database storage and bundled database backups are paid once; frontend hosting,</a:t>
            </a:r>
          </a:p>
          <a:p>
            <a:pPr algn="l">
              <a:lnSpc>
                <a:spcPts val="1097"/>
              </a:lnSpc>
              <a:spcBef>
                <a:spcPts val="0"/>
              </a:spcBef>
              <a:spcAft>
                <a:spcPts val="0"/>
              </a:spcAft>
            </a:pPr>
            <a:r>
              <a:rPr sz="980" b="0">
                <a:solidFill>
                  <a:srgbClr val="000000"/>
                </a:solidFill>
                <a:latin typeface="Arial Narrow"/>
              </a:rPr>
              <a:t>open-source licenses and SSL add no separate fee.</a:t>
            </a:r>
          </a:p>
        </p:txBody>
      </p:sp>
      <p:sp>
        <p:nvSpPr>
          <p:cNvPr id="89" name="Labor basis: estimated monthly task time falls from 80 to 38 pers"/>
          <p:cNvSpPr txBox="1"/>
          <p:nvPr/>
        </p:nvSpPr>
        <p:spPr>
          <a:xfrm>
            <a:off x="444500" y="6299200"/>
            <a:ext cx="6667500" cy="711200"/>
          </a:xfrm>
          <a:prstGeom prst="rect">
            <a:avLst/>
          </a:prstGeom>
          <a:noFill/>
        </p:spPr>
        <p:txBody>
          <a:bodyPr wrap="none" anchor="t" lIns="0" rIns="0" tIns="0" bIns="0">
            <a:spAutoFit/>
          </a:bodyPr>
          <a:lstStyle/>
          <a:p>
            <a:pPr algn="l">
              <a:lnSpc>
                <a:spcPts val="1097"/>
              </a:lnSpc>
              <a:spcBef>
                <a:spcPts val="0"/>
              </a:spcBef>
              <a:spcAft>
                <a:spcPts val="0"/>
              </a:spcAft>
            </a:pPr>
            <a:r>
              <a:rPr sz="980" b="0">
                <a:solidFill>
                  <a:srgbClr val="000000"/>
                </a:solidFill>
                <a:latin typeface="Arial Narrow"/>
              </a:rPr>
              <a:t>Labor basis: estimated monthly task time falls from 80 to 38 person-hours. The 42 hours released each month equal 504 hours/year; at PHP</a:t>
            </a:r>
          </a:p>
          <a:p>
            <a:pPr algn="l">
              <a:lnSpc>
                <a:spcPts val="1097"/>
              </a:lnSpc>
              <a:spcBef>
                <a:spcPts val="0"/>
              </a:spcBef>
              <a:spcAft>
                <a:spcPts val="0"/>
              </a:spcAft>
            </a:pPr>
            <a:r>
              <a:rPr sz="980" b="0">
                <a:solidFill>
                  <a:srgbClr val="000000"/>
                </a:solidFill>
                <a:latin typeface="Arial Narrow"/>
              </a:rPr>
              <a:t>150/hour, productivity value is PHP 75,600/year. This does not reduce payroll. Supplies savings are PHP 4,690/year; after PHP 31,800 recurring</a:t>
            </a:r>
          </a:p>
          <a:p>
            <a:pPr algn="l">
              <a:lnSpc>
                <a:spcPts val="1097"/>
              </a:lnSpc>
              <a:spcBef>
                <a:spcPts val="0"/>
              </a:spcBef>
              <a:spcAft>
                <a:spcPts val="0"/>
              </a:spcAft>
            </a:pPr>
            <a:r>
              <a:rPr sz="980" b="0">
                <a:solidFill>
                  <a:srgbClr val="000000"/>
                </a:solidFill>
                <a:latin typeface="Arial Narrow"/>
              </a:rPr>
              <a:t>costs, net cash impact is negative PHP 27,110/year.</a:t>
            </a:r>
          </a:p>
        </p:txBody>
      </p:sp>
      <p:sp>
        <p:nvSpPr>
          <p:cNvPr id="90" name="BENCHMARKS AND SOURCES — CHECKED 24 OCTOBER 2026"/>
          <p:cNvSpPr txBox="1"/>
          <p:nvPr/>
        </p:nvSpPr>
        <p:spPr>
          <a:xfrm>
            <a:off x="444500" y="7150100"/>
            <a:ext cx="6667500" cy="228600"/>
          </a:xfrm>
          <a:prstGeom prst="rect">
            <a:avLst/>
          </a:prstGeom>
          <a:noFill/>
        </p:spPr>
        <p:txBody>
          <a:bodyPr wrap="none" anchor="t" lIns="25400" rIns="25400" tIns="25400" bIns="25400">
            <a:spAutoFit/>
          </a:bodyPr>
          <a:lstStyle/>
          <a:p>
            <a:pPr algn="l">
              <a:lnSpc>
                <a:spcPts val="1120"/>
              </a:lnSpc>
              <a:spcBef>
                <a:spcPts val="0"/>
              </a:spcBef>
              <a:spcAft>
                <a:spcPts val="0"/>
              </a:spcAft>
            </a:pPr>
            <a:r>
              <a:rPr sz="1000" b="1">
                <a:solidFill>
                  <a:srgbClr val="000000"/>
                </a:solidFill>
                <a:latin typeface="Arial Narrow"/>
              </a:rPr>
              <a:t>BENCHMARKS AND SOURCES — CHECKED 24 OCTOBER 2026</a:t>
            </a:r>
          </a:p>
        </p:txBody>
      </p:sp>
      <p:sp>
        <p:nvSpPr>
          <p:cNvPr id="91" name="[S1] Supabase Pro: USD 25/month starting price, within stated quo"/>
          <p:cNvSpPr txBox="1"/>
          <p:nvPr/>
        </p:nvSpPr>
        <p:spPr>
          <a:xfrm>
            <a:off x="444500" y="7493000"/>
            <a:ext cx="6667500" cy="355600"/>
          </a:xfrm>
          <a:prstGeom prst="rect">
            <a:avLst/>
          </a:prstGeom>
          <a:noFill/>
        </p:spPr>
        <p:txBody>
          <a:bodyPr wrap="none" anchor="t" lIns="0" rIns="0" tIns="0" bIns="0">
            <a:spAutoFit/>
          </a:bodyPr>
          <a:lstStyle/>
          <a:p>
            <a:pPr algn="l">
              <a:lnSpc>
                <a:spcPts val="985"/>
              </a:lnSpc>
              <a:spcBef>
                <a:spcPts val="0"/>
              </a:spcBef>
              <a:spcAft>
                <a:spcPts val="0"/>
              </a:spcAft>
            </a:pPr>
            <a:r>
              <a:rPr sz="880" b="0">
                <a:solidFill>
                  <a:srgbClr val="000000"/>
                </a:solidFill>
                <a:latin typeface="Arial Narrow"/>
              </a:rPr>
              <a:t>[S1] Supabase Pro: USD 25/month starting price, within stated quotas. https://supabase.com/pricing</a:t>
            </a:r>
          </a:p>
        </p:txBody>
      </p:sp>
      <p:sp>
        <p:nvSpPr>
          <p:cNvPr id="92" name="[S2] Cloudflare Pages Free: static hosting limits apply. https://"/>
          <p:cNvSpPr txBox="1"/>
          <p:nvPr/>
        </p:nvSpPr>
        <p:spPr>
          <a:xfrm>
            <a:off x="444500" y="7874000"/>
            <a:ext cx="6667500" cy="355600"/>
          </a:xfrm>
          <a:prstGeom prst="rect">
            <a:avLst/>
          </a:prstGeom>
          <a:noFill/>
        </p:spPr>
        <p:txBody>
          <a:bodyPr wrap="none" anchor="t" lIns="0" rIns="0" tIns="0" bIns="0">
            <a:spAutoFit/>
          </a:bodyPr>
          <a:lstStyle/>
          <a:p>
            <a:pPr algn="l">
              <a:lnSpc>
                <a:spcPts val="985"/>
              </a:lnSpc>
              <a:spcBef>
                <a:spcPts val="0"/>
              </a:spcBef>
              <a:spcAft>
                <a:spcPts val="0"/>
              </a:spcAft>
            </a:pPr>
            <a:r>
              <a:rPr sz="880" b="0">
                <a:solidFill>
                  <a:srgbClr val="000000"/>
                </a:solidFill>
                <a:latin typeface="Arial Narrow"/>
              </a:rPr>
              <a:t>[S2] Cloudflare Pages Free: static hosting limits apply. https://developers.cloudflare.com/pages/platform/limits/</a:t>
            </a:r>
          </a:p>
        </p:txBody>
      </p:sp>
      <p:sp>
        <p:nvSpPr>
          <p:cNvPr id="93" name="[S3] Registrar: no-markup domain pricing and included SSL. PHP 90"/>
          <p:cNvSpPr txBox="1"/>
          <p:nvPr/>
        </p:nvSpPr>
        <p:spPr>
          <a:xfrm>
            <a:off x="444500" y="8255000"/>
            <a:ext cx="6667500" cy="355600"/>
          </a:xfrm>
          <a:prstGeom prst="rect">
            <a:avLst/>
          </a:prstGeom>
          <a:noFill/>
        </p:spPr>
        <p:txBody>
          <a:bodyPr wrap="none" anchor="t" lIns="0" rIns="0" tIns="0" bIns="0">
            <a:spAutoFit/>
          </a:bodyPr>
          <a:lstStyle/>
          <a:p>
            <a:pPr algn="l">
              <a:lnSpc>
                <a:spcPts val="985"/>
              </a:lnSpc>
              <a:spcBef>
                <a:spcPts val="0"/>
              </a:spcBef>
              <a:spcAft>
                <a:spcPts val="0"/>
              </a:spcAft>
            </a:pPr>
            <a:r>
              <a:rPr sz="880" b="0">
                <a:solidFill>
                  <a:srgbClr val="000000"/>
                </a:solidFill>
                <a:latin typeface="Arial Narrow"/>
              </a:rPr>
              <a:t>[S3] Registrar: no-markup domain pricing and included SSL. PHP 900 is an allowance. https://www.cloudflare.com/domains/</a:t>
            </a:r>
          </a:p>
        </p:txBody>
      </p:sp>
      <p:sp>
        <p:nvSpPr>
          <p:cNvPr id="94" name="[S4] Philippine wage context only; company wages are unknown. htt"/>
          <p:cNvSpPr txBox="1"/>
          <p:nvPr/>
        </p:nvSpPr>
        <p:spPr>
          <a:xfrm>
            <a:off x="444500" y="8636000"/>
            <a:ext cx="6667500" cy="355600"/>
          </a:xfrm>
          <a:prstGeom prst="rect">
            <a:avLst/>
          </a:prstGeom>
          <a:noFill/>
        </p:spPr>
        <p:txBody>
          <a:bodyPr wrap="none" anchor="t" lIns="0" rIns="0" tIns="0" bIns="0">
            <a:spAutoFit/>
          </a:bodyPr>
          <a:lstStyle/>
          <a:p>
            <a:pPr algn="l">
              <a:lnSpc>
                <a:spcPts val="985"/>
              </a:lnSpc>
              <a:spcBef>
                <a:spcPts val="0"/>
              </a:spcBef>
              <a:spcAft>
                <a:spcPts val="0"/>
              </a:spcAft>
            </a:pPr>
            <a:r>
              <a:rPr sz="880" b="0">
                <a:solidFill>
                  <a:srgbClr val="000000"/>
                </a:solidFill>
                <a:latin typeface="Arial Narrow"/>
              </a:rPr>
              <a:t>[S4] Philippine wage context only; company wages are unknown. https://nwpc.dole.gov.ph/ncr/</a:t>
            </a:r>
          </a:p>
        </p:txBody>
      </p:sp>
      <p:sp>
        <p:nvSpPr>
          <p:cNvPr id="95" name="[S5] Official FX reference. PHP 65/USD is a rounded planning conv"/>
          <p:cNvSpPr txBox="1"/>
          <p:nvPr/>
        </p:nvSpPr>
        <p:spPr>
          <a:xfrm>
            <a:off x="444500" y="9017000"/>
            <a:ext cx="6667500" cy="355600"/>
          </a:xfrm>
          <a:prstGeom prst="rect">
            <a:avLst/>
          </a:prstGeom>
          <a:noFill/>
        </p:spPr>
        <p:txBody>
          <a:bodyPr wrap="none" anchor="t" lIns="0" rIns="0" tIns="0" bIns="0">
            <a:spAutoFit/>
          </a:bodyPr>
          <a:lstStyle/>
          <a:p>
            <a:pPr algn="l">
              <a:lnSpc>
                <a:spcPts val="985"/>
              </a:lnSpc>
              <a:spcBef>
                <a:spcPts val="0"/>
              </a:spcBef>
              <a:spcAft>
                <a:spcPts val="0"/>
              </a:spcAft>
            </a:pPr>
            <a:r>
              <a:rPr sz="880" b="0">
                <a:solidFill>
                  <a:srgbClr val="000000"/>
                </a:solidFill>
                <a:latin typeface="Arial Narrow"/>
              </a:rPr>
              <a:t>[S5] Official FX reference. PHP 65/USD is a rounded planning conversion. https://www.bsp.gov.ph/SitePages/Statistics/exchangerate.aspx</a:t>
            </a:r>
          </a:p>
        </p:txBody>
      </p:sp>
      <p:sp>
        <p:nvSpPr>
          <p:cNvPr id="96" name="Other rates, supplies quantities, hardware allowance and time red"/>
          <p:cNvSpPr txBox="1"/>
          <p:nvPr/>
        </p:nvSpPr>
        <p:spPr>
          <a:xfrm>
            <a:off x="444500" y="9398000"/>
            <a:ext cx="6667500" cy="355600"/>
          </a:xfrm>
          <a:prstGeom prst="rect">
            <a:avLst/>
          </a:prstGeom>
          <a:noFill/>
        </p:spPr>
        <p:txBody>
          <a:bodyPr wrap="none" anchor="t" lIns="0" rIns="0" tIns="0" bIns="0">
            <a:spAutoFit/>
          </a:bodyPr>
          <a:lstStyle/>
          <a:p>
            <a:pPr algn="l">
              <a:lnSpc>
                <a:spcPts val="985"/>
              </a:lnSpc>
              <a:spcBef>
                <a:spcPts val="0"/>
              </a:spcBef>
              <a:spcAft>
                <a:spcPts val="0"/>
              </a:spcAft>
            </a:pPr>
            <a:r>
              <a:rPr sz="880" b="0">
                <a:solidFill>
                  <a:srgbClr val="000000"/>
                </a:solidFill>
                <a:latin typeface="Arial Narrow"/>
              </a:rPr>
              <a:t>Other rates, supplies quantities, hardware allowance and time reductions are analyst estimates, not quotations. Training includes a basic two-day orientation; any</a:t>
            </a:r>
          </a:p>
          <a:p>
            <a:pPr algn="l">
              <a:lnSpc>
                <a:spcPts val="985"/>
              </a:lnSpc>
              <a:spcBef>
                <a:spcPts val="0"/>
              </a:spcBef>
              <a:spcAft>
                <a:spcPts val="0"/>
              </a:spcAft>
            </a:pPr>
            <a:r>
              <a:rPr sz="880" b="0">
                <a:solidFill>
                  <a:srgbClr val="000000"/>
                </a:solidFill>
                <a:latin typeface="Arial Narrow"/>
              </a:rPr>
              <a:t>additional paid participant overtime needs a revised budget. Confirm taxes, actual usage and remaining development scope before spending.</a:t>
            </a:r>
          </a:p>
        </p:txBody>
      </p:sp>
      <p:sp>
        <p:nvSpPr>
          <p:cNvPr id="97" name="PLANNING ESTIMATES; COMPANY SOURCE: GREEN INVENTORY TABLE ONLY"/>
          <p:cNvSpPr txBox="1"/>
          <p:nvPr/>
        </p:nvSpPr>
        <p:spPr>
          <a:xfrm>
            <a:off x="444500" y="10172700"/>
            <a:ext cx="6096000" cy="177800"/>
          </a:xfrm>
          <a:prstGeom prst="rect">
            <a:avLst/>
          </a:prstGeom>
          <a:noFill/>
        </p:spPr>
        <p:txBody>
          <a:bodyPr wrap="none" anchor="t" lIns="24637" rIns="24637" tIns="24637" bIns="24637">
            <a:spAutoFit/>
          </a:bodyPr>
          <a:lstStyle/>
          <a:p>
            <a:pPr algn="l">
              <a:lnSpc>
                <a:spcPts val="952"/>
              </a:lnSpc>
              <a:spcBef>
                <a:spcPts val="0"/>
              </a:spcBef>
              <a:spcAft>
                <a:spcPts val="0"/>
              </a:spcAft>
            </a:pPr>
            <a:r>
              <a:rPr sz="850" b="0">
                <a:solidFill>
                  <a:srgbClr val="000000"/>
                </a:solidFill>
                <a:latin typeface="Arial Narrow"/>
              </a:rPr>
              <a:t>PLANNING ESTIMATES; COMPANY SOURCE: GREEN INVENTORY TABLE ONLY</a:t>
            </a:r>
          </a:p>
        </p:txBody>
      </p:sp>
      <p:sp>
        <p:nvSpPr>
          <p:cNvPr id="98" name="5"/>
          <p:cNvSpPr txBox="1"/>
          <p:nvPr/>
        </p:nvSpPr>
        <p:spPr>
          <a:xfrm>
            <a:off x="6616700" y="10172700"/>
            <a:ext cx="558800" cy="177800"/>
          </a:xfrm>
          <a:prstGeom prst="rect">
            <a:avLst/>
          </a:prstGeom>
          <a:noFill/>
        </p:spPr>
        <p:txBody>
          <a:bodyPr wrap="none" anchor="t" lIns="13969" rIns="13969" tIns="13969" bIns="13969">
            <a:spAutoFit/>
          </a:bodyPr>
          <a:lstStyle/>
          <a:p>
            <a:pPr algn="r">
              <a:lnSpc>
                <a:spcPts val="1120"/>
              </a:lnSpc>
              <a:spcBef>
                <a:spcPts val="0"/>
              </a:spcBef>
              <a:spcAft>
                <a:spcPts val="0"/>
              </a:spcAft>
            </a:pPr>
            <a:r>
              <a:rPr sz="1000" b="0">
                <a:solidFill>
                  <a:srgbClr val="000000"/>
                </a:solidFill>
                <a:latin typeface="Arial Narrow"/>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SiteTrace Cost-Benefit Worksheets — Realistic Planning Estimates</dc:title>
  <dc:subject>Estimated financial scenario; green-table inventory quantities remain the only company data</dc:subject>
  <dc:creator>SiteTrace Academic Documentation</dc:creator>
  <cp:keywords/>
  <dc:description>generated using python-pptx</dc:description>
  <cp:lastModifiedBy>Steve Canny</cp:lastModifiedBy>
  <cp:revision>1</cp:revision>
  <dcterms:created xsi:type="dcterms:W3CDTF">2026-10-24T00:00:00Z</dcterms:created>
  <dcterms:modified xsi:type="dcterms:W3CDTF">2013-01-27T09:15:58Z</dcterms:modified>
  <cp:category/>
</cp:coreProperties>
</file>