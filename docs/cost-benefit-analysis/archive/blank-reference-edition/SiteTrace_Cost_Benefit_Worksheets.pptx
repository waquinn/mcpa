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Recreated from supplied reference photographs. Only the green company monitoring image supplies company data. Financial amounts, development duration and other missing inputs remain blank. Application records are demonstration data and are excluded. First three slides reproduce the three reference views; slide four is the green source appendix.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Recreated from supplied reference photographs. Only the green company monitoring image supplies company data. Financial amounts, development duration and other missing inputs remain blank. Application records are demonstration data and are excluded. First three slides reproduce the three reference views; slide four is the green source appendix.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Recreated from supplied reference photographs. Only the green company monitoring image supplies company data. Financial amounts, development duration and other missing inputs remain blank. Application records are demonstration data and are excluded. First three slides reproduce the three reference views; slide four is the green source appendix.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Recreated from supplied reference photographs. Only the green company monitoring image supplies company data. Financial amounts, development duration and other missing inputs remain blank. Application records are demonstration data and are excluded. First three slides reproduce the three reference views; slide four is the green source appendix.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58800" y="1041400"/>
            <a:ext cx="6438900" cy="7366000"/>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159500" y="7594600"/>
            <a:ext cx="673100" cy="457200"/>
          </a:xfrm>
          <a:prstGeom prst="rect">
            <a:avLst/>
          </a:prstGeom>
          <a:noFill/>
          <a:ln w="1016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58800" y="558800"/>
            <a:ext cx="6438900" cy="228600"/>
          </a:xfrm>
          <a:prstGeom prst="rect">
            <a:avLst/>
          </a:prstGeom>
          <a:solidFill>
            <a:srgbClr val="6A18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UNIT 2: Systems Planning"/>
          <p:cNvSpPr txBox="1"/>
          <p:nvPr/>
        </p:nvSpPr>
        <p:spPr>
          <a:xfrm>
            <a:off x="558800" y="558800"/>
            <a:ext cx="6438900" cy="228600"/>
          </a:xfrm>
          <a:prstGeom prst="rect">
            <a:avLst/>
          </a:prstGeom>
          <a:noFill/>
        </p:spPr>
        <p:txBody>
          <a:bodyPr wrap="none" anchor="t" lIns="39369" rIns="39369" tIns="39369" bIns="39369">
            <a:spAutoFit/>
          </a:bodyPr>
          <a:lstStyle/>
          <a:p>
            <a:pPr algn="l">
              <a:lnSpc>
                <a:spcPts val="1120"/>
              </a:lnSpc>
              <a:spcBef>
                <a:spcPts val="0"/>
              </a:spcBef>
              <a:spcAft>
                <a:spcPts val="0"/>
              </a:spcAft>
            </a:pPr>
            <a:r>
              <a:rPr sz="1000" b="1">
                <a:solidFill>
                  <a:srgbClr val="FFFFFF"/>
                </a:solidFill>
                <a:latin typeface="Arial Narrow"/>
              </a:rPr>
              <a:t>UNIT 2: Systems Planning</a:t>
            </a:r>
          </a:p>
        </p:txBody>
      </p:sp>
      <p:sp>
        <p:nvSpPr>
          <p:cNvPr id="6" name="IT303: SYSTEMS ANALYSIS AND DESIGN"/>
          <p:cNvSpPr txBox="1"/>
          <p:nvPr/>
        </p:nvSpPr>
        <p:spPr>
          <a:xfrm>
            <a:off x="558800" y="10172700"/>
            <a:ext cx="5778500" cy="177800"/>
          </a:xfrm>
          <a:prstGeom prst="rect">
            <a:avLst/>
          </a:prstGeom>
          <a:noFill/>
        </p:spPr>
        <p:txBody>
          <a:bodyPr wrap="none" anchor="t" lIns="24637" rIns="24637" tIns="24637" bIns="24637">
            <a:spAutoFit/>
          </a:bodyPr>
          <a:lstStyle/>
          <a:p>
            <a:pPr algn="l">
              <a:lnSpc>
                <a:spcPts val="952"/>
              </a:lnSpc>
              <a:spcBef>
                <a:spcPts val="0"/>
              </a:spcBef>
              <a:spcAft>
                <a:spcPts val="0"/>
              </a:spcAft>
            </a:pPr>
            <a:r>
              <a:rPr sz="850" b="0">
                <a:solidFill>
                  <a:srgbClr val="000000"/>
                </a:solidFill>
                <a:latin typeface="Arial Narrow"/>
              </a:rPr>
              <a:t>IT303: SYSTEMS ANALYSIS AND DESIGN</a:t>
            </a:r>
          </a:p>
        </p:txBody>
      </p:sp>
      <p:sp>
        <p:nvSpPr>
          <p:cNvPr id="7" name="1"/>
          <p:cNvSpPr txBox="1"/>
          <p:nvPr/>
        </p:nvSpPr>
        <p:spPr>
          <a:xfrm>
            <a:off x="6438900" y="10172700"/>
            <a:ext cx="558800" cy="177800"/>
          </a:xfrm>
          <a:prstGeom prst="rect">
            <a:avLst/>
          </a:prstGeom>
          <a:noFill/>
        </p:spPr>
        <p:txBody>
          <a:bodyPr wrap="none" anchor="t" lIns="13969" rIns="13969" tIns="13969" bIns="13969">
            <a:spAutoFit/>
          </a:bodyPr>
          <a:lstStyle/>
          <a:p>
            <a:pPr algn="r">
              <a:lnSpc>
                <a:spcPts val="1120"/>
              </a:lnSpc>
              <a:spcBef>
                <a:spcPts val="0"/>
              </a:spcBef>
              <a:spcAft>
                <a:spcPts val="0"/>
              </a:spcAft>
            </a:pPr>
            <a:r>
              <a:rPr sz="1000" b="0">
                <a:solidFill>
                  <a:srgbClr val="000000"/>
                </a:solidFill>
                <a:latin typeface="Arial Narrow"/>
              </a:rPr>
              <a:t>1</a:t>
            </a:r>
          </a:p>
        </p:txBody>
      </p:sp>
      <p:sp>
        <p:nvSpPr>
          <p:cNvPr id="8" name="BREAKDOWN OF ONE TIME COST WORKSHEET"/>
          <p:cNvSpPr txBox="1"/>
          <p:nvPr/>
        </p:nvSpPr>
        <p:spPr>
          <a:xfrm>
            <a:off x="685800" y="1155700"/>
            <a:ext cx="6159500" cy="241300"/>
          </a:xfrm>
          <a:prstGeom prst="rect">
            <a:avLst/>
          </a:prstGeom>
          <a:noFill/>
        </p:spPr>
        <p:txBody>
          <a:bodyPr wrap="none" anchor="t" lIns="25400" rIns="25400" tIns="25400" bIns="25400">
            <a:spAutoFit/>
          </a:bodyPr>
          <a:lstStyle/>
          <a:p>
            <a:pPr algn="ctr">
              <a:lnSpc>
                <a:spcPts val="1344"/>
              </a:lnSpc>
              <a:spcBef>
                <a:spcPts val="0"/>
              </a:spcBef>
              <a:spcAft>
                <a:spcPts val="0"/>
              </a:spcAft>
            </a:pPr>
            <a:r>
              <a:rPr sz="1200" b="1">
                <a:solidFill>
                  <a:srgbClr val="000000"/>
                </a:solidFill>
                <a:latin typeface="Arial Narrow"/>
              </a:rPr>
              <a:t>BREAKDOWN OF ONE TIME COST WORKSHEET</a:t>
            </a:r>
          </a:p>
        </p:txBody>
      </p:sp>
      <p:sp>
        <p:nvSpPr>
          <p:cNvPr id="9" name="Assuming that the project development duration is ______ MONTHS"/>
          <p:cNvSpPr txBox="1"/>
          <p:nvPr/>
        </p:nvSpPr>
        <p:spPr>
          <a:xfrm>
            <a:off x="685800" y="1485900"/>
            <a:ext cx="6159500" cy="254000"/>
          </a:xfrm>
          <a:prstGeom prst="rect">
            <a:avLst/>
          </a:prstGeom>
          <a:noFill/>
        </p:spPr>
        <p:txBody>
          <a:bodyPr wrap="none" anchor="t" lIns="25400" rIns="25400" tIns="25400" bIns="25400">
            <a:spAutoFit/>
          </a:bodyPr>
          <a:lstStyle/>
          <a:p>
            <a:pPr algn="l">
              <a:lnSpc>
                <a:spcPts val="1176"/>
              </a:lnSpc>
              <a:spcBef>
                <a:spcPts val="0"/>
              </a:spcBef>
              <a:spcAft>
                <a:spcPts val="0"/>
              </a:spcAft>
            </a:pPr>
            <a:r>
              <a:rPr sz="1050" b="0">
                <a:solidFill>
                  <a:srgbClr val="000000"/>
                </a:solidFill>
                <a:latin typeface="Arial Narrow"/>
              </a:rPr>
              <a:t>Assuming that the project development duration is ______ MONTHS</a:t>
            </a:r>
          </a:p>
        </p:txBody>
      </p:sp>
      <p:sp>
        <p:nvSpPr>
          <p:cNvPr id="10" name="A. Development Cost"/>
          <p:cNvSpPr txBox="1"/>
          <p:nvPr/>
        </p:nvSpPr>
        <p:spPr>
          <a:xfrm>
            <a:off x="685800" y="1905000"/>
            <a:ext cx="2844800" cy="254000"/>
          </a:xfrm>
          <a:prstGeom prst="rect">
            <a:avLst/>
          </a:prstGeom>
          <a:noFill/>
        </p:spPr>
        <p:txBody>
          <a:bodyPr wrap="none" anchor="t" lIns="25400" rIns="25400" tIns="25400" bIns="25400">
            <a:spAutoFit/>
          </a:bodyPr>
          <a:lstStyle/>
          <a:p>
            <a:pPr algn="l">
              <a:lnSpc>
                <a:spcPts val="1232"/>
              </a:lnSpc>
              <a:spcBef>
                <a:spcPts val="0"/>
              </a:spcBef>
              <a:spcAft>
                <a:spcPts val="0"/>
              </a:spcAft>
            </a:pPr>
            <a:r>
              <a:rPr sz="1100" b="0">
                <a:solidFill>
                  <a:srgbClr val="000000"/>
                </a:solidFill>
                <a:latin typeface="Arial Narrow"/>
              </a:rPr>
              <a:t>A. Development Cost</a:t>
            </a:r>
          </a:p>
        </p:txBody>
      </p:sp>
      <p:sp>
        <p:nvSpPr>
          <p:cNvPr id="11" name="Rectangle 10"/>
          <p:cNvSpPr/>
          <p:nvPr/>
        </p:nvSpPr>
        <p:spPr>
          <a:xfrm>
            <a:off x="685800" y="2260600"/>
            <a:ext cx="13208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escription"/>
          <p:cNvSpPr txBox="1"/>
          <p:nvPr/>
        </p:nvSpPr>
        <p:spPr>
          <a:xfrm>
            <a:off x="685800" y="2260600"/>
            <a:ext cx="1320800" cy="241300"/>
          </a:xfrm>
          <a:prstGeom prst="rect">
            <a:avLst/>
          </a:prstGeom>
          <a:noFill/>
        </p:spPr>
        <p:txBody>
          <a:bodyPr wrap="none" anchor="t" lIns="25400" rIns="25400" tIns="25400" bIns="25400">
            <a:spAutoFit/>
          </a:bodyPr>
          <a:lstStyle/>
          <a:p>
            <a:pPr algn="l">
              <a:lnSpc>
                <a:spcPts val="974"/>
              </a:lnSpc>
              <a:spcBef>
                <a:spcPts val="0"/>
              </a:spcBef>
              <a:spcAft>
                <a:spcPts val="0"/>
              </a:spcAft>
            </a:pPr>
            <a:r>
              <a:rPr sz="869" b="1">
                <a:solidFill>
                  <a:srgbClr val="000000"/>
                </a:solidFill>
                <a:latin typeface="Arial Narrow"/>
              </a:rPr>
              <a:t>Description</a:t>
            </a:r>
          </a:p>
        </p:txBody>
      </p:sp>
      <p:sp>
        <p:nvSpPr>
          <p:cNvPr id="13" name="Rectangle 12"/>
          <p:cNvSpPr/>
          <p:nvPr/>
        </p:nvSpPr>
        <p:spPr>
          <a:xfrm>
            <a:off x="2006600" y="2260600"/>
            <a:ext cx="7747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alary/Month"/>
          <p:cNvSpPr txBox="1"/>
          <p:nvPr/>
        </p:nvSpPr>
        <p:spPr>
          <a:xfrm>
            <a:off x="2006600" y="2260600"/>
            <a:ext cx="774700" cy="241300"/>
          </a:xfrm>
          <a:prstGeom prst="rect">
            <a:avLst/>
          </a:prstGeom>
          <a:noFill/>
        </p:spPr>
        <p:txBody>
          <a:bodyPr wrap="none" anchor="t" lIns="25400" rIns="25400" tIns="25400" bIns="25400">
            <a:spAutoFit/>
          </a:bodyPr>
          <a:lstStyle/>
          <a:p>
            <a:pPr algn="l">
              <a:lnSpc>
                <a:spcPts val="974"/>
              </a:lnSpc>
              <a:spcBef>
                <a:spcPts val="0"/>
              </a:spcBef>
              <a:spcAft>
                <a:spcPts val="0"/>
              </a:spcAft>
            </a:pPr>
            <a:r>
              <a:rPr sz="869" b="1">
                <a:solidFill>
                  <a:srgbClr val="000000"/>
                </a:solidFill>
                <a:latin typeface="Arial Narrow"/>
              </a:rPr>
              <a:t>Salary/Month</a:t>
            </a:r>
          </a:p>
        </p:txBody>
      </p:sp>
      <p:sp>
        <p:nvSpPr>
          <p:cNvPr id="15" name="Rectangle 14"/>
          <p:cNvSpPr/>
          <p:nvPr/>
        </p:nvSpPr>
        <p:spPr>
          <a:xfrm>
            <a:off x="2781300" y="2260600"/>
            <a:ext cx="3048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Mo."/>
          <p:cNvSpPr txBox="1"/>
          <p:nvPr/>
        </p:nvSpPr>
        <p:spPr>
          <a:xfrm>
            <a:off x="2781300" y="2260600"/>
            <a:ext cx="304800" cy="241300"/>
          </a:xfrm>
          <a:prstGeom prst="rect">
            <a:avLst/>
          </a:prstGeom>
          <a:noFill/>
        </p:spPr>
        <p:txBody>
          <a:bodyPr wrap="none" anchor="t" lIns="25400" rIns="25400" tIns="25400" bIns="25400">
            <a:spAutoFit/>
          </a:bodyPr>
          <a:lstStyle/>
          <a:p>
            <a:pPr algn="l">
              <a:lnSpc>
                <a:spcPts val="974"/>
              </a:lnSpc>
              <a:spcBef>
                <a:spcPts val="0"/>
              </a:spcBef>
              <a:spcAft>
                <a:spcPts val="0"/>
              </a:spcAft>
            </a:pPr>
            <a:r>
              <a:rPr sz="869" b="1">
                <a:solidFill>
                  <a:srgbClr val="000000"/>
                </a:solidFill>
                <a:latin typeface="Arial Narrow"/>
              </a:rPr>
              <a:t>Mo.</a:t>
            </a:r>
          </a:p>
        </p:txBody>
      </p:sp>
      <p:sp>
        <p:nvSpPr>
          <p:cNvPr id="17" name="Rectangle 16"/>
          <p:cNvSpPr/>
          <p:nvPr/>
        </p:nvSpPr>
        <p:spPr>
          <a:xfrm>
            <a:off x="3086100" y="2260600"/>
            <a:ext cx="4445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ub_Total"/>
          <p:cNvSpPr txBox="1"/>
          <p:nvPr/>
        </p:nvSpPr>
        <p:spPr>
          <a:xfrm>
            <a:off x="3086100" y="2260600"/>
            <a:ext cx="444500" cy="241300"/>
          </a:xfrm>
          <a:prstGeom prst="rect">
            <a:avLst/>
          </a:prstGeom>
          <a:noFill/>
        </p:spPr>
        <p:txBody>
          <a:bodyPr wrap="none" anchor="t" lIns="25400" rIns="25400" tIns="25400" bIns="25400">
            <a:spAutoFit/>
          </a:bodyPr>
          <a:lstStyle/>
          <a:p>
            <a:pPr algn="l">
              <a:lnSpc>
                <a:spcPts val="974"/>
              </a:lnSpc>
              <a:spcBef>
                <a:spcPts val="0"/>
              </a:spcBef>
              <a:spcAft>
                <a:spcPts val="0"/>
              </a:spcAft>
            </a:pPr>
            <a:r>
              <a:rPr sz="869" b="1">
                <a:solidFill>
                  <a:srgbClr val="000000"/>
                </a:solidFill>
                <a:latin typeface="Arial Narrow"/>
              </a:rPr>
              <a:t>Sub_Total</a:t>
            </a:r>
          </a:p>
        </p:txBody>
      </p:sp>
      <p:sp>
        <p:nvSpPr>
          <p:cNvPr id="19" name="Rectangle 18"/>
          <p:cNvSpPr/>
          <p:nvPr/>
        </p:nvSpPr>
        <p:spPr>
          <a:xfrm>
            <a:off x="685800" y="2501900"/>
            <a:ext cx="13208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ystem Analyst"/>
          <p:cNvSpPr txBox="1"/>
          <p:nvPr/>
        </p:nvSpPr>
        <p:spPr>
          <a:xfrm>
            <a:off x="685800" y="2501900"/>
            <a:ext cx="13208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System Analyst</a:t>
            </a:r>
          </a:p>
        </p:txBody>
      </p:sp>
      <p:sp>
        <p:nvSpPr>
          <p:cNvPr id="21" name="dev1_rate"/>
          <p:cNvSpPr/>
          <p:nvPr/>
        </p:nvSpPr>
        <p:spPr>
          <a:xfrm>
            <a:off x="2006600" y="2501900"/>
            <a:ext cx="7747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ev1_months"/>
          <p:cNvSpPr/>
          <p:nvPr/>
        </p:nvSpPr>
        <p:spPr>
          <a:xfrm>
            <a:off x="2781300" y="2501900"/>
            <a:ext cx="3048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ev1_subtotal"/>
          <p:cNvSpPr/>
          <p:nvPr/>
        </p:nvSpPr>
        <p:spPr>
          <a:xfrm>
            <a:off x="3086100" y="2501900"/>
            <a:ext cx="4445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 y="2743200"/>
            <a:ext cx="13208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rogrammer"/>
          <p:cNvSpPr txBox="1"/>
          <p:nvPr/>
        </p:nvSpPr>
        <p:spPr>
          <a:xfrm>
            <a:off x="685800" y="2743200"/>
            <a:ext cx="13208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Programmer</a:t>
            </a:r>
          </a:p>
        </p:txBody>
      </p:sp>
      <p:sp>
        <p:nvSpPr>
          <p:cNvPr id="26" name="dev2_rate"/>
          <p:cNvSpPr/>
          <p:nvPr/>
        </p:nvSpPr>
        <p:spPr>
          <a:xfrm>
            <a:off x="2006600" y="2743200"/>
            <a:ext cx="7747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ev2_months"/>
          <p:cNvSpPr/>
          <p:nvPr/>
        </p:nvSpPr>
        <p:spPr>
          <a:xfrm>
            <a:off x="2781300" y="2743200"/>
            <a:ext cx="3048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ev2_subtotal"/>
          <p:cNvSpPr/>
          <p:nvPr/>
        </p:nvSpPr>
        <p:spPr>
          <a:xfrm>
            <a:off x="3086100" y="2743200"/>
            <a:ext cx="4445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 y="2984500"/>
            <a:ext cx="13208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Encoder"/>
          <p:cNvSpPr txBox="1"/>
          <p:nvPr/>
        </p:nvSpPr>
        <p:spPr>
          <a:xfrm>
            <a:off x="685800" y="2984500"/>
            <a:ext cx="13208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Encoder</a:t>
            </a:r>
          </a:p>
        </p:txBody>
      </p:sp>
      <p:sp>
        <p:nvSpPr>
          <p:cNvPr id="31" name="dev3_rate"/>
          <p:cNvSpPr/>
          <p:nvPr/>
        </p:nvSpPr>
        <p:spPr>
          <a:xfrm>
            <a:off x="2006600" y="2984500"/>
            <a:ext cx="7747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ev3_months"/>
          <p:cNvSpPr/>
          <p:nvPr/>
        </p:nvSpPr>
        <p:spPr>
          <a:xfrm>
            <a:off x="2781300" y="2984500"/>
            <a:ext cx="3048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ev3_subtotal"/>
          <p:cNvSpPr/>
          <p:nvPr/>
        </p:nvSpPr>
        <p:spPr>
          <a:xfrm>
            <a:off x="3086100" y="2984500"/>
            <a:ext cx="4445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85800" y="3225800"/>
            <a:ext cx="13208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searcher"/>
          <p:cNvSpPr txBox="1"/>
          <p:nvPr/>
        </p:nvSpPr>
        <p:spPr>
          <a:xfrm>
            <a:off x="685800" y="3225800"/>
            <a:ext cx="13208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Researcher</a:t>
            </a:r>
          </a:p>
        </p:txBody>
      </p:sp>
      <p:sp>
        <p:nvSpPr>
          <p:cNvPr id="36" name="dev4_rate"/>
          <p:cNvSpPr/>
          <p:nvPr/>
        </p:nvSpPr>
        <p:spPr>
          <a:xfrm>
            <a:off x="2006600" y="3225800"/>
            <a:ext cx="7747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ev4_months"/>
          <p:cNvSpPr/>
          <p:nvPr/>
        </p:nvSpPr>
        <p:spPr>
          <a:xfrm>
            <a:off x="2781300" y="3225800"/>
            <a:ext cx="3048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dev4_subtotal"/>
          <p:cNvSpPr/>
          <p:nvPr/>
        </p:nvSpPr>
        <p:spPr>
          <a:xfrm>
            <a:off x="3086100" y="3225800"/>
            <a:ext cx="4445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85800" y="3467100"/>
            <a:ext cx="24003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OTAL"/>
          <p:cNvSpPr txBox="1"/>
          <p:nvPr/>
        </p:nvSpPr>
        <p:spPr>
          <a:xfrm>
            <a:off x="685800" y="3467100"/>
            <a:ext cx="24003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TOTAL</a:t>
            </a:r>
          </a:p>
        </p:txBody>
      </p:sp>
      <p:sp>
        <p:nvSpPr>
          <p:cNvPr id="41" name="development_total"/>
          <p:cNvSpPr/>
          <p:nvPr/>
        </p:nvSpPr>
        <p:spPr>
          <a:xfrm>
            <a:off x="3086100" y="3467100"/>
            <a:ext cx="4445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 User Training"/>
          <p:cNvSpPr txBox="1"/>
          <p:nvPr/>
        </p:nvSpPr>
        <p:spPr>
          <a:xfrm>
            <a:off x="685800" y="3962400"/>
            <a:ext cx="2844800" cy="254000"/>
          </a:xfrm>
          <a:prstGeom prst="rect">
            <a:avLst/>
          </a:prstGeom>
          <a:noFill/>
        </p:spPr>
        <p:txBody>
          <a:bodyPr wrap="none" anchor="t" lIns="25400" rIns="25400" tIns="25400" bIns="25400">
            <a:spAutoFit/>
          </a:bodyPr>
          <a:lstStyle/>
          <a:p>
            <a:pPr algn="l">
              <a:lnSpc>
                <a:spcPts val="1232"/>
              </a:lnSpc>
              <a:spcBef>
                <a:spcPts val="0"/>
              </a:spcBef>
              <a:spcAft>
                <a:spcPts val="0"/>
              </a:spcAft>
            </a:pPr>
            <a:r>
              <a:rPr sz="1100" b="0">
                <a:solidFill>
                  <a:srgbClr val="000000"/>
                </a:solidFill>
                <a:latin typeface="Arial Narrow"/>
              </a:rPr>
              <a:t>B. User Training</a:t>
            </a:r>
          </a:p>
        </p:txBody>
      </p:sp>
      <p:sp>
        <p:nvSpPr>
          <p:cNvPr id="43" name="Rectangle 42"/>
          <p:cNvSpPr/>
          <p:nvPr/>
        </p:nvSpPr>
        <p:spPr>
          <a:xfrm>
            <a:off x="685800" y="4330700"/>
            <a:ext cx="13208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Description"/>
          <p:cNvSpPr txBox="1"/>
          <p:nvPr/>
        </p:nvSpPr>
        <p:spPr>
          <a:xfrm>
            <a:off x="685800" y="4330700"/>
            <a:ext cx="1320800" cy="241300"/>
          </a:xfrm>
          <a:prstGeom prst="rect">
            <a:avLst/>
          </a:prstGeom>
          <a:noFill/>
        </p:spPr>
        <p:txBody>
          <a:bodyPr wrap="none" anchor="t" lIns="25400" rIns="25400" tIns="25400" bIns="25400">
            <a:spAutoFit/>
          </a:bodyPr>
          <a:lstStyle/>
          <a:p>
            <a:pPr algn="l">
              <a:lnSpc>
                <a:spcPts val="996"/>
              </a:lnSpc>
              <a:spcBef>
                <a:spcPts val="0"/>
              </a:spcBef>
              <a:spcAft>
                <a:spcPts val="0"/>
              </a:spcAft>
            </a:pPr>
            <a:r>
              <a:rPr sz="890" b="1">
                <a:solidFill>
                  <a:srgbClr val="000000"/>
                </a:solidFill>
                <a:latin typeface="Arial Narrow"/>
              </a:rPr>
              <a:t>Description</a:t>
            </a:r>
          </a:p>
        </p:txBody>
      </p:sp>
      <p:sp>
        <p:nvSpPr>
          <p:cNvPr id="45" name="Rectangle 44"/>
          <p:cNvSpPr/>
          <p:nvPr/>
        </p:nvSpPr>
        <p:spPr>
          <a:xfrm>
            <a:off x="2006600" y="4330700"/>
            <a:ext cx="8890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Honoraria/day"/>
          <p:cNvSpPr txBox="1"/>
          <p:nvPr/>
        </p:nvSpPr>
        <p:spPr>
          <a:xfrm>
            <a:off x="2006600" y="4330700"/>
            <a:ext cx="889000" cy="241300"/>
          </a:xfrm>
          <a:prstGeom prst="rect">
            <a:avLst/>
          </a:prstGeom>
          <a:noFill/>
        </p:spPr>
        <p:txBody>
          <a:bodyPr wrap="none" anchor="t" lIns="25400" rIns="25400" tIns="25400" bIns="25400">
            <a:spAutoFit/>
          </a:bodyPr>
          <a:lstStyle/>
          <a:p>
            <a:pPr algn="l">
              <a:lnSpc>
                <a:spcPts val="996"/>
              </a:lnSpc>
              <a:spcBef>
                <a:spcPts val="0"/>
              </a:spcBef>
              <a:spcAft>
                <a:spcPts val="0"/>
              </a:spcAft>
            </a:pPr>
            <a:r>
              <a:rPr sz="890" b="1">
                <a:solidFill>
                  <a:srgbClr val="000000"/>
                </a:solidFill>
                <a:latin typeface="Arial Narrow"/>
              </a:rPr>
              <a:t>Honoraria/day</a:t>
            </a:r>
          </a:p>
        </p:txBody>
      </p:sp>
      <p:sp>
        <p:nvSpPr>
          <p:cNvPr id="47" name="Rectangle 46"/>
          <p:cNvSpPr/>
          <p:nvPr/>
        </p:nvSpPr>
        <p:spPr>
          <a:xfrm>
            <a:off x="2895600" y="4330700"/>
            <a:ext cx="6350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ub_Total"/>
          <p:cNvSpPr txBox="1"/>
          <p:nvPr/>
        </p:nvSpPr>
        <p:spPr>
          <a:xfrm>
            <a:off x="2895600" y="4330700"/>
            <a:ext cx="635000" cy="241300"/>
          </a:xfrm>
          <a:prstGeom prst="rect">
            <a:avLst/>
          </a:prstGeom>
          <a:noFill/>
        </p:spPr>
        <p:txBody>
          <a:bodyPr wrap="none" anchor="t" lIns="25400" rIns="25400" tIns="25400" bIns="25400">
            <a:spAutoFit/>
          </a:bodyPr>
          <a:lstStyle/>
          <a:p>
            <a:pPr algn="l">
              <a:lnSpc>
                <a:spcPts val="996"/>
              </a:lnSpc>
              <a:spcBef>
                <a:spcPts val="0"/>
              </a:spcBef>
              <a:spcAft>
                <a:spcPts val="0"/>
              </a:spcAft>
            </a:pPr>
            <a:r>
              <a:rPr sz="890" b="1">
                <a:solidFill>
                  <a:srgbClr val="000000"/>
                </a:solidFill>
                <a:latin typeface="Arial Narrow"/>
              </a:rPr>
              <a:t>Sub_Total</a:t>
            </a:r>
          </a:p>
        </p:txBody>
      </p:sp>
      <p:sp>
        <p:nvSpPr>
          <p:cNvPr id="49" name="Rectangle 48"/>
          <p:cNvSpPr/>
          <p:nvPr/>
        </p:nvSpPr>
        <p:spPr>
          <a:xfrm>
            <a:off x="685800" y="4572000"/>
            <a:ext cx="13208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User Training"/>
          <p:cNvSpPr txBox="1"/>
          <p:nvPr/>
        </p:nvSpPr>
        <p:spPr>
          <a:xfrm>
            <a:off x="685800" y="4572000"/>
            <a:ext cx="13208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User Training</a:t>
            </a:r>
          </a:p>
        </p:txBody>
      </p:sp>
      <p:sp>
        <p:nvSpPr>
          <p:cNvPr id="51" name="training_rate"/>
          <p:cNvSpPr/>
          <p:nvPr/>
        </p:nvSpPr>
        <p:spPr>
          <a:xfrm>
            <a:off x="2006600" y="4572000"/>
            <a:ext cx="8890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raining_subtotal"/>
          <p:cNvSpPr/>
          <p:nvPr/>
        </p:nvSpPr>
        <p:spPr>
          <a:xfrm>
            <a:off x="2895600" y="4572000"/>
            <a:ext cx="6350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85800" y="4813300"/>
            <a:ext cx="13208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raining Kit"/>
          <p:cNvSpPr txBox="1"/>
          <p:nvPr/>
        </p:nvSpPr>
        <p:spPr>
          <a:xfrm>
            <a:off x="685800" y="4813300"/>
            <a:ext cx="13208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Training Kit</a:t>
            </a:r>
          </a:p>
        </p:txBody>
      </p:sp>
      <p:sp>
        <p:nvSpPr>
          <p:cNvPr id="55" name="training_kit"/>
          <p:cNvSpPr/>
          <p:nvPr/>
        </p:nvSpPr>
        <p:spPr>
          <a:xfrm>
            <a:off x="2006600" y="4813300"/>
            <a:ext cx="8890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raining_kit_subtotal"/>
          <p:cNvSpPr/>
          <p:nvPr/>
        </p:nvSpPr>
        <p:spPr>
          <a:xfrm>
            <a:off x="2895600" y="4813300"/>
            <a:ext cx="6350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85800" y="5054600"/>
            <a:ext cx="22098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OTAL"/>
          <p:cNvSpPr txBox="1"/>
          <p:nvPr/>
        </p:nvSpPr>
        <p:spPr>
          <a:xfrm>
            <a:off x="685800" y="5054600"/>
            <a:ext cx="22098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TOTAL</a:t>
            </a:r>
          </a:p>
        </p:txBody>
      </p:sp>
      <p:sp>
        <p:nvSpPr>
          <p:cNvPr id="59" name="training_total"/>
          <p:cNvSpPr/>
          <p:nvPr/>
        </p:nvSpPr>
        <p:spPr>
          <a:xfrm>
            <a:off x="2895600" y="5054600"/>
            <a:ext cx="635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 ADDITIONAL HARDWARE/SOFTWARE"/>
          <p:cNvSpPr txBox="1"/>
          <p:nvPr/>
        </p:nvSpPr>
        <p:spPr>
          <a:xfrm>
            <a:off x="685800" y="5588000"/>
            <a:ext cx="2844800" cy="254000"/>
          </a:xfrm>
          <a:prstGeom prst="rect">
            <a:avLst/>
          </a:prstGeom>
          <a:noFill/>
        </p:spPr>
        <p:txBody>
          <a:bodyPr wrap="none" anchor="t" lIns="25400" rIns="25400" tIns="25400" bIns="25400">
            <a:spAutoFit/>
          </a:bodyPr>
          <a:lstStyle/>
          <a:p>
            <a:pPr algn="l">
              <a:lnSpc>
                <a:spcPts val="1176"/>
              </a:lnSpc>
              <a:spcBef>
                <a:spcPts val="0"/>
              </a:spcBef>
              <a:spcAft>
                <a:spcPts val="0"/>
              </a:spcAft>
            </a:pPr>
            <a:r>
              <a:rPr sz="1050" b="0">
                <a:solidFill>
                  <a:srgbClr val="000000"/>
                </a:solidFill>
                <a:latin typeface="Arial Narrow"/>
              </a:rPr>
              <a:t>C. ADDITIONAL HARDWARE/SOFTWARE</a:t>
            </a:r>
          </a:p>
        </p:txBody>
      </p:sp>
      <p:sp>
        <p:nvSpPr>
          <p:cNvPr id="61" name="Rectangle 60"/>
          <p:cNvSpPr/>
          <p:nvPr/>
        </p:nvSpPr>
        <p:spPr>
          <a:xfrm>
            <a:off x="685800" y="5969000"/>
            <a:ext cx="13208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Description"/>
          <p:cNvSpPr txBox="1"/>
          <p:nvPr/>
        </p:nvSpPr>
        <p:spPr>
          <a:xfrm>
            <a:off x="685800" y="5969000"/>
            <a:ext cx="13208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Description</a:t>
            </a:r>
          </a:p>
        </p:txBody>
      </p:sp>
      <p:sp>
        <p:nvSpPr>
          <p:cNvPr id="63" name="Rectangle 62"/>
          <p:cNvSpPr/>
          <p:nvPr/>
        </p:nvSpPr>
        <p:spPr>
          <a:xfrm>
            <a:off x="2006600" y="5969000"/>
            <a:ext cx="8890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Unit Cost"/>
          <p:cNvSpPr txBox="1"/>
          <p:nvPr/>
        </p:nvSpPr>
        <p:spPr>
          <a:xfrm>
            <a:off x="2006600" y="5969000"/>
            <a:ext cx="8890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Unit Cost</a:t>
            </a:r>
          </a:p>
        </p:txBody>
      </p:sp>
      <p:sp>
        <p:nvSpPr>
          <p:cNvPr id="65" name="Rectangle 64"/>
          <p:cNvSpPr/>
          <p:nvPr/>
        </p:nvSpPr>
        <p:spPr>
          <a:xfrm>
            <a:off x="2895600" y="5969000"/>
            <a:ext cx="6350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ub_Total"/>
          <p:cNvSpPr txBox="1"/>
          <p:nvPr/>
        </p:nvSpPr>
        <p:spPr>
          <a:xfrm>
            <a:off x="2895600" y="5969000"/>
            <a:ext cx="6350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Sub_Total</a:t>
            </a:r>
          </a:p>
        </p:txBody>
      </p:sp>
      <p:sp>
        <p:nvSpPr>
          <p:cNvPr id="67" name="Rectangle 66"/>
          <p:cNvSpPr/>
          <p:nvPr/>
        </p:nvSpPr>
        <p:spPr>
          <a:xfrm>
            <a:off x="685800" y="6210300"/>
            <a:ext cx="13208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Database Server"/>
          <p:cNvSpPr txBox="1"/>
          <p:nvPr/>
        </p:nvSpPr>
        <p:spPr>
          <a:xfrm>
            <a:off x="685800" y="6210300"/>
            <a:ext cx="13208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Database Server</a:t>
            </a:r>
          </a:p>
        </p:txBody>
      </p:sp>
      <p:sp>
        <p:nvSpPr>
          <p:cNvPr id="69" name="server_rate"/>
          <p:cNvSpPr/>
          <p:nvPr/>
        </p:nvSpPr>
        <p:spPr>
          <a:xfrm>
            <a:off x="2006600" y="6210300"/>
            <a:ext cx="8890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erver_subtotal"/>
          <p:cNvSpPr/>
          <p:nvPr/>
        </p:nvSpPr>
        <p:spPr>
          <a:xfrm>
            <a:off x="2895600" y="6210300"/>
            <a:ext cx="6350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685800" y="6451600"/>
            <a:ext cx="13208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External Drive"/>
          <p:cNvSpPr txBox="1"/>
          <p:nvPr/>
        </p:nvSpPr>
        <p:spPr>
          <a:xfrm>
            <a:off x="685800" y="6451600"/>
            <a:ext cx="13208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External Drive</a:t>
            </a:r>
          </a:p>
        </p:txBody>
      </p:sp>
      <p:sp>
        <p:nvSpPr>
          <p:cNvPr id="73" name="drive_rate"/>
          <p:cNvSpPr/>
          <p:nvPr/>
        </p:nvSpPr>
        <p:spPr>
          <a:xfrm>
            <a:off x="2006600" y="6451600"/>
            <a:ext cx="8890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drive_subtotal"/>
          <p:cNvSpPr/>
          <p:nvPr/>
        </p:nvSpPr>
        <p:spPr>
          <a:xfrm>
            <a:off x="2895600" y="6451600"/>
            <a:ext cx="6350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85800" y="6692900"/>
            <a:ext cx="1320800" cy="4572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Licensed Software /&#10;Vendor Platform"/>
          <p:cNvSpPr txBox="1"/>
          <p:nvPr/>
        </p:nvSpPr>
        <p:spPr>
          <a:xfrm>
            <a:off x="685800" y="6692900"/>
            <a:ext cx="1320800" cy="4572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Licensed Software /</a:t>
            </a:r>
          </a:p>
          <a:p>
            <a:pPr algn="l">
              <a:lnSpc>
                <a:spcPts val="1008"/>
              </a:lnSpc>
              <a:spcBef>
                <a:spcPts val="0"/>
              </a:spcBef>
              <a:spcAft>
                <a:spcPts val="0"/>
              </a:spcAft>
            </a:pPr>
            <a:r>
              <a:rPr sz="900" b="0">
                <a:solidFill>
                  <a:srgbClr val="000000"/>
                </a:solidFill>
                <a:latin typeface="Arial Narrow"/>
              </a:rPr>
              <a:t>Vendor Platform</a:t>
            </a:r>
          </a:p>
        </p:txBody>
      </p:sp>
      <p:sp>
        <p:nvSpPr>
          <p:cNvPr id="77" name="license_rate"/>
          <p:cNvSpPr/>
          <p:nvPr/>
        </p:nvSpPr>
        <p:spPr>
          <a:xfrm>
            <a:off x="2006600" y="6692900"/>
            <a:ext cx="889000" cy="4572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license_subtotal"/>
          <p:cNvSpPr/>
          <p:nvPr/>
        </p:nvSpPr>
        <p:spPr>
          <a:xfrm>
            <a:off x="2895600" y="6692900"/>
            <a:ext cx="635000" cy="4572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85800" y="7150100"/>
            <a:ext cx="22098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OTAL"/>
          <p:cNvSpPr txBox="1"/>
          <p:nvPr/>
        </p:nvSpPr>
        <p:spPr>
          <a:xfrm>
            <a:off x="685800" y="7150100"/>
            <a:ext cx="22098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TOTAL</a:t>
            </a:r>
          </a:p>
        </p:txBody>
      </p:sp>
      <p:sp>
        <p:nvSpPr>
          <p:cNvPr id="81" name="hardware_total"/>
          <p:cNvSpPr/>
          <p:nvPr/>
        </p:nvSpPr>
        <p:spPr>
          <a:xfrm>
            <a:off x="2895600" y="7150100"/>
            <a:ext cx="635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685800" y="7747000"/>
            <a:ext cx="2844800" cy="5334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otal One Time Cost = Total Development Cost + Total&#10;User Trainin"/>
          <p:cNvSpPr txBox="1"/>
          <p:nvPr/>
        </p:nvSpPr>
        <p:spPr>
          <a:xfrm>
            <a:off x="685800" y="7747000"/>
            <a:ext cx="2844800" cy="533400"/>
          </a:xfrm>
          <a:prstGeom prst="rect">
            <a:avLst/>
          </a:prstGeom>
          <a:noFill/>
        </p:spPr>
        <p:txBody>
          <a:bodyPr wrap="none" anchor="t" lIns="63500" rIns="63500" tIns="63500" bIns="63500">
            <a:spAutoFit/>
          </a:bodyPr>
          <a:lstStyle/>
          <a:p>
            <a:pPr algn="l">
              <a:lnSpc>
                <a:spcPts val="1064"/>
              </a:lnSpc>
              <a:spcBef>
                <a:spcPts val="0"/>
              </a:spcBef>
              <a:spcAft>
                <a:spcPts val="0"/>
              </a:spcAft>
            </a:pPr>
            <a:r>
              <a:rPr sz="950" b="0">
                <a:solidFill>
                  <a:srgbClr val="000000"/>
                </a:solidFill>
                <a:latin typeface="Arial Narrow"/>
              </a:rPr>
              <a:t>Total One Time Cost = Total Development Cost + Total</a:t>
            </a:r>
          </a:p>
          <a:p>
            <a:pPr algn="l">
              <a:lnSpc>
                <a:spcPts val="1064"/>
              </a:lnSpc>
              <a:spcBef>
                <a:spcPts val="0"/>
              </a:spcBef>
              <a:spcAft>
                <a:spcPts val="0"/>
              </a:spcAft>
            </a:pPr>
            <a:r>
              <a:rPr sz="950" b="0">
                <a:solidFill>
                  <a:srgbClr val="000000"/>
                </a:solidFill>
                <a:latin typeface="Arial Narrow"/>
              </a:rPr>
              <a:t>User Training + Total Additional Hardware/Software</a:t>
            </a:r>
          </a:p>
        </p:txBody>
      </p:sp>
      <p:sp>
        <p:nvSpPr>
          <p:cNvPr id="84" name="BREAKDOWN OF ONE TIME COST WORKSHEET"/>
          <p:cNvSpPr txBox="1"/>
          <p:nvPr/>
        </p:nvSpPr>
        <p:spPr>
          <a:xfrm>
            <a:off x="3949700" y="1917700"/>
            <a:ext cx="2895600" cy="368300"/>
          </a:xfrm>
          <a:prstGeom prst="rect">
            <a:avLst/>
          </a:prstGeom>
          <a:noFill/>
        </p:spPr>
        <p:txBody>
          <a:bodyPr wrap="none" anchor="t" lIns="25400" rIns="25400" tIns="25400" bIns="25400">
            <a:spAutoFit/>
          </a:bodyPr>
          <a:lstStyle/>
          <a:p>
            <a:pPr algn="ctr">
              <a:lnSpc>
                <a:spcPts val="1176"/>
              </a:lnSpc>
              <a:spcBef>
                <a:spcPts val="0"/>
              </a:spcBef>
              <a:spcAft>
                <a:spcPts val="0"/>
              </a:spcAft>
            </a:pPr>
            <a:r>
              <a:rPr sz="1050" b="1">
                <a:solidFill>
                  <a:srgbClr val="000000"/>
                </a:solidFill>
                <a:latin typeface="Arial Narrow"/>
              </a:rPr>
              <a:t>BREAKDOWN OF ONE TIME COST WORKSHEET</a:t>
            </a:r>
          </a:p>
        </p:txBody>
      </p:sp>
      <p:sp>
        <p:nvSpPr>
          <p:cNvPr id="85" name="Rectangle 84"/>
          <p:cNvSpPr/>
          <p:nvPr/>
        </p:nvSpPr>
        <p:spPr>
          <a:xfrm>
            <a:off x="3949700" y="2425700"/>
            <a:ext cx="21209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A. Development Cost"/>
          <p:cNvSpPr txBox="1"/>
          <p:nvPr/>
        </p:nvSpPr>
        <p:spPr>
          <a:xfrm>
            <a:off x="3949700" y="2425700"/>
            <a:ext cx="2120900" cy="241300"/>
          </a:xfrm>
          <a:prstGeom prst="rect">
            <a:avLst/>
          </a:prstGeom>
          <a:noFill/>
        </p:spPr>
        <p:txBody>
          <a:bodyPr wrap="none" anchor="t" lIns="25400" rIns="25400" tIns="25400" bIns="25400">
            <a:spAutoFit/>
          </a:bodyPr>
          <a:lstStyle/>
          <a:p>
            <a:pPr algn="l">
              <a:lnSpc>
                <a:spcPts val="1041"/>
              </a:lnSpc>
              <a:spcBef>
                <a:spcPts val="0"/>
              </a:spcBef>
              <a:spcAft>
                <a:spcPts val="0"/>
              </a:spcAft>
            </a:pPr>
            <a:r>
              <a:rPr sz="930" b="0">
                <a:solidFill>
                  <a:srgbClr val="000000"/>
                </a:solidFill>
                <a:latin typeface="Arial Narrow"/>
              </a:rPr>
              <a:t>A. Development Cost</a:t>
            </a:r>
          </a:p>
        </p:txBody>
      </p:sp>
      <p:sp>
        <p:nvSpPr>
          <p:cNvPr id="87" name="summary_development_total"/>
          <p:cNvSpPr/>
          <p:nvPr/>
        </p:nvSpPr>
        <p:spPr>
          <a:xfrm>
            <a:off x="6070600" y="2425700"/>
            <a:ext cx="7747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3949700" y="2667000"/>
            <a:ext cx="21209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B. User Training"/>
          <p:cNvSpPr txBox="1"/>
          <p:nvPr/>
        </p:nvSpPr>
        <p:spPr>
          <a:xfrm>
            <a:off x="3949700" y="2667000"/>
            <a:ext cx="2120900" cy="241300"/>
          </a:xfrm>
          <a:prstGeom prst="rect">
            <a:avLst/>
          </a:prstGeom>
          <a:noFill/>
        </p:spPr>
        <p:txBody>
          <a:bodyPr wrap="none" anchor="t" lIns="25400" rIns="25400" tIns="25400" bIns="25400">
            <a:spAutoFit/>
          </a:bodyPr>
          <a:lstStyle/>
          <a:p>
            <a:pPr algn="l">
              <a:lnSpc>
                <a:spcPts val="1041"/>
              </a:lnSpc>
              <a:spcBef>
                <a:spcPts val="0"/>
              </a:spcBef>
              <a:spcAft>
                <a:spcPts val="0"/>
              </a:spcAft>
            </a:pPr>
            <a:r>
              <a:rPr sz="930" b="0">
                <a:solidFill>
                  <a:srgbClr val="000000"/>
                </a:solidFill>
                <a:latin typeface="Arial Narrow"/>
              </a:rPr>
              <a:t>B. User Training</a:t>
            </a:r>
          </a:p>
        </p:txBody>
      </p:sp>
      <p:sp>
        <p:nvSpPr>
          <p:cNvPr id="90" name="summary_training_total"/>
          <p:cNvSpPr/>
          <p:nvPr/>
        </p:nvSpPr>
        <p:spPr>
          <a:xfrm>
            <a:off x="6070600" y="2667000"/>
            <a:ext cx="7747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3949700" y="2908300"/>
            <a:ext cx="2120900" cy="4318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C. Additional&#10;    Hardware/Software"/>
          <p:cNvSpPr txBox="1"/>
          <p:nvPr/>
        </p:nvSpPr>
        <p:spPr>
          <a:xfrm>
            <a:off x="3949700" y="2908300"/>
            <a:ext cx="2120900" cy="431800"/>
          </a:xfrm>
          <a:prstGeom prst="rect">
            <a:avLst/>
          </a:prstGeom>
          <a:noFill/>
        </p:spPr>
        <p:txBody>
          <a:bodyPr wrap="none" anchor="t" lIns="25400" rIns="25400" tIns="25400" bIns="25400">
            <a:spAutoFit/>
          </a:bodyPr>
          <a:lstStyle/>
          <a:p>
            <a:pPr algn="l">
              <a:lnSpc>
                <a:spcPts val="1041"/>
              </a:lnSpc>
              <a:spcBef>
                <a:spcPts val="0"/>
              </a:spcBef>
              <a:spcAft>
                <a:spcPts val="0"/>
              </a:spcAft>
            </a:pPr>
            <a:r>
              <a:rPr sz="930" b="0">
                <a:solidFill>
                  <a:srgbClr val="000000"/>
                </a:solidFill>
                <a:latin typeface="Arial Narrow"/>
              </a:rPr>
              <a:t>C. Additional</a:t>
            </a:r>
          </a:p>
          <a:p>
            <a:pPr algn="l">
              <a:lnSpc>
                <a:spcPts val="1041"/>
              </a:lnSpc>
              <a:spcBef>
                <a:spcPts val="0"/>
              </a:spcBef>
              <a:spcAft>
                <a:spcPts val="0"/>
              </a:spcAft>
            </a:pPr>
            <a:r>
              <a:rPr sz="930" b="0">
                <a:solidFill>
                  <a:srgbClr val="000000"/>
                </a:solidFill>
                <a:latin typeface="Arial Narrow"/>
              </a:rPr>
              <a:t>Hardware/Software</a:t>
            </a:r>
          </a:p>
        </p:txBody>
      </p:sp>
      <p:sp>
        <p:nvSpPr>
          <p:cNvPr id="93" name="summary_hardware_total"/>
          <p:cNvSpPr/>
          <p:nvPr/>
        </p:nvSpPr>
        <p:spPr>
          <a:xfrm>
            <a:off x="6070600" y="2908300"/>
            <a:ext cx="774700" cy="4318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3949700" y="3340100"/>
            <a:ext cx="2120900" cy="2667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OTAL ONE TIME COST"/>
          <p:cNvSpPr txBox="1"/>
          <p:nvPr/>
        </p:nvSpPr>
        <p:spPr>
          <a:xfrm>
            <a:off x="3949700" y="3340100"/>
            <a:ext cx="2120900" cy="266700"/>
          </a:xfrm>
          <a:prstGeom prst="rect">
            <a:avLst/>
          </a:prstGeom>
          <a:noFill/>
        </p:spPr>
        <p:txBody>
          <a:bodyPr wrap="none" anchor="t" lIns="25400" rIns="25400" tIns="25400" bIns="25400">
            <a:spAutoFit/>
          </a:bodyPr>
          <a:lstStyle/>
          <a:p>
            <a:pPr algn="l">
              <a:lnSpc>
                <a:spcPts val="1041"/>
              </a:lnSpc>
              <a:spcBef>
                <a:spcPts val="0"/>
              </a:spcBef>
              <a:spcAft>
                <a:spcPts val="0"/>
              </a:spcAft>
            </a:pPr>
            <a:r>
              <a:rPr sz="930" b="1">
                <a:solidFill>
                  <a:srgbClr val="000000"/>
                </a:solidFill>
                <a:latin typeface="Arial Narrow"/>
              </a:rPr>
              <a:t>TOTAL ONE TIME COST</a:t>
            </a:r>
          </a:p>
        </p:txBody>
      </p:sp>
      <p:sp>
        <p:nvSpPr>
          <p:cNvPr id="96" name="one_time_total"/>
          <p:cNvSpPr/>
          <p:nvPr/>
        </p:nvSpPr>
        <p:spPr>
          <a:xfrm>
            <a:off x="6070600" y="3340100"/>
            <a:ext cx="774700" cy="2667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3949700" y="3606800"/>
            <a:ext cx="2895600" cy="5588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otal One Time Cost = Total Development Cost + Total&#10;User Trainin"/>
          <p:cNvSpPr txBox="1"/>
          <p:nvPr/>
        </p:nvSpPr>
        <p:spPr>
          <a:xfrm>
            <a:off x="3949700" y="3606800"/>
            <a:ext cx="2895600" cy="558800"/>
          </a:xfrm>
          <a:prstGeom prst="rect">
            <a:avLst/>
          </a:prstGeom>
          <a:noFill/>
        </p:spPr>
        <p:txBody>
          <a:bodyPr wrap="none" anchor="t" lIns="50800" rIns="50800" tIns="50800" bIns="50800">
            <a:spAutoFit/>
          </a:bodyPr>
          <a:lstStyle/>
          <a:p>
            <a:pPr algn="l">
              <a:lnSpc>
                <a:spcPts val="1030"/>
              </a:lnSpc>
              <a:spcBef>
                <a:spcPts val="0"/>
              </a:spcBef>
              <a:spcAft>
                <a:spcPts val="0"/>
              </a:spcAft>
            </a:pPr>
            <a:r>
              <a:rPr sz="919" b="0">
                <a:solidFill>
                  <a:srgbClr val="000000"/>
                </a:solidFill>
                <a:latin typeface="Arial Narrow"/>
              </a:rPr>
              <a:t>Total One Time Cost = Total Development Cost + Total</a:t>
            </a:r>
          </a:p>
          <a:p>
            <a:pPr algn="l">
              <a:lnSpc>
                <a:spcPts val="1030"/>
              </a:lnSpc>
              <a:spcBef>
                <a:spcPts val="0"/>
              </a:spcBef>
              <a:spcAft>
                <a:spcPts val="0"/>
              </a:spcAft>
            </a:pPr>
            <a:r>
              <a:rPr sz="919" b="0">
                <a:solidFill>
                  <a:srgbClr val="000000"/>
                </a:solidFill>
                <a:latin typeface="Arial Narrow"/>
              </a:rPr>
              <a:t>User Training + Total Additional Hardware/Software</a:t>
            </a:r>
          </a:p>
        </p:txBody>
      </p:sp>
      <p:sp>
        <p:nvSpPr>
          <p:cNvPr id="99" name="RECURRING COST"/>
          <p:cNvSpPr txBox="1"/>
          <p:nvPr/>
        </p:nvSpPr>
        <p:spPr>
          <a:xfrm>
            <a:off x="3949700" y="4940300"/>
            <a:ext cx="2895600" cy="254000"/>
          </a:xfrm>
          <a:prstGeom prst="rect">
            <a:avLst/>
          </a:prstGeom>
          <a:noFill/>
        </p:spPr>
        <p:txBody>
          <a:bodyPr wrap="none" anchor="t" lIns="25400" rIns="25400" tIns="25400" bIns="25400">
            <a:spAutoFit/>
          </a:bodyPr>
          <a:lstStyle/>
          <a:p>
            <a:pPr algn="l">
              <a:lnSpc>
                <a:spcPts val="1232"/>
              </a:lnSpc>
              <a:spcBef>
                <a:spcPts val="0"/>
              </a:spcBef>
              <a:spcAft>
                <a:spcPts val="0"/>
              </a:spcAft>
            </a:pPr>
            <a:r>
              <a:rPr sz="1100" b="1">
                <a:solidFill>
                  <a:srgbClr val="000000"/>
                </a:solidFill>
                <a:latin typeface="Arial Narrow"/>
              </a:rPr>
              <a:t>RECURRING COST</a:t>
            </a:r>
          </a:p>
        </p:txBody>
      </p:sp>
      <p:sp>
        <p:nvSpPr>
          <p:cNvPr id="100" name="Rectangle 99"/>
          <p:cNvSpPr/>
          <p:nvPr/>
        </p:nvSpPr>
        <p:spPr>
          <a:xfrm>
            <a:off x="3949700" y="5207000"/>
            <a:ext cx="14859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Description"/>
          <p:cNvSpPr txBox="1"/>
          <p:nvPr/>
        </p:nvSpPr>
        <p:spPr>
          <a:xfrm>
            <a:off x="3949700" y="5207000"/>
            <a:ext cx="14859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Description</a:t>
            </a:r>
          </a:p>
        </p:txBody>
      </p:sp>
      <p:sp>
        <p:nvSpPr>
          <p:cNvPr id="102" name="Rectangle 101"/>
          <p:cNvSpPr/>
          <p:nvPr/>
        </p:nvSpPr>
        <p:spPr>
          <a:xfrm>
            <a:off x="5435600" y="5207000"/>
            <a:ext cx="7366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Unit Cost"/>
          <p:cNvSpPr txBox="1"/>
          <p:nvPr/>
        </p:nvSpPr>
        <p:spPr>
          <a:xfrm>
            <a:off x="5435600" y="5207000"/>
            <a:ext cx="7366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Unit Cost</a:t>
            </a:r>
          </a:p>
        </p:txBody>
      </p:sp>
      <p:sp>
        <p:nvSpPr>
          <p:cNvPr id="104" name="Rectangle 103"/>
          <p:cNvSpPr/>
          <p:nvPr/>
        </p:nvSpPr>
        <p:spPr>
          <a:xfrm>
            <a:off x="6172200" y="5207000"/>
            <a:ext cx="6731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Annually"/>
          <p:cNvSpPr txBox="1"/>
          <p:nvPr/>
        </p:nvSpPr>
        <p:spPr>
          <a:xfrm>
            <a:off x="6172200" y="5207000"/>
            <a:ext cx="6731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Annually</a:t>
            </a:r>
          </a:p>
        </p:txBody>
      </p:sp>
      <p:sp>
        <p:nvSpPr>
          <p:cNvPr id="106" name="Rectangle 105"/>
          <p:cNvSpPr/>
          <p:nvPr/>
        </p:nvSpPr>
        <p:spPr>
          <a:xfrm>
            <a:off x="3949700" y="5448300"/>
            <a:ext cx="14859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Software Maintenance"/>
          <p:cNvSpPr txBox="1"/>
          <p:nvPr/>
        </p:nvSpPr>
        <p:spPr>
          <a:xfrm>
            <a:off x="3949700" y="5448300"/>
            <a:ext cx="1485900" cy="241300"/>
          </a:xfrm>
          <a:prstGeom prst="rect">
            <a:avLst/>
          </a:prstGeom>
          <a:noFill/>
        </p:spPr>
        <p:txBody>
          <a:bodyPr wrap="none" anchor="t" lIns="25400" rIns="25400" tIns="25400" bIns="25400">
            <a:spAutoFit/>
          </a:bodyPr>
          <a:lstStyle/>
          <a:p>
            <a:pPr algn="l">
              <a:lnSpc>
                <a:spcPts val="985"/>
              </a:lnSpc>
              <a:spcBef>
                <a:spcPts val="0"/>
              </a:spcBef>
              <a:spcAft>
                <a:spcPts val="0"/>
              </a:spcAft>
            </a:pPr>
            <a:r>
              <a:rPr sz="880" b="0">
                <a:solidFill>
                  <a:srgbClr val="000000"/>
                </a:solidFill>
                <a:latin typeface="Arial Narrow"/>
              </a:rPr>
              <a:t>Software Maintenance</a:t>
            </a:r>
          </a:p>
        </p:txBody>
      </p:sp>
      <p:sp>
        <p:nvSpPr>
          <p:cNvPr id="108" name="maintenance_rate"/>
          <p:cNvSpPr/>
          <p:nvPr/>
        </p:nvSpPr>
        <p:spPr>
          <a:xfrm>
            <a:off x="5435600" y="5448300"/>
            <a:ext cx="7366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maintenance_annual"/>
          <p:cNvSpPr/>
          <p:nvPr/>
        </p:nvSpPr>
        <p:spPr>
          <a:xfrm>
            <a:off x="6172200" y="5448300"/>
            <a:ext cx="6731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3949700" y="5689600"/>
            <a:ext cx="14859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Incremental Communication"/>
          <p:cNvSpPr txBox="1"/>
          <p:nvPr/>
        </p:nvSpPr>
        <p:spPr>
          <a:xfrm>
            <a:off x="3949700" y="5689600"/>
            <a:ext cx="1485900" cy="241300"/>
          </a:xfrm>
          <a:prstGeom prst="rect">
            <a:avLst/>
          </a:prstGeom>
          <a:noFill/>
        </p:spPr>
        <p:txBody>
          <a:bodyPr wrap="none" anchor="t" lIns="25400" rIns="25400" tIns="25400" bIns="25400">
            <a:spAutoFit/>
          </a:bodyPr>
          <a:lstStyle/>
          <a:p>
            <a:pPr algn="l">
              <a:lnSpc>
                <a:spcPts val="985"/>
              </a:lnSpc>
              <a:spcBef>
                <a:spcPts val="0"/>
              </a:spcBef>
              <a:spcAft>
                <a:spcPts val="0"/>
              </a:spcAft>
            </a:pPr>
            <a:r>
              <a:rPr sz="880" b="0">
                <a:solidFill>
                  <a:srgbClr val="000000"/>
                </a:solidFill>
                <a:latin typeface="Arial Narrow"/>
              </a:rPr>
              <a:t>Incremental Communication</a:t>
            </a:r>
          </a:p>
        </p:txBody>
      </p:sp>
      <p:sp>
        <p:nvSpPr>
          <p:cNvPr id="112" name="communication_rate"/>
          <p:cNvSpPr/>
          <p:nvPr/>
        </p:nvSpPr>
        <p:spPr>
          <a:xfrm>
            <a:off x="5435600" y="5689600"/>
            <a:ext cx="7366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communication_annual"/>
          <p:cNvSpPr/>
          <p:nvPr/>
        </p:nvSpPr>
        <p:spPr>
          <a:xfrm>
            <a:off x="6172200" y="5689600"/>
            <a:ext cx="6731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3949700" y="5930900"/>
            <a:ext cx="14859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Software License Renewal"/>
          <p:cNvSpPr txBox="1"/>
          <p:nvPr/>
        </p:nvSpPr>
        <p:spPr>
          <a:xfrm>
            <a:off x="3949700" y="5930900"/>
            <a:ext cx="1485900" cy="241300"/>
          </a:xfrm>
          <a:prstGeom prst="rect">
            <a:avLst/>
          </a:prstGeom>
          <a:noFill/>
        </p:spPr>
        <p:txBody>
          <a:bodyPr wrap="none" anchor="t" lIns="25400" rIns="25400" tIns="25400" bIns="25400">
            <a:spAutoFit/>
          </a:bodyPr>
          <a:lstStyle/>
          <a:p>
            <a:pPr algn="l">
              <a:lnSpc>
                <a:spcPts val="985"/>
              </a:lnSpc>
              <a:spcBef>
                <a:spcPts val="0"/>
              </a:spcBef>
              <a:spcAft>
                <a:spcPts val="0"/>
              </a:spcAft>
            </a:pPr>
            <a:r>
              <a:rPr sz="880" b="0">
                <a:solidFill>
                  <a:srgbClr val="000000"/>
                </a:solidFill>
                <a:latin typeface="Arial Narrow"/>
              </a:rPr>
              <a:t>Software License Renewal</a:t>
            </a:r>
          </a:p>
        </p:txBody>
      </p:sp>
      <p:sp>
        <p:nvSpPr>
          <p:cNvPr id="116" name="renewal_rate"/>
          <p:cNvSpPr/>
          <p:nvPr/>
        </p:nvSpPr>
        <p:spPr>
          <a:xfrm>
            <a:off x="5435600" y="5930900"/>
            <a:ext cx="7366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newal_annual"/>
          <p:cNvSpPr/>
          <p:nvPr/>
        </p:nvSpPr>
        <p:spPr>
          <a:xfrm>
            <a:off x="6172200" y="5930900"/>
            <a:ext cx="6731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3949700" y="6172200"/>
            <a:ext cx="22225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OTAL"/>
          <p:cNvSpPr txBox="1"/>
          <p:nvPr/>
        </p:nvSpPr>
        <p:spPr>
          <a:xfrm>
            <a:off x="3949700" y="6172200"/>
            <a:ext cx="22225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TOTAL</a:t>
            </a:r>
          </a:p>
        </p:txBody>
      </p:sp>
      <p:sp>
        <p:nvSpPr>
          <p:cNvPr id="120" name="recurring_total"/>
          <p:cNvSpPr/>
          <p:nvPr/>
        </p:nvSpPr>
        <p:spPr>
          <a:xfrm>
            <a:off x="6172200" y="6172200"/>
            <a:ext cx="6731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Financial amounts and development duration are blank because the "/>
          <p:cNvSpPr txBox="1"/>
          <p:nvPr/>
        </p:nvSpPr>
        <p:spPr>
          <a:xfrm>
            <a:off x="558800" y="8674100"/>
            <a:ext cx="6438900" cy="393700"/>
          </a:xfrm>
          <a:prstGeom prst="rect">
            <a:avLst/>
          </a:prstGeom>
          <a:noFill/>
        </p:spPr>
        <p:txBody>
          <a:bodyPr wrap="none" anchor="t" lIns="25400" rIns="25400" tIns="25400" bIns="25400">
            <a:spAutoFit/>
          </a:bodyPr>
          <a:lstStyle/>
          <a:p>
            <a:pPr algn="l">
              <a:lnSpc>
                <a:spcPts val="1064"/>
              </a:lnSpc>
              <a:spcBef>
                <a:spcPts val="0"/>
              </a:spcBef>
              <a:spcAft>
                <a:spcPts val="0"/>
              </a:spcAft>
            </a:pPr>
            <a:r>
              <a:rPr sz="950" b="0">
                <a:solidFill>
                  <a:srgbClr val="000000"/>
                </a:solidFill>
                <a:latin typeface="Arial Narrow"/>
              </a:rPr>
              <a:t>Financial amounts and development duration are blank because the green company inventory table does not supply them. Monthly</a:t>
            </a:r>
          </a:p>
          <a:p>
            <a:pPr algn="l">
              <a:lnSpc>
                <a:spcPts val="1064"/>
              </a:lnSpc>
              <a:spcBef>
                <a:spcPts val="0"/>
              </a:spcBef>
              <a:spcAft>
                <a:spcPts val="0"/>
              </a:spcAft>
            </a:pPr>
            <a:r>
              <a:rPr sz="950" b="0">
                <a:solidFill>
                  <a:srgbClr val="000000"/>
                </a:solidFill>
                <a:latin typeface="Arial Narrow"/>
              </a:rPr>
              <a:t>maintenance/communication and annual renewal are worksheet billing units, not purchased services.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58800" y="1016000"/>
            <a:ext cx="6438900" cy="3810000"/>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159500" y="4038600"/>
            <a:ext cx="673100" cy="457200"/>
          </a:xfrm>
          <a:prstGeom prst="rect">
            <a:avLst/>
          </a:prstGeom>
          <a:noFill/>
          <a:ln w="1016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58800" y="558800"/>
            <a:ext cx="6438900" cy="228600"/>
          </a:xfrm>
          <a:prstGeom prst="rect">
            <a:avLst/>
          </a:prstGeom>
          <a:solidFill>
            <a:srgbClr val="6A18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UNIT 2: Systems Planning"/>
          <p:cNvSpPr txBox="1"/>
          <p:nvPr/>
        </p:nvSpPr>
        <p:spPr>
          <a:xfrm>
            <a:off x="558800" y="558800"/>
            <a:ext cx="6438900" cy="228600"/>
          </a:xfrm>
          <a:prstGeom prst="rect">
            <a:avLst/>
          </a:prstGeom>
          <a:noFill/>
        </p:spPr>
        <p:txBody>
          <a:bodyPr wrap="none" anchor="t" lIns="39369" rIns="39369" tIns="39369" bIns="39369">
            <a:spAutoFit/>
          </a:bodyPr>
          <a:lstStyle/>
          <a:p>
            <a:pPr algn="l">
              <a:lnSpc>
                <a:spcPts val="1120"/>
              </a:lnSpc>
              <a:spcBef>
                <a:spcPts val="0"/>
              </a:spcBef>
              <a:spcAft>
                <a:spcPts val="0"/>
              </a:spcAft>
            </a:pPr>
            <a:r>
              <a:rPr sz="1000" b="1">
                <a:solidFill>
                  <a:srgbClr val="FFFFFF"/>
                </a:solidFill>
                <a:latin typeface="Arial Narrow"/>
              </a:rPr>
              <a:t>UNIT 2: Systems Planning</a:t>
            </a:r>
          </a:p>
        </p:txBody>
      </p:sp>
      <p:sp>
        <p:nvSpPr>
          <p:cNvPr id="6" name="IT303: SYSTEMS ANALYSIS AND DESIGN"/>
          <p:cNvSpPr txBox="1"/>
          <p:nvPr/>
        </p:nvSpPr>
        <p:spPr>
          <a:xfrm>
            <a:off x="558800" y="10172700"/>
            <a:ext cx="5778500" cy="177800"/>
          </a:xfrm>
          <a:prstGeom prst="rect">
            <a:avLst/>
          </a:prstGeom>
          <a:noFill/>
        </p:spPr>
        <p:txBody>
          <a:bodyPr wrap="none" anchor="t" lIns="24637" rIns="24637" tIns="24637" bIns="24637">
            <a:spAutoFit/>
          </a:bodyPr>
          <a:lstStyle/>
          <a:p>
            <a:pPr algn="l">
              <a:lnSpc>
                <a:spcPts val="952"/>
              </a:lnSpc>
              <a:spcBef>
                <a:spcPts val="0"/>
              </a:spcBef>
              <a:spcAft>
                <a:spcPts val="0"/>
              </a:spcAft>
            </a:pPr>
            <a:r>
              <a:rPr sz="850" b="0">
                <a:solidFill>
                  <a:srgbClr val="000000"/>
                </a:solidFill>
                <a:latin typeface="Arial Narrow"/>
              </a:rPr>
              <a:t>IT303: SYSTEMS ANALYSIS AND DESIGN</a:t>
            </a:r>
          </a:p>
        </p:txBody>
      </p:sp>
      <p:sp>
        <p:nvSpPr>
          <p:cNvPr id="7" name="2"/>
          <p:cNvSpPr txBox="1"/>
          <p:nvPr/>
        </p:nvSpPr>
        <p:spPr>
          <a:xfrm>
            <a:off x="6438900" y="10172700"/>
            <a:ext cx="558800" cy="177800"/>
          </a:xfrm>
          <a:prstGeom prst="rect">
            <a:avLst/>
          </a:prstGeom>
          <a:noFill/>
        </p:spPr>
        <p:txBody>
          <a:bodyPr wrap="none" anchor="t" lIns="13969" rIns="13969" tIns="13969" bIns="13969">
            <a:spAutoFit/>
          </a:bodyPr>
          <a:lstStyle/>
          <a:p>
            <a:pPr algn="r">
              <a:lnSpc>
                <a:spcPts val="1120"/>
              </a:lnSpc>
              <a:spcBef>
                <a:spcPts val="0"/>
              </a:spcBef>
              <a:spcAft>
                <a:spcPts val="0"/>
              </a:spcAft>
            </a:pPr>
            <a:r>
              <a:rPr sz="1000" b="0">
                <a:solidFill>
                  <a:srgbClr val="000000"/>
                </a:solidFill>
                <a:latin typeface="Arial Narrow"/>
              </a:rPr>
              <a:t>2</a:t>
            </a:r>
          </a:p>
        </p:txBody>
      </p:sp>
      <p:sp>
        <p:nvSpPr>
          <p:cNvPr id="8" name="Rectangle 7"/>
          <p:cNvSpPr/>
          <p:nvPr/>
        </p:nvSpPr>
        <p:spPr>
          <a:xfrm>
            <a:off x="685800" y="1016000"/>
            <a:ext cx="13208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raining Kit"/>
          <p:cNvSpPr txBox="1"/>
          <p:nvPr/>
        </p:nvSpPr>
        <p:spPr>
          <a:xfrm>
            <a:off x="685800" y="1016000"/>
            <a:ext cx="13208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Training Kit</a:t>
            </a:r>
          </a:p>
        </p:txBody>
      </p:sp>
      <p:sp>
        <p:nvSpPr>
          <p:cNvPr id="10" name="copy_training_kit"/>
          <p:cNvSpPr/>
          <p:nvPr/>
        </p:nvSpPr>
        <p:spPr>
          <a:xfrm>
            <a:off x="2006600" y="1016000"/>
            <a:ext cx="8890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opy_training_kit_subtotal"/>
          <p:cNvSpPr/>
          <p:nvPr/>
        </p:nvSpPr>
        <p:spPr>
          <a:xfrm>
            <a:off x="2895600" y="1016000"/>
            <a:ext cx="6350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257300"/>
            <a:ext cx="22098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OTAL"/>
          <p:cNvSpPr txBox="1"/>
          <p:nvPr/>
        </p:nvSpPr>
        <p:spPr>
          <a:xfrm>
            <a:off x="685800" y="1257300"/>
            <a:ext cx="22098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TOTAL</a:t>
            </a:r>
          </a:p>
        </p:txBody>
      </p:sp>
      <p:sp>
        <p:nvSpPr>
          <p:cNvPr id="14" name="copy_training_total"/>
          <p:cNvSpPr/>
          <p:nvPr/>
        </p:nvSpPr>
        <p:spPr>
          <a:xfrm>
            <a:off x="2895600" y="1257300"/>
            <a:ext cx="635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 ADDITIONAL HARDWARE/SOFTWARE"/>
          <p:cNvSpPr txBox="1"/>
          <p:nvPr/>
        </p:nvSpPr>
        <p:spPr>
          <a:xfrm>
            <a:off x="685800" y="1917700"/>
            <a:ext cx="2844800" cy="254000"/>
          </a:xfrm>
          <a:prstGeom prst="rect">
            <a:avLst/>
          </a:prstGeom>
          <a:noFill/>
        </p:spPr>
        <p:txBody>
          <a:bodyPr wrap="none" anchor="t" lIns="25400" rIns="25400" tIns="25400" bIns="25400">
            <a:spAutoFit/>
          </a:bodyPr>
          <a:lstStyle/>
          <a:p>
            <a:pPr algn="l">
              <a:lnSpc>
                <a:spcPts val="1176"/>
              </a:lnSpc>
              <a:spcBef>
                <a:spcPts val="0"/>
              </a:spcBef>
              <a:spcAft>
                <a:spcPts val="0"/>
              </a:spcAft>
            </a:pPr>
            <a:r>
              <a:rPr sz="1050" b="0">
                <a:solidFill>
                  <a:srgbClr val="000000"/>
                </a:solidFill>
                <a:latin typeface="Arial Narrow"/>
              </a:rPr>
              <a:t>C. ADDITIONAL HARDWARE/SOFTWARE</a:t>
            </a:r>
          </a:p>
        </p:txBody>
      </p:sp>
      <p:sp>
        <p:nvSpPr>
          <p:cNvPr id="16" name="Rectangle 15"/>
          <p:cNvSpPr/>
          <p:nvPr/>
        </p:nvSpPr>
        <p:spPr>
          <a:xfrm>
            <a:off x="685800" y="2273300"/>
            <a:ext cx="13208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escription"/>
          <p:cNvSpPr txBox="1"/>
          <p:nvPr/>
        </p:nvSpPr>
        <p:spPr>
          <a:xfrm>
            <a:off x="685800" y="2273300"/>
            <a:ext cx="13208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Description</a:t>
            </a:r>
          </a:p>
        </p:txBody>
      </p:sp>
      <p:sp>
        <p:nvSpPr>
          <p:cNvPr id="18" name="Rectangle 17"/>
          <p:cNvSpPr/>
          <p:nvPr/>
        </p:nvSpPr>
        <p:spPr>
          <a:xfrm>
            <a:off x="2006600" y="2273300"/>
            <a:ext cx="8890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Unit Cost"/>
          <p:cNvSpPr txBox="1"/>
          <p:nvPr/>
        </p:nvSpPr>
        <p:spPr>
          <a:xfrm>
            <a:off x="2006600" y="2273300"/>
            <a:ext cx="8890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Unit Cost</a:t>
            </a:r>
          </a:p>
        </p:txBody>
      </p:sp>
      <p:sp>
        <p:nvSpPr>
          <p:cNvPr id="20" name="Rectangle 19"/>
          <p:cNvSpPr/>
          <p:nvPr/>
        </p:nvSpPr>
        <p:spPr>
          <a:xfrm>
            <a:off x="2895600" y="2273300"/>
            <a:ext cx="6350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ub_Total"/>
          <p:cNvSpPr txBox="1"/>
          <p:nvPr/>
        </p:nvSpPr>
        <p:spPr>
          <a:xfrm>
            <a:off x="2895600" y="2273300"/>
            <a:ext cx="6350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Sub_Total</a:t>
            </a:r>
          </a:p>
        </p:txBody>
      </p:sp>
      <p:sp>
        <p:nvSpPr>
          <p:cNvPr id="22" name="Rectangle 21"/>
          <p:cNvSpPr/>
          <p:nvPr/>
        </p:nvSpPr>
        <p:spPr>
          <a:xfrm>
            <a:off x="685800" y="2514600"/>
            <a:ext cx="13208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atabase Server"/>
          <p:cNvSpPr txBox="1"/>
          <p:nvPr/>
        </p:nvSpPr>
        <p:spPr>
          <a:xfrm>
            <a:off x="685800" y="2514600"/>
            <a:ext cx="13208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Database Server</a:t>
            </a:r>
          </a:p>
        </p:txBody>
      </p:sp>
      <p:sp>
        <p:nvSpPr>
          <p:cNvPr id="24" name="copy_server_rate"/>
          <p:cNvSpPr/>
          <p:nvPr/>
        </p:nvSpPr>
        <p:spPr>
          <a:xfrm>
            <a:off x="2006600" y="2514600"/>
            <a:ext cx="8890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py_server_subtotal"/>
          <p:cNvSpPr/>
          <p:nvPr/>
        </p:nvSpPr>
        <p:spPr>
          <a:xfrm>
            <a:off x="2895600" y="2514600"/>
            <a:ext cx="6350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85800" y="2755900"/>
            <a:ext cx="13208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xternal Drive"/>
          <p:cNvSpPr txBox="1"/>
          <p:nvPr/>
        </p:nvSpPr>
        <p:spPr>
          <a:xfrm>
            <a:off x="685800" y="2755900"/>
            <a:ext cx="13208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External Drive</a:t>
            </a:r>
          </a:p>
        </p:txBody>
      </p:sp>
      <p:sp>
        <p:nvSpPr>
          <p:cNvPr id="28" name="copy_drive_rate"/>
          <p:cNvSpPr/>
          <p:nvPr/>
        </p:nvSpPr>
        <p:spPr>
          <a:xfrm>
            <a:off x="2006600" y="2755900"/>
            <a:ext cx="8890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opy_drive_subtotal"/>
          <p:cNvSpPr/>
          <p:nvPr/>
        </p:nvSpPr>
        <p:spPr>
          <a:xfrm>
            <a:off x="2895600" y="2755900"/>
            <a:ext cx="6350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5800" y="2997200"/>
            <a:ext cx="1320800" cy="4572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icensed Software /&#10;Vendor Platform"/>
          <p:cNvSpPr txBox="1"/>
          <p:nvPr/>
        </p:nvSpPr>
        <p:spPr>
          <a:xfrm>
            <a:off x="685800" y="2997200"/>
            <a:ext cx="1320800" cy="4572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Licensed Software /</a:t>
            </a:r>
          </a:p>
          <a:p>
            <a:pPr algn="l">
              <a:lnSpc>
                <a:spcPts val="1008"/>
              </a:lnSpc>
              <a:spcBef>
                <a:spcPts val="0"/>
              </a:spcBef>
              <a:spcAft>
                <a:spcPts val="0"/>
              </a:spcAft>
            </a:pPr>
            <a:r>
              <a:rPr sz="900" b="0">
                <a:solidFill>
                  <a:srgbClr val="000000"/>
                </a:solidFill>
                <a:latin typeface="Arial Narrow"/>
              </a:rPr>
              <a:t>Vendor Platform</a:t>
            </a:r>
          </a:p>
        </p:txBody>
      </p:sp>
      <p:sp>
        <p:nvSpPr>
          <p:cNvPr id="32" name="copy_license_rate"/>
          <p:cNvSpPr/>
          <p:nvPr/>
        </p:nvSpPr>
        <p:spPr>
          <a:xfrm>
            <a:off x="2006600" y="2997200"/>
            <a:ext cx="889000" cy="4572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opy_license_subtotal"/>
          <p:cNvSpPr/>
          <p:nvPr/>
        </p:nvSpPr>
        <p:spPr>
          <a:xfrm>
            <a:off x="2895600" y="2997200"/>
            <a:ext cx="635000" cy="4572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85800" y="3454400"/>
            <a:ext cx="22098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OTAL"/>
          <p:cNvSpPr txBox="1"/>
          <p:nvPr/>
        </p:nvSpPr>
        <p:spPr>
          <a:xfrm>
            <a:off x="685800" y="3454400"/>
            <a:ext cx="22098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TOTAL</a:t>
            </a:r>
          </a:p>
        </p:txBody>
      </p:sp>
      <p:sp>
        <p:nvSpPr>
          <p:cNvPr id="36" name="copy_hardware_total"/>
          <p:cNvSpPr/>
          <p:nvPr/>
        </p:nvSpPr>
        <p:spPr>
          <a:xfrm>
            <a:off x="2895600" y="3454400"/>
            <a:ext cx="635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85800" y="4038600"/>
            <a:ext cx="2844800" cy="622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otal One Time Cost = Total Development Cost + Total&#10;User Trainin"/>
          <p:cNvSpPr txBox="1"/>
          <p:nvPr/>
        </p:nvSpPr>
        <p:spPr>
          <a:xfrm>
            <a:off x="685800" y="4038600"/>
            <a:ext cx="2844800" cy="622300"/>
          </a:xfrm>
          <a:prstGeom prst="rect">
            <a:avLst/>
          </a:prstGeom>
          <a:noFill/>
        </p:spPr>
        <p:txBody>
          <a:bodyPr wrap="none" anchor="t" lIns="63500" rIns="63500" tIns="63500" bIns="63500">
            <a:spAutoFit/>
          </a:bodyPr>
          <a:lstStyle/>
          <a:p>
            <a:pPr algn="l">
              <a:lnSpc>
                <a:spcPts val="1064"/>
              </a:lnSpc>
              <a:spcBef>
                <a:spcPts val="0"/>
              </a:spcBef>
              <a:spcAft>
                <a:spcPts val="0"/>
              </a:spcAft>
            </a:pPr>
            <a:r>
              <a:rPr sz="950" b="0">
                <a:solidFill>
                  <a:srgbClr val="000000"/>
                </a:solidFill>
                <a:latin typeface="Arial Narrow"/>
              </a:rPr>
              <a:t>Total One Time Cost = Total Development Cost + Total</a:t>
            </a:r>
          </a:p>
          <a:p>
            <a:pPr algn="l">
              <a:lnSpc>
                <a:spcPts val="1064"/>
              </a:lnSpc>
              <a:spcBef>
                <a:spcPts val="0"/>
              </a:spcBef>
              <a:spcAft>
                <a:spcPts val="0"/>
              </a:spcAft>
            </a:pPr>
            <a:r>
              <a:rPr sz="950" b="0">
                <a:solidFill>
                  <a:srgbClr val="000000"/>
                </a:solidFill>
                <a:latin typeface="Arial Narrow"/>
              </a:rPr>
              <a:t>User Training + Total Additional Hardware/Software</a:t>
            </a:r>
          </a:p>
        </p:txBody>
      </p:sp>
      <p:sp>
        <p:nvSpPr>
          <p:cNvPr id="39" name="Rectangle 38"/>
          <p:cNvSpPr/>
          <p:nvPr/>
        </p:nvSpPr>
        <p:spPr>
          <a:xfrm>
            <a:off x="3949700" y="1016000"/>
            <a:ext cx="14859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Description"/>
          <p:cNvSpPr txBox="1"/>
          <p:nvPr/>
        </p:nvSpPr>
        <p:spPr>
          <a:xfrm>
            <a:off x="3949700" y="1016000"/>
            <a:ext cx="14859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Description</a:t>
            </a:r>
          </a:p>
        </p:txBody>
      </p:sp>
      <p:sp>
        <p:nvSpPr>
          <p:cNvPr id="41" name="Rectangle 40"/>
          <p:cNvSpPr/>
          <p:nvPr/>
        </p:nvSpPr>
        <p:spPr>
          <a:xfrm>
            <a:off x="5435600" y="1016000"/>
            <a:ext cx="7366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Unit Cost"/>
          <p:cNvSpPr txBox="1"/>
          <p:nvPr/>
        </p:nvSpPr>
        <p:spPr>
          <a:xfrm>
            <a:off x="5435600" y="1016000"/>
            <a:ext cx="7366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Unit Cost</a:t>
            </a:r>
          </a:p>
        </p:txBody>
      </p:sp>
      <p:sp>
        <p:nvSpPr>
          <p:cNvPr id="43" name="Rectangle 42"/>
          <p:cNvSpPr/>
          <p:nvPr/>
        </p:nvSpPr>
        <p:spPr>
          <a:xfrm>
            <a:off x="6172200" y="1016000"/>
            <a:ext cx="6731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nnually"/>
          <p:cNvSpPr txBox="1"/>
          <p:nvPr/>
        </p:nvSpPr>
        <p:spPr>
          <a:xfrm>
            <a:off x="6172200" y="1016000"/>
            <a:ext cx="6731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Annually</a:t>
            </a:r>
          </a:p>
        </p:txBody>
      </p:sp>
      <p:sp>
        <p:nvSpPr>
          <p:cNvPr id="45" name="Rectangle 44"/>
          <p:cNvSpPr/>
          <p:nvPr/>
        </p:nvSpPr>
        <p:spPr>
          <a:xfrm>
            <a:off x="3949700" y="1257300"/>
            <a:ext cx="14859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Software Maintenance"/>
          <p:cNvSpPr txBox="1"/>
          <p:nvPr/>
        </p:nvSpPr>
        <p:spPr>
          <a:xfrm>
            <a:off x="3949700" y="1257300"/>
            <a:ext cx="1485900" cy="241300"/>
          </a:xfrm>
          <a:prstGeom prst="rect">
            <a:avLst/>
          </a:prstGeom>
          <a:noFill/>
        </p:spPr>
        <p:txBody>
          <a:bodyPr wrap="none" anchor="t" lIns="25400" rIns="25400" tIns="25400" bIns="25400">
            <a:spAutoFit/>
          </a:bodyPr>
          <a:lstStyle/>
          <a:p>
            <a:pPr algn="l">
              <a:lnSpc>
                <a:spcPts val="985"/>
              </a:lnSpc>
              <a:spcBef>
                <a:spcPts val="0"/>
              </a:spcBef>
              <a:spcAft>
                <a:spcPts val="0"/>
              </a:spcAft>
            </a:pPr>
            <a:r>
              <a:rPr sz="880" b="0">
                <a:solidFill>
                  <a:srgbClr val="000000"/>
                </a:solidFill>
                <a:latin typeface="Arial Narrow"/>
              </a:rPr>
              <a:t>Software Maintenance</a:t>
            </a:r>
          </a:p>
        </p:txBody>
      </p:sp>
      <p:sp>
        <p:nvSpPr>
          <p:cNvPr id="47" name="copy_maintenance_rate"/>
          <p:cNvSpPr/>
          <p:nvPr/>
        </p:nvSpPr>
        <p:spPr>
          <a:xfrm>
            <a:off x="5435600" y="1257300"/>
            <a:ext cx="7366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opy_maintenance_annual"/>
          <p:cNvSpPr/>
          <p:nvPr/>
        </p:nvSpPr>
        <p:spPr>
          <a:xfrm>
            <a:off x="6172200" y="1257300"/>
            <a:ext cx="6731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3949700" y="1498600"/>
            <a:ext cx="14859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Incremental Communication"/>
          <p:cNvSpPr txBox="1"/>
          <p:nvPr/>
        </p:nvSpPr>
        <p:spPr>
          <a:xfrm>
            <a:off x="3949700" y="1498600"/>
            <a:ext cx="1485900" cy="241300"/>
          </a:xfrm>
          <a:prstGeom prst="rect">
            <a:avLst/>
          </a:prstGeom>
          <a:noFill/>
        </p:spPr>
        <p:txBody>
          <a:bodyPr wrap="none" anchor="t" lIns="25400" rIns="25400" tIns="25400" bIns="25400">
            <a:spAutoFit/>
          </a:bodyPr>
          <a:lstStyle/>
          <a:p>
            <a:pPr algn="l">
              <a:lnSpc>
                <a:spcPts val="985"/>
              </a:lnSpc>
              <a:spcBef>
                <a:spcPts val="0"/>
              </a:spcBef>
              <a:spcAft>
                <a:spcPts val="0"/>
              </a:spcAft>
            </a:pPr>
            <a:r>
              <a:rPr sz="880" b="0">
                <a:solidFill>
                  <a:srgbClr val="000000"/>
                </a:solidFill>
                <a:latin typeface="Arial Narrow"/>
              </a:rPr>
              <a:t>Incremental Communication</a:t>
            </a:r>
          </a:p>
        </p:txBody>
      </p:sp>
      <p:sp>
        <p:nvSpPr>
          <p:cNvPr id="51" name="copy_communication_rate"/>
          <p:cNvSpPr/>
          <p:nvPr/>
        </p:nvSpPr>
        <p:spPr>
          <a:xfrm>
            <a:off x="5435600" y="1498600"/>
            <a:ext cx="7366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opy_communication_annual"/>
          <p:cNvSpPr/>
          <p:nvPr/>
        </p:nvSpPr>
        <p:spPr>
          <a:xfrm>
            <a:off x="6172200" y="1498600"/>
            <a:ext cx="6731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949700" y="1739900"/>
            <a:ext cx="14859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oftware License Renewal"/>
          <p:cNvSpPr txBox="1"/>
          <p:nvPr/>
        </p:nvSpPr>
        <p:spPr>
          <a:xfrm>
            <a:off x="3949700" y="1739900"/>
            <a:ext cx="1485900" cy="241300"/>
          </a:xfrm>
          <a:prstGeom prst="rect">
            <a:avLst/>
          </a:prstGeom>
          <a:noFill/>
        </p:spPr>
        <p:txBody>
          <a:bodyPr wrap="none" anchor="t" lIns="25400" rIns="25400" tIns="25400" bIns="25400">
            <a:spAutoFit/>
          </a:bodyPr>
          <a:lstStyle/>
          <a:p>
            <a:pPr algn="l">
              <a:lnSpc>
                <a:spcPts val="985"/>
              </a:lnSpc>
              <a:spcBef>
                <a:spcPts val="0"/>
              </a:spcBef>
              <a:spcAft>
                <a:spcPts val="0"/>
              </a:spcAft>
            </a:pPr>
            <a:r>
              <a:rPr sz="880" b="0">
                <a:solidFill>
                  <a:srgbClr val="000000"/>
                </a:solidFill>
                <a:latin typeface="Arial Narrow"/>
              </a:rPr>
              <a:t>Software License Renewal</a:t>
            </a:r>
          </a:p>
        </p:txBody>
      </p:sp>
      <p:sp>
        <p:nvSpPr>
          <p:cNvPr id="55" name="copy_renewal_rate"/>
          <p:cNvSpPr/>
          <p:nvPr/>
        </p:nvSpPr>
        <p:spPr>
          <a:xfrm>
            <a:off x="5435600" y="1739900"/>
            <a:ext cx="7366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opy_renewal_annual"/>
          <p:cNvSpPr/>
          <p:nvPr/>
        </p:nvSpPr>
        <p:spPr>
          <a:xfrm>
            <a:off x="6172200" y="1739900"/>
            <a:ext cx="6731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3949700" y="1981200"/>
            <a:ext cx="22225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OTAL"/>
          <p:cNvSpPr txBox="1"/>
          <p:nvPr/>
        </p:nvSpPr>
        <p:spPr>
          <a:xfrm>
            <a:off x="3949700" y="1981200"/>
            <a:ext cx="22225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TOTAL</a:t>
            </a:r>
          </a:p>
        </p:txBody>
      </p:sp>
      <p:sp>
        <p:nvSpPr>
          <p:cNvPr id="59" name="copy_recurring_total"/>
          <p:cNvSpPr/>
          <p:nvPr/>
        </p:nvSpPr>
        <p:spPr>
          <a:xfrm>
            <a:off x="6172200" y="1981200"/>
            <a:ext cx="6731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his table follows the Breakdown of One Time Cost Worksheet in th"/>
          <p:cNvSpPr txBox="1"/>
          <p:nvPr/>
        </p:nvSpPr>
        <p:spPr>
          <a:xfrm>
            <a:off x="558800" y="5143500"/>
            <a:ext cx="6438900" cy="977900"/>
          </a:xfrm>
          <a:prstGeom prst="rect">
            <a:avLst/>
          </a:prstGeom>
          <a:noFill/>
        </p:spPr>
        <p:txBody>
          <a:bodyPr wrap="none" anchor="t" lIns="0" rIns="0" tIns="0" bIns="0">
            <a:spAutoFit/>
          </a:bodyPr>
          <a:lstStyle/>
          <a:p>
            <a:pPr algn="l">
              <a:lnSpc>
                <a:spcPts val="1232"/>
              </a:lnSpc>
              <a:spcBef>
                <a:spcPts val="0"/>
              </a:spcBef>
              <a:spcAft>
                <a:spcPts val="0"/>
              </a:spcAft>
            </a:pPr>
            <a:r>
              <a:rPr sz="1100" b="0">
                <a:solidFill>
                  <a:srgbClr val="000000"/>
                </a:solidFill>
                <a:latin typeface="Arial Narrow"/>
              </a:rPr>
              <a:t>This table follows the Breakdown of One Time Cost Worksheet in the supplied academic reference. The total one-time cost of</a:t>
            </a:r>
          </a:p>
          <a:p>
            <a:pPr algn="l">
              <a:lnSpc>
                <a:spcPts val="1232"/>
              </a:lnSpc>
              <a:spcBef>
                <a:spcPts val="0"/>
              </a:spcBef>
              <a:spcAft>
                <a:spcPts val="0"/>
              </a:spcAft>
            </a:pPr>
            <a:r>
              <a:rPr sz="1100" b="0">
                <a:solidFill>
                  <a:srgbClr val="000000"/>
                </a:solidFill>
                <a:latin typeface="Arial Narrow"/>
              </a:rPr>
              <a:t>PHP __________ will serve as the initial investment, and the annual recurring cost of PHP __________ will represent</a:t>
            </a:r>
          </a:p>
          <a:p>
            <a:pPr algn="l">
              <a:lnSpc>
                <a:spcPts val="1232"/>
              </a:lnSpc>
              <a:spcBef>
                <a:spcPts val="0"/>
              </a:spcBef>
              <a:spcAft>
                <a:spcPts val="0"/>
              </a:spcAft>
            </a:pPr>
            <a:r>
              <a:rPr sz="1100" b="0">
                <a:solidFill>
                  <a:srgbClr val="000000"/>
                </a:solidFill>
                <a:latin typeface="Arial Narrow"/>
              </a:rPr>
              <a:t>additional system expenses. These amounts are left blank because company financial data has not been supplied.</a:t>
            </a:r>
          </a:p>
        </p:txBody>
      </p:sp>
      <p:sp>
        <p:nvSpPr>
          <p:cNvPr id="61" name="The green company monitoring table records 758 units across 26 eq"/>
          <p:cNvSpPr txBox="1"/>
          <p:nvPr/>
        </p:nvSpPr>
        <p:spPr>
          <a:xfrm>
            <a:off x="558800" y="6388100"/>
            <a:ext cx="6438900" cy="863600"/>
          </a:xfrm>
          <a:prstGeom prst="rect">
            <a:avLst/>
          </a:prstGeom>
          <a:noFill/>
        </p:spPr>
        <p:txBody>
          <a:bodyPr wrap="none" anchor="t" lIns="0" rIns="0" tIns="0" bIns="0">
            <a:spAutoFit/>
          </a:bodyPr>
          <a:lstStyle/>
          <a:p>
            <a:pPr algn="l">
              <a:lnSpc>
                <a:spcPts val="1232"/>
              </a:lnSpc>
              <a:spcBef>
                <a:spcPts val="0"/>
              </a:spcBef>
              <a:spcAft>
                <a:spcPts val="0"/>
              </a:spcAft>
            </a:pPr>
            <a:r>
              <a:rPr sz="1100" b="0">
                <a:solidFill>
                  <a:srgbClr val="000000"/>
                </a:solidFill>
                <a:latin typeface="Arial Narrow"/>
              </a:rPr>
              <a:t>The green company monitoring table records 758 units across 26 equipment categories. It identifies 19 round shovels, 75 GI</a:t>
            </a:r>
          </a:p>
          <a:p>
            <a:pPr algn="l">
              <a:lnSpc>
                <a:spcPts val="1232"/>
              </a:lnSpc>
              <a:spcBef>
                <a:spcPts val="0"/>
              </a:spcBef>
              <a:spcAft>
                <a:spcPts val="0"/>
              </a:spcAft>
            </a:pPr>
            <a:r>
              <a:rPr sz="1100" b="0">
                <a:solidFill>
                  <a:srgbClr val="000000"/>
                </a:solidFill>
                <a:latin typeface="Arial Narrow"/>
              </a:rPr>
              <a:t>pipes and 369 swivel clamps under “Missing or No Report,” totaling 463 units. These are reconciliation gaps; the table does not</a:t>
            </a:r>
          </a:p>
          <a:p>
            <a:pPr algn="l">
              <a:lnSpc>
                <a:spcPts val="1232"/>
              </a:lnSpc>
              <a:spcBef>
                <a:spcPts val="0"/>
              </a:spcBef>
              <a:spcAft>
                <a:spcPts val="0"/>
              </a:spcAft>
            </a:pPr>
            <a:r>
              <a:rPr sz="1100" b="0">
                <a:solidFill>
                  <a:srgbClr val="000000"/>
                </a:solidFill>
                <a:latin typeface="Arial Narrow"/>
              </a:rPr>
              <a:t>establish confirmed financial losses.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58800" y="1308100"/>
            <a:ext cx="6438900" cy="5054600"/>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58800" y="558800"/>
            <a:ext cx="6438900" cy="228600"/>
          </a:xfrm>
          <a:prstGeom prst="rect">
            <a:avLst/>
          </a:prstGeom>
          <a:solidFill>
            <a:srgbClr val="6A18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UNIT 2: Systems Planning"/>
          <p:cNvSpPr txBox="1"/>
          <p:nvPr/>
        </p:nvSpPr>
        <p:spPr>
          <a:xfrm>
            <a:off x="558800" y="558800"/>
            <a:ext cx="6438900" cy="228600"/>
          </a:xfrm>
          <a:prstGeom prst="rect">
            <a:avLst/>
          </a:prstGeom>
          <a:noFill/>
        </p:spPr>
        <p:txBody>
          <a:bodyPr wrap="none" anchor="t" lIns="39369" rIns="39369" tIns="39369" bIns="39369">
            <a:spAutoFit/>
          </a:bodyPr>
          <a:lstStyle/>
          <a:p>
            <a:pPr algn="l">
              <a:lnSpc>
                <a:spcPts val="1120"/>
              </a:lnSpc>
              <a:spcBef>
                <a:spcPts val="0"/>
              </a:spcBef>
              <a:spcAft>
                <a:spcPts val="0"/>
              </a:spcAft>
            </a:pPr>
            <a:r>
              <a:rPr sz="1000" b="1">
                <a:solidFill>
                  <a:srgbClr val="FFFFFF"/>
                </a:solidFill>
                <a:latin typeface="Arial Narrow"/>
              </a:rPr>
              <a:t>UNIT 2: Systems Planning</a:t>
            </a:r>
          </a:p>
        </p:txBody>
      </p:sp>
      <p:sp>
        <p:nvSpPr>
          <p:cNvPr id="5" name="•  Benefit"/>
          <p:cNvSpPr txBox="1"/>
          <p:nvPr/>
        </p:nvSpPr>
        <p:spPr>
          <a:xfrm>
            <a:off x="647700" y="889000"/>
            <a:ext cx="6096000" cy="254000"/>
          </a:xfrm>
          <a:prstGeom prst="rect">
            <a:avLst/>
          </a:prstGeom>
          <a:noFill/>
        </p:spPr>
        <p:txBody>
          <a:bodyPr wrap="none" anchor="t" lIns="23621" rIns="23621" tIns="23621" bIns="23621">
            <a:spAutoFit/>
          </a:bodyPr>
          <a:lstStyle/>
          <a:p>
            <a:pPr algn="l">
              <a:lnSpc>
                <a:spcPts val="1568"/>
              </a:lnSpc>
              <a:spcBef>
                <a:spcPts val="0"/>
              </a:spcBef>
              <a:spcAft>
                <a:spcPts val="0"/>
              </a:spcAft>
            </a:pPr>
            <a:r>
              <a:rPr sz="1400" b="1">
                <a:solidFill>
                  <a:srgbClr val="000000"/>
                </a:solidFill>
                <a:latin typeface="Arial Narrow"/>
              </a:rPr>
              <a:t>• Benefit</a:t>
            </a:r>
          </a:p>
        </p:txBody>
      </p:sp>
      <p:sp>
        <p:nvSpPr>
          <p:cNvPr id="6" name="IT303: SYSTEMS ANALYSIS AND DESIGN"/>
          <p:cNvSpPr txBox="1"/>
          <p:nvPr/>
        </p:nvSpPr>
        <p:spPr>
          <a:xfrm>
            <a:off x="558800" y="10172700"/>
            <a:ext cx="5778500" cy="177800"/>
          </a:xfrm>
          <a:prstGeom prst="rect">
            <a:avLst/>
          </a:prstGeom>
          <a:noFill/>
        </p:spPr>
        <p:txBody>
          <a:bodyPr wrap="none" anchor="t" lIns="24637" rIns="24637" tIns="24637" bIns="24637">
            <a:spAutoFit/>
          </a:bodyPr>
          <a:lstStyle/>
          <a:p>
            <a:pPr algn="l">
              <a:lnSpc>
                <a:spcPts val="952"/>
              </a:lnSpc>
              <a:spcBef>
                <a:spcPts val="0"/>
              </a:spcBef>
              <a:spcAft>
                <a:spcPts val="0"/>
              </a:spcAft>
            </a:pPr>
            <a:r>
              <a:rPr sz="850" b="0">
                <a:solidFill>
                  <a:srgbClr val="000000"/>
                </a:solidFill>
                <a:latin typeface="Arial Narrow"/>
              </a:rPr>
              <a:t>IT303: SYSTEMS ANALYSIS AND DESIGN</a:t>
            </a:r>
          </a:p>
        </p:txBody>
      </p:sp>
      <p:sp>
        <p:nvSpPr>
          <p:cNvPr id="7" name="3"/>
          <p:cNvSpPr txBox="1"/>
          <p:nvPr/>
        </p:nvSpPr>
        <p:spPr>
          <a:xfrm>
            <a:off x="6438900" y="10172700"/>
            <a:ext cx="558800" cy="177800"/>
          </a:xfrm>
          <a:prstGeom prst="rect">
            <a:avLst/>
          </a:prstGeom>
          <a:noFill/>
        </p:spPr>
        <p:txBody>
          <a:bodyPr wrap="none" anchor="t" lIns="13969" rIns="13969" tIns="13969" bIns="13969">
            <a:spAutoFit/>
          </a:bodyPr>
          <a:lstStyle/>
          <a:p>
            <a:pPr algn="r">
              <a:lnSpc>
                <a:spcPts val="1120"/>
              </a:lnSpc>
              <a:spcBef>
                <a:spcPts val="0"/>
              </a:spcBef>
              <a:spcAft>
                <a:spcPts val="0"/>
              </a:spcAft>
            </a:pPr>
            <a:r>
              <a:rPr sz="1000" b="0">
                <a:solidFill>
                  <a:srgbClr val="000000"/>
                </a:solidFill>
                <a:latin typeface="Arial Narrow"/>
              </a:rPr>
              <a:t>3</a:t>
            </a:r>
          </a:p>
        </p:txBody>
      </p:sp>
      <p:sp>
        <p:nvSpPr>
          <p:cNvPr id="8" name="Breakdown of Tangible Benefit Worksheet"/>
          <p:cNvSpPr txBox="1"/>
          <p:nvPr/>
        </p:nvSpPr>
        <p:spPr>
          <a:xfrm>
            <a:off x="647700" y="1346200"/>
            <a:ext cx="6261100" cy="177800"/>
          </a:xfrm>
          <a:prstGeom prst="rect">
            <a:avLst/>
          </a:prstGeom>
          <a:noFill/>
        </p:spPr>
        <p:txBody>
          <a:bodyPr wrap="none" anchor="t" lIns="13969" rIns="13969" tIns="13969" bIns="13969">
            <a:spAutoFit/>
          </a:bodyPr>
          <a:lstStyle/>
          <a:p>
            <a:pPr algn="l">
              <a:lnSpc>
                <a:spcPts val="1120"/>
              </a:lnSpc>
              <a:spcBef>
                <a:spcPts val="0"/>
              </a:spcBef>
              <a:spcAft>
                <a:spcPts val="0"/>
              </a:spcAft>
            </a:pPr>
            <a:r>
              <a:rPr sz="1000" b="1">
                <a:solidFill>
                  <a:srgbClr val="000000"/>
                </a:solidFill>
                <a:latin typeface="Arial Narrow"/>
              </a:rPr>
              <a:t>Breakdown of Tangible Benefit Worksheet</a:t>
            </a:r>
          </a:p>
        </p:txBody>
      </p:sp>
      <p:sp>
        <p:nvSpPr>
          <p:cNvPr id="9" name="A. SUPPLIES COST"/>
          <p:cNvSpPr txBox="1"/>
          <p:nvPr/>
        </p:nvSpPr>
        <p:spPr>
          <a:xfrm>
            <a:off x="647700" y="1524000"/>
            <a:ext cx="6261100" cy="190500"/>
          </a:xfrm>
          <a:prstGeom prst="rect">
            <a:avLst/>
          </a:prstGeom>
          <a:noFill/>
        </p:spPr>
        <p:txBody>
          <a:bodyPr wrap="none" anchor="t" lIns="20319" rIns="20319" tIns="20319" bIns="20319">
            <a:spAutoFit/>
          </a:bodyPr>
          <a:lstStyle/>
          <a:p>
            <a:pPr algn="l">
              <a:lnSpc>
                <a:spcPts val="1120"/>
              </a:lnSpc>
              <a:spcBef>
                <a:spcPts val="0"/>
              </a:spcBef>
              <a:spcAft>
                <a:spcPts val="0"/>
              </a:spcAft>
            </a:pPr>
            <a:r>
              <a:rPr sz="1000" b="1">
                <a:solidFill>
                  <a:srgbClr val="000000"/>
                </a:solidFill>
                <a:latin typeface="Arial Narrow"/>
              </a:rPr>
              <a:t>A. SUPPLIES COST</a:t>
            </a:r>
          </a:p>
        </p:txBody>
      </p:sp>
      <p:sp>
        <p:nvSpPr>
          <p:cNvPr id="10" name="Rectangle 9"/>
          <p:cNvSpPr/>
          <p:nvPr/>
        </p:nvSpPr>
        <p:spPr>
          <a:xfrm>
            <a:off x="647700" y="1803400"/>
            <a:ext cx="3022600" cy="1651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XISTING SYSTEM"/>
          <p:cNvSpPr txBox="1"/>
          <p:nvPr/>
        </p:nvSpPr>
        <p:spPr>
          <a:xfrm>
            <a:off x="647700" y="1803400"/>
            <a:ext cx="3022600" cy="165100"/>
          </a:xfrm>
          <a:prstGeom prst="rect">
            <a:avLst/>
          </a:prstGeom>
          <a:noFill/>
        </p:spPr>
        <p:txBody>
          <a:bodyPr wrap="none" anchor="t" lIns="11887" rIns="11887" tIns="11887" bIns="11887">
            <a:spAutoFit/>
          </a:bodyPr>
          <a:lstStyle/>
          <a:p>
            <a:pPr algn="ctr">
              <a:lnSpc>
                <a:spcPts val="1052"/>
              </a:lnSpc>
              <a:spcBef>
                <a:spcPts val="0"/>
              </a:spcBef>
              <a:spcAft>
                <a:spcPts val="0"/>
              </a:spcAft>
            </a:pPr>
            <a:r>
              <a:rPr sz="940" b="1">
                <a:solidFill>
                  <a:srgbClr val="000000"/>
                </a:solidFill>
                <a:latin typeface="Arial Narrow"/>
              </a:rPr>
              <a:t>EXISTING SYSTEM</a:t>
            </a:r>
          </a:p>
        </p:txBody>
      </p:sp>
      <p:sp>
        <p:nvSpPr>
          <p:cNvPr id="12" name="Rectangle 11"/>
          <p:cNvSpPr/>
          <p:nvPr/>
        </p:nvSpPr>
        <p:spPr>
          <a:xfrm>
            <a:off x="647700" y="1968500"/>
            <a:ext cx="1003300" cy="1651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escription"/>
          <p:cNvSpPr txBox="1"/>
          <p:nvPr/>
        </p:nvSpPr>
        <p:spPr>
          <a:xfrm>
            <a:off x="647700" y="19685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1">
                <a:solidFill>
                  <a:srgbClr val="000000"/>
                </a:solidFill>
                <a:latin typeface="Arial Narrow"/>
              </a:rPr>
              <a:t>Description</a:t>
            </a:r>
          </a:p>
        </p:txBody>
      </p:sp>
      <p:sp>
        <p:nvSpPr>
          <p:cNvPr id="14" name="Rectangle 13"/>
          <p:cNvSpPr/>
          <p:nvPr/>
        </p:nvSpPr>
        <p:spPr>
          <a:xfrm>
            <a:off x="1651000" y="1968500"/>
            <a:ext cx="622300" cy="1651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Qty"/>
          <p:cNvSpPr txBox="1"/>
          <p:nvPr/>
        </p:nvSpPr>
        <p:spPr>
          <a:xfrm>
            <a:off x="1651000" y="1968500"/>
            <a:ext cx="622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1">
                <a:solidFill>
                  <a:srgbClr val="000000"/>
                </a:solidFill>
                <a:latin typeface="Arial Narrow"/>
              </a:rPr>
              <a:t>Qty</a:t>
            </a:r>
          </a:p>
        </p:txBody>
      </p:sp>
      <p:sp>
        <p:nvSpPr>
          <p:cNvPr id="16" name="Rectangle 15"/>
          <p:cNvSpPr/>
          <p:nvPr/>
        </p:nvSpPr>
        <p:spPr>
          <a:xfrm>
            <a:off x="2273300" y="1968500"/>
            <a:ext cx="622300" cy="1651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rice/Qty"/>
          <p:cNvSpPr txBox="1"/>
          <p:nvPr/>
        </p:nvSpPr>
        <p:spPr>
          <a:xfrm>
            <a:off x="2273300" y="1968500"/>
            <a:ext cx="622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1">
                <a:solidFill>
                  <a:srgbClr val="000000"/>
                </a:solidFill>
                <a:latin typeface="Arial Narrow"/>
              </a:rPr>
              <a:t>Price/Qty</a:t>
            </a:r>
          </a:p>
        </p:txBody>
      </p:sp>
      <p:sp>
        <p:nvSpPr>
          <p:cNvPr id="18" name="Rectangle 17"/>
          <p:cNvSpPr/>
          <p:nvPr/>
        </p:nvSpPr>
        <p:spPr>
          <a:xfrm>
            <a:off x="2895600" y="1968500"/>
            <a:ext cx="774700" cy="1651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ub_Total"/>
          <p:cNvSpPr txBox="1"/>
          <p:nvPr/>
        </p:nvSpPr>
        <p:spPr>
          <a:xfrm>
            <a:off x="2895600" y="1968500"/>
            <a:ext cx="7747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1">
                <a:solidFill>
                  <a:srgbClr val="000000"/>
                </a:solidFill>
                <a:latin typeface="Arial Narrow"/>
              </a:rPr>
              <a:t>Sub_Total</a:t>
            </a:r>
          </a:p>
        </p:txBody>
      </p:sp>
      <p:sp>
        <p:nvSpPr>
          <p:cNvPr id="20" name="Rectangle 19"/>
          <p:cNvSpPr/>
          <p:nvPr/>
        </p:nvSpPr>
        <p:spPr>
          <a:xfrm>
            <a:off x="647700" y="2133600"/>
            <a:ext cx="1003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olders"/>
          <p:cNvSpPr txBox="1"/>
          <p:nvPr/>
        </p:nvSpPr>
        <p:spPr>
          <a:xfrm>
            <a:off x="647700" y="21336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0">
                <a:solidFill>
                  <a:srgbClr val="000000"/>
                </a:solidFill>
                <a:latin typeface="Arial Narrow"/>
              </a:rPr>
              <a:t>Folders</a:t>
            </a:r>
          </a:p>
        </p:txBody>
      </p:sp>
      <p:sp>
        <p:nvSpPr>
          <p:cNvPr id="22" name="existing_supply1_qty"/>
          <p:cNvSpPr/>
          <p:nvPr/>
        </p:nvSpPr>
        <p:spPr>
          <a:xfrm>
            <a:off x="1651000" y="21336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xisting_supply1_price"/>
          <p:cNvSpPr/>
          <p:nvPr/>
        </p:nvSpPr>
        <p:spPr>
          <a:xfrm>
            <a:off x="2273300" y="21336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xisting_supply1_subtotal"/>
          <p:cNvSpPr/>
          <p:nvPr/>
        </p:nvSpPr>
        <p:spPr>
          <a:xfrm>
            <a:off x="2895600" y="2133600"/>
            <a:ext cx="7747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7700" y="2298700"/>
            <a:ext cx="1003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llpen"/>
          <p:cNvSpPr txBox="1"/>
          <p:nvPr/>
        </p:nvSpPr>
        <p:spPr>
          <a:xfrm>
            <a:off x="647700" y="22987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0">
                <a:solidFill>
                  <a:srgbClr val="000000"/>
                </a:solidFill>
                <a:latin typeface="Arial Narrow"/>
              </a:rPr>
              <a:t>Ballpen</a:t>
            </a:r>
          </a:p>
        </p:txBody>
      </p:sp>
      <p:sp>
        <p:nvSpPr>
          <p:cNvPr id="27" name="existing_supply2_qty"/>
          <p:cNvSpPr/>
          <p:nvPr/>
        </p:nvSpPr>
        <p:spPr>
          <a:xfrm>
            <a:off x="1651000" y="22987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existing_supply2_price"/>
          <p:cNvSpPr/>
          <p:nvPr/>
        </p:nvSpPr>
        <p:spPr>
          <a:xfrm>
            <a:off x="2273300" y="22987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existing_supply2_subtotal"/>
          <p:cNvSpPr/>
          <p:nvPr/>
        </p:nvSpPr>
        <p:spPr>
          <a:xfrm>
            <a:off x="2895600" y="2298700"/>
            <a:ext cx="7747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7700" y="2463800"/>
            <a:ext cx="1003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ond Papers"/>
          <p:cNvSpPr txBox="1"/>
          <p:nvPr/>
        </p:nvSpPr>
        <p:spPr>
          <a:xfrm>
            <a:off x="647700" y="24638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0">
                <a:solidFill>
                  <a:srgbClr val="000000"/>
                </a:solidFill>
                <a:latin typeface="Arial Narrow"/>
              </a:rPr>
              <a:t>Bond Papers</a:t>
            </a:r>
          </a:p>
        </p:txBody>
      </p:sp>
      <p:sp>
        <p:nvSpPr>
          <p:cNvPr id="32" name="existing_supply3_qty"/>
          <p:cNvSpPr/>
          <p:nvPr/>
        </p:nvSpPr>
        <p:spPr>
          <a:xfrm>
            <a:off x="1651000" y="24638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existing_supply3_price"/>
          <p:cNvSpPr/>
          <p:nvPr/>
        </p:nvSpPr>
        <p:spPr>
          <a:xfrm>
            <a:off x="2273300" y="24638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existing_supply3_subtotal"/>
          <p:cNvSpPr/>
          <p:nvPr/>
        </p:nvSpPr>
        <p:spPr>
          <a:xfrm>
            <a:off x="2895600" y="2463800"/>
            <a:ext cx="7747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7700" y="2628900"/>
            <a:ext cx="1003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arbon Papers"/>
          <p:cNvSpPr txBox="1"/>
          <p:nvPr/>
        </p:nvSpPr>
        <p:spPr>
          <a:xfrm>
            <a:off x="647700" y="26289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0">
                <a:solidFill>
                  <a:srgbClr val="000000"/>
                </a:solidFill>
                <a:latin typeface="Arial Narrow"/>
              </a:rPr>
              <a:t>Carbon Papers</a:t>
            </a:r>
          </a:p>
        </p:txBody>
      </p:sp>
      <p:sp>
        <p:nvSpPr>
          <p:cNvPr id="37" name="existing_supply4_qty"/>
          <p:cNvSpPr/>
          <p:nvPr/>
        </p:nvSpPr>
        <p:spPr>
          <a:xfrm>
            <a:off x="1651000" y="26289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existing_supply4_price"/>
          <p:cNvSpPr/>
          <p:nvPr/>
        </p:nvSpPr>
        <p:spPr>
          <a:xfrm>
            <a:off x="2273300" y="26289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existing_supply4_subtotal"/>
          <p:cNvSpPr/>
          <p:nvPr/>
        </p:nvSpPr>
        <p:spPr>
          <a:xfrm>
            <a:off x="2895600" y="2628900"/>
            <a:ext cx="7747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47700" y="2794000"/>
            <a:ext cx="1003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ord Book"/>
          <p:cNvSpPr txBox="1"/>
          <p:nvPr/>
        </p:nvSpPr>
        <p:spPr>
          <a:xfrm>
            <a:off x="647700" y="27940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0">
                <a:solidFill>
                  <a:srgbClr val="000000"/>
                </a:solidFill>
                <a:latin typeface="Arial Narrow"/>
              </a:rPr>
              <a:t>Record Book</a:t>
            </a:r>
          </a:p>
        </p:txBody>
      </p:sp>
      <p:sp>
        <p:nvSpPr>
          <p:cNvPr id="42" name="existing_supply5_qty"/>
          <p:cNvSpPr/>
          <p:nvPr/>
        </p:nvSpPr>
        <p:spPr>
          <a:xfrm>
            <a:off x="1651000" y="27940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existing_supply5_price"/>
          <p:cNvSpPr/>
          <p:nvPr/>
        </p:nvSpPr>
        <p:spPr>
          <a:xfrm>
            <a:off x="2273300" y="27940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existing_supply5_subtotal"/>
          <p:cNvSpPr/>
          <p:nvPr/>
        </p:nvSpPr>
        <p:spPr>
          <a:xfrm>
            <a:off x="2895600" y="2794000"/>
            <a:ext cx="7747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47700" y="2959100"/>
            <a:ext cx="1003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Vouchers"/>
          <p:cNvSpPr txBox="1"/>
          <p:nvPr/>
        </p:nvSpPr>
        <p:spPr>
          <a:xfrm>
            <a:off x="647700" y="29591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0">
                <a:solidFill>
                  <a:srgbClr val="000000"/>
                </a:solidFill>
                <a:latin typeface="Arial Narrow"/>
              </a:rPr>
              <a:t>Vouchers</a:t>
            </a:r>
          </a:p>
        </p:txBody>
      </p:sp>
      <p:sp>
        <p:nvSpPr>
          <p:cNvPr id="47" name="existing_supply6_qty"/>
          <p:cNvSpPr/>
          <p:nvPr/>
        </p:nvSpPr>
        <p:spPr>
          <a:xfrm>
            <a:off x="1651000" y="29591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existing_supply6_price"/>
          <p:cNvSpPr/>
          <p:nvPr/>
        </p:nvSpPr>
        <p:spPr>
          <a:xfrm>
            <a:off x="2273300" y="29591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existing_supply6_subtotal"/>
          <p:cNvSpPr/>
          <p:nvPr/>
        </p:nvSpPr>
        <p:spPr>
          <a:xfrm>
            <a:off x="2895600" y="2959100"/>
            <a:ext cx="7747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47700" y="3124200"/>
            <a:ext cx="1003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Ink"/>
          <p:cNvSpPr txBox="1"/>
          <p:nvPr/>
        </p:nvSpPr>
        <p:spPr>
          <a:xfrm>
            <a:off x="647700" y="31242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0">
                <a:solidFill>
                  <a:srgbClr val="000000"/>
                </a:solidFill>
                <a:latin typeface="Arial Narrow"/>
              </a:rPr>
              <a:t>Ink</a:t>
            </a:r>
          </a:p>
        </p:txBody>
      </p:sp>
      <p:sp>
        <p:nvSpPr>
          <p:cNvPr id="52" name="existing_supply7_qty"/>
          <p:cNvSpPr/>
          <p:nvPr/>
        </p:nvSpPr>
        <p:spPr>
          <a:xfrm>
            <a:off x="1651000" y="31242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existing_supply7_price"/>
          <p:cNvSpPr/>
          <p:nvPr/>
        </p:nvSpPr>
        <p:spPr>
          <a:xfrm>
            <a:off x="2273300" y="31242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existing_supply7_subtotal"/>
          <p:cNvSpPr/>
          <p:nvPr/>
        </p:nvSpPr>
        <p:spPr>
          <a:xfrm>
            <a:off x="2895600" y="3124200"/>
            <a:ext cx="7747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47700" y="3289300"/>
            <a:ext cx="22479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OTAL"/>
          <p:cNvSpPr txBox="1"/>
          <p:nvPr/>
        </p:nvSpPr>
        <p:spPr>
          <a:xfrm>
            <a:off x="647700" y="3289300"/>
            <a:ext cx="2247900" cy="190500"/>
          </a:xfrm>
          <a:prstGeom prst="rect">
            <a:avLst/>
          </a:prstGeom>
          <a:noFill/>
        </p:spPr>
        <p:txBody>
          <a:bodyPr wrap="none" anchor="t" lIns="25400" rIns="25400" tIns="25400" bIns="25400">
            <a:spAutoFit/>
          </a:bodyPr>
          <a:lstStyle/>
          <a:p>
            <a:pPr algn="l">
              <a:lnSpc>
                <a:spcPts val="985"/>
              </a:lnSpc>
              <a:spcBef>
                <a:spcPts val="0"/>
              </a:spcBef>
              <a:spcAft>
                <a:spcPts val="0"/>
              </a:spcAft>
            </a:pPr>
            <a:r>
              <a:rPr sz="880" b="1">
                <a:solidFill>
                  <a:srgbClr val="000000"/>
                </a:solidFill>
                <a:latin typeface="Arial Narrow"/>
              </a:rPr>
              <a:t>TOTAL</a:t>
            </a:r>
          </a:p>
        </p:txBody>
      </p:sp>
      <p:sp>
        <p:nvSpPr>
          <p:cNvPr id="57" name="existing_supplies_total"/>
          <p:cNvSpPr/>
          <p:nvPr/>
        </p:nvSpPr>
        <p:spPr>
          <a:xfrm>
            <a:off x="2895600" y="3289300"/>
            <a:ext cx="774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3886200" y="1803400"/>
            <a:ext cx="3022600" cy="1651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PROPOSED SYSTEM"/>
          <p:cNvSpPr txBox="1"/>
          <p:nvPr/>
        </p:nvSpPr>
        <p:spPr>
          <a:xfrm>
            <a:off x="3886200" y="1803400"/>
            <a:ext cx="3022600" cy="165100"/>
          </a:xfrm>
          <a:prstGeom prst="rect">
            <a:avLst/>
          </a:prstGeom>
          <a:noFill/>
        </p:spPr>
        <p:txBody>
          <a:bodyPr wrap="none" anchor="t" lIns="11887" rIns="11887" tIns="11887" bIns="11887">
            <a:spAutoFit/>
          </a:bodyPr>
          <a:lstStyle/>
          <a:p>
            <a:pPr algn="ctr">
              <a:lnSpc>
                <a:spcPts val="1052"/>
              </a:lnSpc>
              <a:spcBef>
                <a:spcPts val="0"/>
              </a:spcBef>
              <a:spcAft>
                <a:spcPts val="0"/>
              </a:spcAft>
            </a:pPr>
            <a:r>
              <a:rPr sz="940" b="1">
                <a:solidFill>
                  <a:srgbClr val="000000"/>
                </a:solidFill>
                <a:latin typeface="Arial Narrow"/>
              </a:rPr>
              <a:t>PROPOSED SYSTEM</a:t>
            </a:r>
          </a:p>
        </p:txBody>
      </p:sp>
      <p:sp>
        <p:nvSpPr>
          <p:cNvPr id="60" name="Rectangle 59"/>
          <p:cNvSpPr/>
          <p:nvPr/>
        </p:nvSpPr>
        <p:spPr>
          <a:xfrm>
            <a:off x="3886200" y="1968500"/>
            <a:ext cx="1003300" cy="1651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Description"/>
          <p:cNvSpPr txBox="1"/>
          <p:nvPr/>
        </p:nvSpPr>
        <p:spPr>
          <a:xfrm>
            <a:off x="3886200" y="19685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1">
                <a:solidFill>
                  <a:srgbClr val="000000"/>
                </a:solidFill>
                <a:latin typeface="Arial Narrow"/>
              </a:rPr>
              <a:t>Description</a:t>
            </a:r>
          </a:p>
        </p:txBody>
      </p:sp>
      <p:sp>
        <p:nvSpPr>
          <p:cNvPr id="62" name="Rectangle 61"/>
          <p:cNvSpPr/>
          <p:nvPr/>
        </p:nvSpPr>
        <p:spPr>
          <a:xfrm>
            <a:off x="4889500" y="1968500"/>
            <a:ext cx="622300" cy="1651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Qty"/>
          <p:cNvSpPr txBox="1"/>
          <p:nvPr/>
        </p:nvSpPr>
        <p:spPr>
          <a:xfrm>
            <a:off x="4889500" y="1968500"/>
            <a:ext cx="622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1">
                <a:solidFill>
                  <a:srgbClr val="000000"/>
                </a:solidFill>
                <a:latin typeface="Arial Narrow"/>
              </a:rPr>
              <a:t>Qty</a:t>
            </a:r>
          </a:p>
        </p:txBody>
      </p:sp>
      <p:sp>
        <p:nvSpPr>
          <p:cNvPr id="64" name="Rectangle 63"/>
          <p:cNvSpPr/>
          <p:nvPr/>
        </p:nvSpPr>
        <p:spPr>
          <a:xfrm>
            <a:off x="5511800" y="1968500"/>
            <a:ext cx="622300" cy="1651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rice/Qty"/>
          <p:cNvSpPr txBox="1"/>
          <p:nvPr/>
        </p:nvSpPr>
        <p:spPr>
          <a:xfrm>
            <a:off x="5511800" y="1968500"/>
            <a:ext cx="622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1">
                <a:solidFill>
                  <a:srgbClr val="000000"/>
                </a:solidFill>
                <a:latin typeface="Arial Narrow"/>
              </a:rPr>
              <a:t>Price/Qty</a:t>
            </a:r>
          </a:p>
        </p:txBody>
      </p:sp>
      <p:sp>
        <p:nvSpPr>
          <p:cNvPr id="66" name="Rectangle 65"/>
          <p:cNvSpPr/>
          <p:nvPr/>
        </p:nvSpPr>
        <p:spPr>
          <a:xfrm>
            <a:off x="6134100" y="1968500"/>
            <a:ext cx="774700" cy="1651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Sub_Total"/>
          <p:cNvSpPr txBox="1"/>
          <p:nvPr/>
        </p:nvSpPr>
        <p:spPr>
          <a:xfrm>
            <a:off x="6134100" y="1968500"/>
            <a:ext cx="7747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1">
                <a:solidFill>
                  <a:srgbClr val="000000"/>
                </a:solidFill>
                <a:latin typeface="Arial Narrow"/>
              </a:rPr>
              <a:t>Sub_Total</a:t>
            </a:r>
          </a:p>
        </p:txBody>
      </p:sp>
      <p:sp>
        <p:nvSpPr>
          <p:cNvPr id="68" name="Rectangle 67"/>
          <p:cNvSpPr/>
          <p:nvPr/>
        </p:nvSpPr>
        <p:spPr>
          <a:xfrm>
            <a:off x="3886200" y="2133600"/>
            <a:ext cx="1003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olders"/>
          <p:cNvSpPr txBox="1"/>
          <p:nvPr/>
        </p:nvSpPr>
        <p:spPr>
          <a:xfrm>
            <a:off x="3886200" y="21336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0">
                <a:solidFill>
                  <a:srgbClr val="000000"/>
                </a:solidFill>
                <a:latin typeface="Arial Narrow"/>
              </a:rPr>
              <a:t>Folders</a:t>
            </a:r>
          </a:p>
        </p:txBody>
      </p:sp>
      <p:sp>
        <p:nvSpPr>
          <p:cNvPr id="70" name="proposed_supply1_qty"/>
          <p:cNvSpPr/>
          <p:nvPr/>
        </p:nvSpPr>
        <p:spPr>
          <a:xfrm>
            <a:off x="4889500" y="21336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proposed_supply1_price"/>
          <p:cNvSpPr/>
          <p:nvPr/>
        </p:nvSpPr>
        <p:spPr>
          <a:xfrm>
            <a:off x="5511800" y="21336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proposed_supply1_subtotal"/>
          <p:cNvSpPr/>
          <p:nvPr/>
        </p:nvSpPr>
        <p:spPr>
          <a:xfrm>
            <a:off x="6134100" y="2133600"/>
            <a:ext cx="7747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3886200" y="2298700"/>
            <a:ext cx="1003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Ballpen"/>
          <p:cNvSpPr txBox="1"/>
          <p:nvPr/>
        </p:nvSpPr>
        <p:spPr>
          <a:xfrm>
            <a:off x="3886200" y="22987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0">
                <a:solidFill>
                  <a:srgbClr val="000000"/>
                </a:solidFill>
                <a:latin typeface="Arial Narrow"/>
              </a:rPr>
              <a:t>Ballpen</a:t>
            </a:r>
          </a:p>
        </p:txBody>
      </p:sp>
      <p:sp>
        <p:nvSpPr>
          <p:cNvPr id="75" name="proposed_supply2_qty"/>
          <p:cNvSpPr/>
          <p:nvPr/>
        </p:nvSpPr>
        <p:spPr>
          <a:xfrm>
            <a:off x="4889500" y="22987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proposed_supply2_price"/>
          <p:cNvSpPr/>
          <p:nvPr/>
        </p:nvSpPr>
        <p:spPr>
          <a:xfrm>
            <a:off x="5511800" y="22987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roposed_supply2_subtotal"/>
          <p:cNvSpPr/>
          <p:nvPr/>
        </p:nvSpPr>
        <p:spPr>
          <a:xfrm>
            <a:off x="6134100" y="2298700"/>
            <a:ext cx="7747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3886200" y="2463800"/>
            <a:ext cx="1003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Bond Papers"/>
          <p:cNvSpPr txBox="1"/>
          <p:nvPr/>
        </p:nvSpPr>
        <p:spPr>
          <a:xfrm>
            <a:off x="3886200" y="24638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0">
                <a:solidFill>
                  <a:srgbClr val="000000"/>
                </a:solidFill>
                <a:latin typeface="Arial Narrow"/>
              </a:rPr>
              <a:t>Bond Papers</a:t>
            </a:r>
          </a:p>
        </p:txBody>
      </p:sp>
      <p:sp>
        <p:nvSpPr>
          <p:cNvPr id="80" name="proposed_supply3_qty"/>
          <p:cNvSpPr/>
          <p:nvPr/>
        </p:nvSpPr>
        <p:spPr>
          <a:xfrm>
            <a:off x="4889500" y="24638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proposed_supply3_price"/>
          <p:cNvSpPr/>
          <p:nvPr/>
        </p:nvSpPr>
        <p:spPr>
          <a:xfrm>
            <a:off x="5511800" y="24638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proposed_supply3_subtotal"/>
          <p:cNvSpPr/>
          <p:nvPr/>
        </p:nvSpPr>
        <p:spPr>
          <a:xfrm>
            <a:off x="6134100" y="2463800"/>
            <a:ext cx="7747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3886200" y="2628900"/>
            <a:ext cx="1003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ord Book"/>
          <p:cNvSpPr txBox="1"/>
          <p:nvPr/>
        </p:nvSpPr>
        <p:spPr>
          <a:xfrm>
            <a:off x="3886200" y="26289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0">
                <a:solidFill>
                  <a:srgbClr val="000000"/>
                </a:solidFill>
                <a:latin typeface="Arial Narrow"/>
              </a:rPr>
              <a:t>Record Book</a:t>
            </a:r>
          </a:p>
        </p:txBody>
      </p:sp>
      <p:sp>
        <p:nvSpPr>
          <p:cNvPr id="85" name="proposed_supply4_qty"/>
          <p:cNvSpPr/>
          <p:nvPr/>
        </p:nvSpPr>
        <p:spPr>
          <a:xfrm>
            <a:off x="4889500" y="26289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proposed_supply4_price"/>
          <p:cNvSpPr/>
          <p:nvPr/>
        </p:nvSpPr>
        <p:spPr>
          <a:xfrm>
            <a:off x="5511800" y="26289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proposed_supply4_subtotal"/>
          <p:cNvSpPr/>
          <p:nvPr/>
        </p:nvSpPr>
        <p:spPr>
          <a:xfrm>
            <a:off x="6134100" y="2628900"/>
            <a:ext cx="7747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3886200" y="2794000"/>
            <a:ext cx="1003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USB"/>
          <p:cNvSpPr txBox="1"/>
          <p:nvPr/>
        </p:nvSpPr>
        <p:spPr>
          <a:xfrm>
            <a:off x="3886200" y="27940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0">
                <a:solidFill>
                  <a:srgbClr val="000000"/>
                </a:solidFill>
                <a:latin typeface="Arial Narrow"/>
              </a:rPr>
              <a:t>USB</a:t>
            </a:r>
          </a:p>
        </p:txBody>
      </p:sp>
      <p:sp>
        <p:nvSpPr>
          <p:cNvPr id="90" name="proposed_supply5_qty"/>
          <p:cNvSpPr/>
          <p:nvPr/>
        </p:nvSpPr>
        <p:spPr>
          <a:xfrm>
            <a:off x="4889500" y="27940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proposed_supply5_price"/>
          <p:cNvSpPr/>
          <p:nvPr/>
        </p:nvSpPr>
        <p:spPr>
          <a:xfrm>
            <a:off x="5511800" y="27940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proposed_supply5_subtotal"/>
          <p:cNvSpPr/>
          <p:nvPr/>
        </p:nvSpPr>
        <p:spPr>
          <a:xfrm>
            <a:off x="6134100" y="2794000"/>
            <a:ext cx="7747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3886200" y="2959100"/>
            <a:ext cx="1003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Ink"/>
          <p:cNvSpPr txBox="1"/>
          <p:nvPr/>
        </p:nvSpPr>
        <p:spPr>
          <a:xfrm>
            <a:off x="3886200" y="29591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0">
                <a:solidFill>
                  <a:srgbClr val="000000"/>
                </a:solidFill>
                <a:latin typeface="Arial Narrow"/>
              </a:rPr>
              <a:t>Ink</a:t>
            </a:r>
          </a:p>
        </p:txBody>
      </p:sp>
      <p:sp>
        <p:nvSpPr>
          <p:cNvPr id="95" name="proposed_supply6_qty"/>
          <p:cNvSpPr/>
          <p:nvPr/>
        </p:nvSpPr>
        <p:spPr>
          <a:xfrm>
            <a:off x="4889500" y="29591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proposed_supply6_price"/>
          <p:cNvSpPr/>
          <p:nvPr/>
        </p:nvSpPr>
        <p:spPr>
          <a:xfrm>
            <a:off x="5511800" y="29591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proposed_supply6_subtotal"/>
          <p:cNvSpPr/>
          <p:nvPr/>
        </p:nvSpPr>
        <p:spPr>
          <a:xfrm>
            <a:off x="6134100" y="2959100"/>
            <a:ext cx="7747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3886200" y="3289300"/>
            <a:ext cx="22479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OTAL"/>
          <p:cNvSpPr txBox="1"/>
          <p:nvPr/>
        </p:nvSpPr>
        <p:spPr>
          <a:xfrm>
            <a:off x="3886200" y="3289300"/>
            <a:ext cx="2247900" cy="190500"/>
          </a:xfrm>
          <a:prstGeom prst="rect">
            <a:avLst/>
          </a:prstGeom>
          <a:noFill/>
        </p:spPr>
        <p:txBody>
          <a:bodyPr wrap="none" anchor="t" lIns="25400" rIns="25400" tIns="25400" bIns="25400">
            <a:spAutoFit/>
          </a:bodyPr>
          <a:lstStyle/>
          <a:p>
            <a:pPr algn="l">
              <a:lnSpc>
                <a:spcPts val="985"/>
              </a:lnSpc>
              <a:spcBef>
                <a:spcPts val="0"/>
              </a:spcBef>
              <a:spcAft>
                <a:spcPts val="0"/>
              </a:spcAft>
            </a:pPr>
            <a:r>
              <a:rPr sz="880" b="1">
                <a:solidFill>
                  <a:srgbClr val="000000"/>
                </a:solidFill>
                <a:latin typeface="Arial Narrow"/>
              </a:rPr>
              <a:t>TOTAL</a:t>
            </a:r>
          </a:p>
        </p:txBody>
      </p:sp>
      <p:sp>
        <p:nvSpPr>
          <p:cNvPr id="100" name="proposed_supplies_total"/>
          <p:cNvSpPr/>
          <p:nvPr/>
        </p:nvSpPr>
        <p:spPr>
          <a:xfrm>
            <a:off x="6134100" y="3289300"/>
            <a:ext cx="774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Supplies Cost Reduction = Total Supplies of the Existing System −"/>
          <p:cNvSpPr txBox="1"/>
          <p:nvPr/>
        </p:nvSpPr>
        <p:spPr>
          <a:xfrm>
            <a:off x="647700" y="3517900"/>
            <a:ext cx="6261100" cy="190500"/>
          </a:xfrm>
          <a:prstGeom prst="rect">
            <a:avLst/>
          </a:prstGeom>
          <a:noFill/>
        </p:spPr>
        <p:txBody>
          <a:bodyPr wrap="none" anchor="t" lIns="25400" rIns="25400" tIns="25400" bIns="25400">
            <a:spAutoFit/>
          </a:bodyPr>
          <a:lstStyle/>
          <a:p>
            <a:pPr algn="l">
              <a:lnSpc>
                <a:spcPts val="985"/>
              </a:lnSpc>
              <a:spcBef>
                <a:spcPts val="0"/>
              </a:spcBef>
              <a:spcAft>
                <a:spcPts val="0"/>
              </a:spcAft>
            </a:pPr>
            <a:r>
              <a:rPr sz="880" b="1">
                <a:solidFill>
                  <a:srgbClr val="000000"/>
                </a:solidFill>
                <a:latin typeface="Arial Narrow"/>
              </a:rPr>
              <a:t>Supplies Cost Reduction = Total Supplies of the Existing System − Total Supplies of the Proposed System</a:t>
            </a:r>
          </a:p>
        </p:txBody>
      </p:sp>
      <p:sp>
        <p:nvSpPr>
          <p:cNvPr id="102" name="Rectangle 101"/>
          <p:cNvSpPr/>
          <p:nvPr/>
        </p:nvSpPr>
        <p:spPr>
          <a:xfrm>
            <a:off x="647700" y="3708400"/>
            <a:ext cx="5295900" cy="203200"/>
          </a:xfrm>
          <a:prstGeom prst="rect">
            <a:avLst/>
          </a:prstGeom>
          <a:solidFill>
            <a:srgbClr val="D9E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Supplies Cost Reduction"/>
          <p:cNvSpPr txBox="1"/>
          <p:nvPr/>
        </p:nvSpPr>
        <p:spPr>
          <a:xfrm>
            <a:off x="647700" y="3708400"/>
            <a:ext cx="5295900" cy="203200"/>
          </a:xfrm>
          <a:prstGeom prst="rect">
            <a:avLst/>
          </a:prstGeom>
          <a:noFill/>
        </p:spPr>
        <p:txBody>
          <a:bodyPr wrap="none" anchor="t" lIns="25400" rIns="25400" tIns="25400" bIns="25400">
            <a:spAutoFit/>
          </a:bodyPr>
          <a:lstStyle/>
          <a:p>
            <a:pPr algn="l">
              <a:lnSpc>
                <a:spcPts val="1041"/>
              </a:lnSpc>
              <a:spcBef>
                <a:spcPts val="0"/>
              </a:spcBef>
              <a:spcAft>
                <a:spcPts val="0"/>
              </a:spcAft>
            </a:pPr>
            <a:r>
              <a:rPr sz="930" b="1">
                <a:solidFill>
                  <a:srgbClr val="000000"/>
                </a:solidFill>
                <a:latin typeface="Arial Narrow"/>
              </a:rPr>
              <a:t>Supplies Cost Reduction</a:t>
            </a:r>
          </a:p>
        </p:txBody>
      </p:sp>
      <p:sp>
        <p:nvSpPr>
          <p:cNvPr id="104" name="supplies_reduction"/>
          <p:cNvSpPr/>
          <p:nvPr/>
        </p:nvSpPr>
        <p:spPr>
          <a:xfrm>
            <a:off x="5943600" y="3708400"/>
            <a:ext cx="965200" cy="203200"/>
          </a:xfrm>
          <a:prstGeom prst="rect">
            <a:avLst/>
          </a:prstGeom>
          <a:solidFill>
            <a:srgbClr val="D9E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B. LABOR COST"/>
          <p:cNvSpPr txBox="1"/>
          <p:nvPr/>
        </p:nvSpPr>
        <p:spPr>
          <a:xfrm>
            <a:off x="647700" y="4038600"/>
            <a:ext cx="6261100" cy="190500"/>
          </a:xfrm>
          <a:prstGeom prst="rect">
            <a:avLst/>
          </a:prstGeom>
          <a:noFill/>
        </p:spPr>
        <p:txBody>
          <a:bodyPr wrap="none" anchor="t" lIns="20319" rIns="20319" tIns="20319" bIns="20319">
            <a:spAutoFit/>
          </a:bodyPr>
          <a:lstStyle/>
          <a:p>
            <a:pPr algn="l">
              <a:lnSpc>
                <a:spcPts val="1120"/>
              </a:lnSpc>
              <a:spcBef>
                <a:spcPts val="0"/>
              </a:spcBef>
              <a:spcAft>
                <a:spcPts val="0"/>
              </a:spcAft>
            </a:pPr>
            <a:r>
              <a:rPr sz="1000" b="1">
                <a:solidFill>
                  <a:srgbClr val="000000"/>
                </a:solidFill>
                <a:latin typeface="Arial Narrow"/>
              </a:rPr>
              <a:t>B. LABOR COST</a:t>
            </a:r>
          </a:p>
        </p:txBody>
      </p:sp>
      <p:sp>
        <p:nvSpPr>
          <p:cNvPr id="106" name="Rectangle 105"/>
          <p:cNvSpPr/>
          <p:nvPr/>
        </p:nvSpPr>
        <p:spPr>
          <a:xfrm>
            <a:off x="647700" y="4279900"/>
            <a:ext cx="2895600" cy="1651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EXISTING SYSTEM"/>
          <p:cNvSpPr txBox="1"/>
          <p:nvPr/>
        </p:nvSpPr>
        <p:spPr>
          <a:xfrm>
            <a:off x="647700" y="4279900"/>
            <a:ext cx="2895600" cy="165100"/>
          </a:xfrm>
          <a:prstGeom prst="rect">
            <a:avLst/>
          </a:prstGeom>
          <a:noFill/>
        </p:spPr>
        <p:txBody>
          <a:bodyPr wrap="none" anchor="t" lIns="12598" rIns="12598" tIns="12598" bIns="12598">
            <a:spAutoFit/>
          </a:bodyPr>
          <a:lstStyle/>
          <a:p>
            <a:pPr algn="ctr">
              <a:lnSpc>
                <a:spcPts val="1041"/>
              </a:lnSpc>
              <a:spcBef>
                <a:spcPts val="0"/>
              </a:spcBef>
              <a:spcAft>
                <a:spcPts val="0"/>
              </a:spcAft>
            </a:pPr>
            <a:r>
              <a:rPr sz="930" b="1">
                <a:solidFill>
                  <a:srgbClr val="000000"/>
                </a:solidFill>
                <a:latin typeface="Arial Narrow"/>
              </a:rPr>
              <a:t>EXISTING SYSTEM</a:t>
            </a:r>
          </a:p>
        </p:txBody>
      </p:sp>
      <p:sp>
        <p:nvSpPr>
          <p:cNvPr id="108" name="Rectangle 107"/>
          <p:cNvSpPr/>
          <p:nvPr/>
        </p:nvSpPr>
        <p:spPr>
          <a:xfrm>
            <a:off x="647700" y="4445000"/>
            <a:ext cx="1092200" cy="3175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Personnel"/>
          <p:cNvSpPr txBox="1"/>
          <p:nvPr/>
        </p:nvSpPr>
        <p:spPr>
          <a:xfrm>
            <a:off x="647700" y="4445000"/>
            <a:ext cx="1092200" cy="3175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Personnel</a:t>
            </a:r>
          </a:p>
        </p:txBody>
      </p:sp>
      <p:sp>
        <p:nvSpPr>
          <p:cNvPr id="110" name="Rectangle 109"/>
          <p:cNvSpPr/>
          <p:nvPr/>
        </p:nvSpPr>
        <p:spPr>
          <a:xfrm>
            <a:off x="1739900" y="4445000"/>
            <a:ext cx="901700" cy="3175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Salary/&#10;Month"/>
          <p:cNvSpPr txBox="1"/>
          <p:nvPr/>
        </p:nvSpPr>
        <p:spPr>
          <a:xfrm>
            <a:off x="1739900" y="4445000"/>
            <a:ext cx="901700" cy="3175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Salary/</a:t>
            </a:r>
          </a:p>
          <a:p>
            <a:pPr algn="l">
              <a:lnSpc>
                <a:spcPts val="1008"/>
              </a:lnSpc>
              <a:spcBef>
                <a:spcPts val="0"/>
              </a:spcBef>
              <a:spcAft>
                <a:spcPts val="0"/>
              </a:spcAft>
            </a:pPr>
            <a:r>
              <a:rPr sz="900" b="1">
                <a:solidFill>
                  <a:srgbClr val="000000"/>
                </a:solidFill>
                <a:latin typeface="Arial Narrow"/>
              </a:rPr>
              <a:t>Month</a:t>
            </a:r>
          </a:p>
        </p:txBody>
      </p:sp>
      <p:sp>
        <p:nvSpPr>
          <p:cNvPr id="112" name="Rectangle 111"/>
          <p:cNvSpPr/>
          <p:nvPr/>
        </p:nvSpPr>
        <p:spPr>
          <a:xfrm>
            <a:off x="2641600" y="4445000"/>
            <a:ext cx="901700" cy="3175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Annual"/>
          <p:cNvSpPr txBox="1"/>
          <p:nvPr/>
        </p:nvSpPr>
        <p:spPr>
          <a:xfrm>
            <a:off x="2641600" y="4445000"/>
            <a:ext cx="901700" cy="3175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Annual</a:t>
            </a:r>
          </a:p>
        </p:txBody>
      </p:sp>
      <p:sp>
        <p:nvSpPr>
          <p:cNvPr id="114" name="Rectangle 113"/>
          <p:cNvSpPr/>
          <p:nvPr/>
        </p:nvSpPr>
        <p:spPr>
          <a:xfrm>
            <a:off x="647700" y="4762500"/>
            <a:ext cx="10922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Inventory personnel"/>
          <p:cNvSpPr txBox="1"/>
          <p:nvPr/>
        </p:nvSpPr>
        <p:spPr>
          <a:xfrm>
            <a:off x="647700" y="4762500"/>
            <a:ext cx="1092200" cy="190500"/>
          </a:xfrm>
          <a:prstGeom prst="rect">
            <a:avLst/>
          </a:prstGeom>
          <a:noFill/>
        </p:spPr>
        <p:txBody>
          <a:bodyPr wrap="none" anchor="t" lIns="25400" rIns="25400" tIns="25400" bIns="25400">
            <a:spAutoFit/>
          </a:bodyPr>
          <a:lstStyle/>
          <a:p>
            <a:pPr algn="l">
              <a:lnSpc>
                <a:spcPts val="963"/>
              </a:lnSpc>
              <a:spcBef>
                <a:spcPts val="0"/>
              </a:spcBef>
              <a:spcAft>
                <a:spcPts val="0"/>
              </a:spcAft>
            </a:pPr>
            <a:r>
              <a:rPr sz="860" b="0">
                <a:solidFill>
                  <a:srgbClr val="000000"/>
                </a:solidFill>
                <a:latin typeface="Arial Narrow"/>
              </a:rPr>
              <a:t>Inventory personnel</a:t>
            </a:r>
          </a:p>
        </p:txBody>
      </p:sp>
      <p:sp>
        <p:nvSpPr>
          <p:cNvPr id="116" name="existing_labor1_monthly"/>
          <p:cNvSpPr/>
          <p:nvPr/>
        </p:nvSpPr>
        <p:spPr>
          <a:xfrm>
            <a:off x="1739900" y="4762500"/>
            <a:ext cx="901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existing_labor1_annual"/>
          <p:cNvSpPr/>
          <p:nvPr/>
        </p:nvSpPr>
        <p:spPr>
          <a:xfrm>
            <a:off x="2641600" y="4762500"/>
            <a:ext cx="901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647700" y="4953000"/>
            <a:ext cx="10922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porting personnel"/>
          <p:cNvSpPr txBox="1"/>
          <p:nvPr/>
        </p:nvSpPr>
        <p:spPr>
          <a:xfrm>
            <a:off x="647700" y="4953000"/>
            <a:ext cx="1092200" cy="190500"/>
          </a:xfrm>
          <a:prstGeom prst="rect">
            <a:avLst/>
          </a:prstGeom>
          <a:noFill/>
        </p:spPr>
        <p:txBody>
          <a:bodyPr wrap="none" anchor="t" lIns="25400" rIns="25400" tIns="25400" bIns="25400">
            <a:spAutoFit/>
          </a:bodyPr>
          <a:lstStyle/>
          <a:p>
            <a:pPr algn="l">
              <a:lnSpc>
                <a:spcPts val="963"/>
              </a:lnSpc>
              <a:spcBef>
                <a:spcPts val="0"/>
              </a:spcBef>
              <a:spcAft>
                <a:spcPts val="0"/>
              </a:spcAft>
            </a:pPr>
            <a:r>
              <a:rPr sz="860" b="0">
                <a:solidFill>
                  <a:srgbClr val="000000"/>
                </a:solidFill>
                <a:latin typeface="Arial Narrow"/>
              </a:rPr>
              <a:t>Reporting personnel</a:t>
            </a:r>
          </a:p>
        </p:txBody>
      </p:sp>
      <p:sp>
        <p:nvSpPr>
          <p:cNvPr id="120" name="existing_labor2_monthly"/>
          <p:cNvSpPr/>
          <p:nvPr/>
        </p:nvSpPr>
        <p:spPr>
          <a:xfrm>
            <a:off x="1739900" y="4953000"/>
            <a:ext cx="901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existing_labor2_annual"/>
          <p:cNvSpPr/>
          <p:nvPr/>
        </p:nvSpPr>
        <p:spPr>
          <a:xfrm>
            <a:off x="2641600" y="4953000"/>
            <a:ext cx="901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647700" y="5143500"/>
            <a:ext cx="10922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Accountability personnel"/>
          <p:cNvSpPr txBox="1"/>
          <p:nvPr/>
        </p:nvSpPr>
        <p:spPr>
          <a:xfrm>
            <a:off x="647700" y="5143500"/>
            <a:ext cx="1092200" cy="190500"/>
          </a:xfrm>
          <a:prstGeom prst="rect">
            <a:avLst/>
          </a:prstGeom>
          <a:noFill/>
        </p:spPr>
        <p:txBody>
          <a:bodyPr wrap="none" anchor="t" lIns="25400" rIns="25400" tIns="25400" bIns="25400">
            <a:spAutoFit/>
          </a:bodyPr>
          <a:lstStyle/>
          <a:p>
            <a:pPr algn="l">
              <a:lnSpc>
                <a:spcPts val="963"/>
              </a:lnSpc>
              <a:spcBef>
                <a:spcPts val="0"/>
              </a:spcBef>
              <a:spcAft>
                <a:spcPts val="0"/>
              </a:spcAft>
            </a:pPr>
            <a:r>
              <a:rPr sz="860" b="0">
                <a:solidFill>
                  <a:srgbClr val="000000"/>
                </a:solidFill>
                <a:latin typeface="Arial Narrow"/>
              </a:rPr>
              <a:t>Accountability personnel</a:t>
            </a:r>
          </a:p>
        </p:txBody>
      </p:sp>
      <p:sp>
        <p:nvSpPr>
          <p:cNvPr id="124" name="existing_labor3_monthly"/>
          <p:cNvSpPr/>
          <p:nvPr/>
        </p:nvSpPr>
        <p:spPr>
          <a:xfrm>
            <a:off x="1739900" y="5143500"/>
            <a:ext cx="901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existing_labor3_annual"/>
          <p:cNvSpPr/>
          <p:nvPr/>
        </p:nvSpPr>
        <p:spPr>
          <a:xfrm>
            <a:off x="2641600" y="5143500"/>
            <a:ext cx="901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647700" y="5334000"/>
            <a:ext cx="19939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OTAL"/>
          <p:cNvSpPr txBox="1"/>
          <p:nvPr/>
        </p:nvSpPr>
        <p:spPr>
          <a:xfrm>
            <a:off x="647700" y="5334000"/>
            <a:ext cx="1993900" cy="1905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TOTAL</a:t>
            </a:r>
          </a:p>
        </p:txBody>
      </p:sp>
      <p:sp>
        <p:nvSpPr>
          <p:cNvPr id="128" name="existing_labor_total"/>
          <p:cNvSpPr/>
          <p:nvPr/>
        </p:nvSpPr>
        <p:spPr>
          <a:xfrm>
            <a:off x="2641600" y="5334000"/>
            <a:ext cx="901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3886200" y="4279900"/>
            <a:ext cx="2895600" cy="1651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PROPOSED SYSTEM"/>
          <p:cNvSpPr txBox="1"/>
          <p:nvPr/>
        </p:nvSpPr>
        <p:spPr>
          <a:xfrm>
            <a:off x="3886200" y="4279900"/>
            <a:ext cx="2895600" cy="165100"/>
          </a:xfrm>
          <a:prstGeom prst="rect">
            <a:avLst/>
          </a:prstGeom>
          <a:noFill/>
        </p:spPr>
        <p:txBody>
          <a:bodyPr wrap="none" anchor="t" lIns="12598" rIns="12598" tIns="12598" bIns="12598">
            <a:spAutoFit/>
          </a:bodyPr>
          <a:lstStyle/>
          <a:p>
            <a:pPr algn="ctr">
              <a:lnSpc>
                <a:spcPts val="1041"/>
              </a:lnSpc>
              <a:spcBef>
                <a:spcPts val="0"/>
              </a:spcBef>
              <a:spcAft>
                <a:spcPts val="0"/>
              </a:spcAft>
            </a:pPr>
            <a:r>
              <a:rPr sz="930" b="1">
                <a:solidFill>
                  <a:srgbClr val="000000"/>
                </a:solidFill>
                <a:latin typeface="Arial Narrow"/>
              </a:rPr>
              <a:t>PROPOSED SYSTEM</a:t>
            </a:r>
          </a:p>
        </p:txBody>
      </p:sp>
      <p:sp>
        <p:nvSpPr>
          <p:cNvPr id="131" name="Rectangle 130"/>
          <p:cNvSpPr/>
          <p:nvPr/>
        </p:nvSpPr>
        <p:spPr>
          <a:xfrm>
            <a:off x="3886200" y="4445000"/>
            <a:ext cx="1092200" cy="3175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Personnel"/>
          <p:cNvSpPr txBox="1"/>
          <p:nvPr/>
        </p:nvSpPr>
        <p:spPr>
          <a:xfrm>
            <a:off x="3886200" y="4445000"/>
            <a:ext cx="1092200" cy="3175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Personnel</a:t>
            </a:r>
          </a:p>
        </p:txBody>
      </p:sp>
      <p:sp>
        <p:nvSpPr>
          <p:cNvPr id="133" name="Rectangle 132"/>
          <p:cNvSpPr/>
          <p:nvPr/>
        </p:nvSpPr>
        <p:spPr>
          <a:xfrm>
            <a:off x="4978400" y="4445000"/>
            <a:ext cx="901700" cy="3175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Salary/&#10;Month"/>
          <p:cNvSpPr txBox="1"/>
          <p:nvPr/>
        </p:nvSpPr>
        <p:spPr>
          <a:xfrm>
            <a:off x="4978400" y="4445000"/>
            <a:ext cx="901700" cy="3175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Salary/</a:t>
            </a:r>
          </a:p>
          <a:p>
            <a:pPr algn="l">
              <a:lnSpc>
                <a:spcPts val="1008"/>
              </a:lnSpc>
              <a:spcBef>
                <a:spcPts val="0"/>
              </a:spcBef>
              <a:spcAft>
                <a:spcPts val="0"/>
              </a:spcAft>
            </a:pPr>
            <a:r>
              <a:rPr sz="900" b="1">
                <a:solidFill>
                  <a:srgbClr val="000000"/>
                </a:solidFill>
                <a:latin typeface="Arial Narrow"/>
              </a:rPr>
              <a:t>Month</a:t>
            </a:r>
          </a:p>
        </p:txBody>
      </p:sp>
      <p:sp>
        <p:nvSpPr>
          <p:cNvPr id="135" name="Rectangle 134"/>
          <p:cNvSpPr/>
          <p:nvPr/>
        </p:nvSpPr>
        <p:spPr>
          <a:xfrm>
            <a:off x="5880100" y="4445000"/>
            <a:ext cx="901700" cy="3175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Annual"/>
          <p:cNvSpPr txBox="1"/>
          <p:nvPr/>
        </p:nvSpPr>
        <p:spPr>
          <a:xfrm>
            <a:off x="5880100" y="4445000"/>
            <a:ext cx="901700" cy="3175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Annual</a:t>
            </a:r>
          </a:p>
        </p:txBody>
      </p:sp>
      <p:sp>
        <p:nvSpPr>
          <p:cNvPr id="137" name="Rectangle 136"/>
          <p:cNvSpPr/>
          <p:nvPr/>
        </p:nvSpPr>
        <p:spPr>
          <a:xfrm>
            <a:off x="3886200" y="4762500"/>
            <a:ext cx="10922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Inventory personnel"/>
          <p:cNvSpPr txBox="1"/>
          <p:nvPr/>
        </p:nvSpPr>
        <p:spPr>
          <a:xfrm>
            <a:off x="3886200" y="4762500"/>
            <a:ext cx="1092200" cy="190500"/>
          </a:xfrm>
          <a:prstGeom prst="rect">
            <a:avLst/>
          </a:prstGeom>
          <a:noFill/>
        </p:spPr>
        <p:txBody>
          <a:bodyPr wrap="none" anchor="t" lIns="25400" rIns="25400" tIns="25400" bIns="25400">
            <a:spAutoFit/>
          </a:bodyPr>
          <a:lstStyle/>
          <a:p>
            <a:pPr algn="l">
              <a:lnSpc>
                <a:spcPts val="963"/>
              </a:lnSpc>
              <a:spcBef>
                <a:spcPts val="0"/>
              </a:spcBef>
              <a:spcAft>
                <a:spcPts val="0"/>
              </a:spcAft>
            </a:pPr>
            <a:r>
              <a:rPr sz="860" b="0">
                <a:solidFill>
                  <a:srgbClr val="000000"/>
                </a:solidFill>
                <a:latin typeface="Arial Narrow"/>
              </a:rPr>
              <a:t>Inventory personnel</a:t>
            </a:r>
          </a:p>
        </p:txBody>
      </p:sp>
      <p:sp>
        <p:nvSpPr>
          <p:cNvPr id="139" name="proposed_labor1_monthly"/>
          <p:cNvSpPr/>
          <p:nvPr/>
        </p:nvSpPr>
        <p:spPr>
          <a:xfrm>
            <a:off x="4978400" y="4762500"/>
            <a:ext cx="901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proposed_labor1_annual"/>
          <p:cNvSpPr/>
          <p:nvPr/>
        </p:nvSpPr>
        <p:spPr>
          <a:xfrm>
            <a:off x="5880100" y="4762500"/>
            <a:ext cx="901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3886200" y="4953000"/>
            <a:ext cx="10922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porting personnel"/>
          <p:cNvSpPr txBox="1"/>
          <p:nvPr/>
        </p:nvSpPr>
        <p:spPr>
          <a:xfrm>
            <a:off x="3886200" y="4953000"/>
            <a:ext cx="1092200" cy="190500"/>
          </a:xfrm>
          <a:prstGeom prst="rect">
            <a:avLst/>
          </a:prstGeom>
          <a:noFill/>
        </p:spPr>
        <p:txBody>
          <a:bodyPr wrap="none" anchor="t" lIns="25400" rIns="25400" tIns="25400" bIns="25400">
            <a:spAutoFit/>
          </a:bodyPr>
          <a:lstStyle/>
          <a:p>
            <a:pPr algn="l">
              <a:lnSpc>
                <a:spcPts val="963"/>
              </a:lnSpc>
              <a:spcBef>
                <a:spcPts val="0"/>
              </a:spcBef>
              <a:spcAft>
                <a:spcPts val="0"/>
              </a:spcAft>
            </a:pPr>
            <a:r>
              <a:rPr sz="860" b="0">
                <a:solidFill>
                  <a:srgbClr val="000000"/>
                </a:solidFill>
                <a:latin typeface="Arial Narrow"/>
              </a:rPr>
              <a:t>Reporting personnel</a:t>
            </a:r>
          </a:p>
        </p:txBody>
      </p:sp>
      <p:sp>
        <p:nvSpPr>
          <p:cNvPr id="143" name="proposed_labor2_monthly"/>
          <p:cNvSpPr/>
          <p:nvPr/>
        </p:nvSpPr>
        <p:spPr>
          <a:xfrm>
            <a:off x="4978400" y="4953000"/>
            <a:ext cx="901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proposed_labor2_annual"/>
          <p:cNvSpPr/>
          <p:nvPr/>
        </p:nvSpPr>
        <p:spPr>
          <a:xfrm>
            <a:off x="5880100" y="4953000"/>
            <a:ext cx="901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3886200" y="5143500"/>
            <a:ext cx="10922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Accountability personnel"/>
          <p:cNvSpPr txBox="1"/>
          <p:nvPr/>
        </p:nvSpPr>
        <p:spPr>
          <a:xfrm>
            <a:off x="3886200" y="5143500"/>
            <a:ext cx="1092200" cy="190500"/>
          </a:xfrm>
          <a:prstGeom prst="rect">
            <a:avLst/>
          </a:prstGeom>
          <a:noFill/>
        </p:spPr>
        <p:txBody>
          <a:bodyPr wrap="none" anchor="t" lIns="25400" rIns="25400" tIns="25400" bIns="25400">
            <a:spAutoFit/>
          </a:bodyPr>
          <a:lstStyle/>
          <a:p>
            <a:pPr algn="l">
              <a:lnSpc>
                <a:spcPts val="963"/>
              </a:lnSpc>
              <a:spcBef>
                <a:spcPts val="0"/>
              </a:spcBef>
              <a:spcAft>
                <a:spcPts val="0"/>
              </a:spcAft>
            </a:pPr>
            <a:r>
              <a:rPr sz="860" b="0">
                <a:solidFill>
                  <a:srgbClr val="000000"/>
                </a:solidFill>
                <a:latin typeface="Arial Narrow"/>
              </a:rPr>
              <a:t>Accountability personnel</a:t>
            </a:r>
          </a:p>
        </p:txBody>
      </p:sp>
      <p:sp>
        <p:nvSpPr>
          <p:cNvPr id="147" name="proposed_labor3_monthly"/>
          <p:cNvSpPr/>
          <p:nvPr/>
        </p:nvSpPr>
        <p:spPr>
          <a:xfrm>
            <a:off x="4978400" y="5143500"/>
            <a:ext cx="901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proposed_labor3_annual"/>
          <p:cNvSpPr/>
          <p:nvPr/>
        </p:nvSpPr>
        <p:spPr>
          <a:xfrm>
            <a:off x="5880100" y="5143500"/>
            <a:ext cx="901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3886200" y="5334000"/>
            <a:ext cx="19939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OTAL"/>
          <p:cNvSpPr txBox="1"/>
          <p:nvPr/>
        </p:nvSpPr>
        <p:spPr>
          <a:xfrm>
            <a:off x="3886200" y="5334000"/>
            <a:ext cx="1993900" cy="1905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TOTAL</a:t>
            </a:r>
          </a:p>
        </p:txBody>
      </p:sp>
      <p:sp>
        <p:nvSpPr>
          <p:cNvPr id="151" name="proposed_labor_total"/>
          <p:cNvSpPr/>
          <p:nvPr/>
        </p:nvSpPr>
        <p:spPr>
          <a:xfrm>
            <a:off x="5880100" y="5334000"/>
            <a:ext cx="901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Labor Cost Reduction = Labor Cost of the Existing System − Labor "/>
          <p:cNvSpPr txBox="1"/>
          <p:nvPr/>
        </p:nvSpPr>
        <p:spPr>
          <a:xfrm>
            <a:off x="647700" y="5613400"/>
            <a:ext cx="6261100" cy="177800"/>
          </a:xfrm>
          <a:prstGeom prst="rect">
            <a:avLst/>
          </a:prstGeom>
          <a:noFill/>
        </p:spPr>
        <p:txBody>
          <a:bodyPr wrap="none" anchor="t" lIns="22504" rIns="22504" tIns="22504" bIns="22504">
            <a:spAutoFit/>
          </a:bodyPr>
          <a:lstStyle/>
          <a:p>
            <a:pPr algn="l">
              <a:lnSpc>
                <a:spcPts val="985"/>
              </a:lnSpc>
              <a:spcBef>
                <a:spcPts val="0"/>
              </a:spcBef>
              <a:spcAft>
                <a:spcPts val="0"/>
              </a:spcAft>
            </a:pPr>
            <a:r>
              <a:rPr sz="880" b="1">
                <a:solidFill>
                  <a:srgbClr val="000000"/>
                </a:solidFill>
                <a:latin typeface="Arial Narrow"/>
              </a:rPr>
              <a:t>Labor Cost Reduction = Labor Cost of the Existing System − Labor Cost of the Proposed System</a:t>
            </a:r>
          </a:p>
        </p:txBody>
      </p:sp>
      <p:sp>
        <p:nvSpPr>
          <p:cNvPr id="153" name="Rectangle 152"/>
          <p:cNvSpPr/>
          <p:nvPr/>
        </p:nvSpPr>
        <p:spPr>
          <a:xfrm>
            <a:off x="647700" y="5791200"/>
            <a:ext cx="5295900" cy="190500"/>
          </a:xfrm>
          <a:prstGeom prst="rect">
            <a:avLst/>
          </a:prstGeom>
          <a:solidFill>
            <a:srgbClr val="D9E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Labor Cost Reduction"/>
          <p:cNvSpPr txBox="1"/>
          <p:nvPr/>
        </p:nvSpPr>
        <p:spPr>
          <a:xfrm>
            <a:off x="647700" y="5791200"/>
            <a:ext cx="5295900" cy="190500"/>
          </a:xfrm>
          <a:prstGeom prst="rect">
            <a:avLst/>
          </a:prstGeom>
          <a:noFill/>
        </p:spPr>
        <p:txBody>
          <a:bodyPr wrap="none" anchor="t" lIns="25298" rIns="25298" tIns="25298" bIns="25298">
            <a:spAutoFit/>
          </a:bodyPr>
          <a:lstStyle/>
          <a:p>
            <a:pPr algn="l">
              <a:lnSpc>
                <a:spcPts val="1041"/>
              </a:lnSpc>
              <a:spcBef>
                <a:spcPts val="0"/>
              </a:spcBef>
              <a:spcAft>
                <a:spcPts val="0"/>
              </a:spcAft>
            </a:pPr>
            <a:r>
              <a:rPr sz="930" b="1">
                <a:solidFill>
                  <a:srgbClr val="000000"/>
                </a:solidFill>
                <a:latin typeface="Arial Narrow"/>
              </a:rPr>
              <a:t>Labor Cost Reduction</a:t>
            </a:r>
          </a:p>
        </p:txBody>
      </p:sp>
      <p:sp>
        <p:nvSpPr>
          <p:cNvPr id="155" name="labor_reduction"/>
          <p:cNvSpPr/>
          <p:nvPr/>
        </p:nvSpPr>
        <p:spPr>
          <a:xfrm>
            <a:off x="5943600" y="5791200"/>
            <a:ext cx="965200" cy="190500"/>
          </a:xfrm>
          <a:prstGeom prst="rect">
            <a:avLst/>
          </a:prstGeom>
          <a:solidFill>
            <a:srgbClr val="D9E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otal Cost Reduction = Labor Cost Reduction + Supplies Cost Reduc"/>
          <p:cNvSpPr txBox="1"/>
          <p:nvPr/>
        </p:nvSpPr>
        <p:spPr>
          <a:xfrm>
            <a:off x="647700" y="6032500"/>
            <a:ext cx="6261100" cy="152400"/>
          </a:xfrm>
          <a:prstGeom prst="rect">
            <a:avLst/>
          </a:prstGeom>
          <a:noFill/>
        </p:spPr>
        <p:txBody>
          <a:bodyPr wrap="none" anchor="t" lIns="9804" rIns="9804" tIns="9804" bIns="9804">
            <a:spAutoFit/>
          </a:bodyPr>
          <a:lstStyle/>
          <a:p>
            <a:pPr algn="l">
              <a:lnSpc>
                <a:spcPts val="985"/>
              </a:lnSpc>
              <a:spcBef>
                <a:spcPts val="0"/>
              </a:spcBef>
              <a:spcAft>
                <a:spcPts val="0"/>
              </a:spcAft>
            </a:pPr>
            <a:r>
              <a:rPr sz="880" b="1">
                <a:solidFill>
                  <a:srgbClr val="000000"/>
                </a:solidFill>
                <a:latin typeface="Arial Narrow"/>
              </a:rPr>
              <a:t>Total Cost Reduction = Labor Cost Reduction + Supplies Cost Reduction</a:t>
            </a:r>
          </a:p>
        </p:txBody>
      </p:sp>
      <p:sp>
        <p:nvSpPr>
          <p:cNvPr id="157" name="Rectangle 156"/>
          <p:cNvSpPr/>
          <p:nvPr/>
        </p:nvSpPr>
        <p:spPr>
          <a:xfrm>
            <a:off x="647700" y="6184900"/>
            <a:ext cx="5295900" cy="152400"/>
          </a:xfrm>
          <a:prstGeom prst="rect">
            <a:avLst/>
          </a:prstGeom>
          <a:solidFill>
            <a:srgbClr val="D9E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otal Cost Reduction"/>
          <p:cNvSpPr txBox="1"/>
          <p:nvPr/>
        </p:nvSpPr>
        <p:spPr>
          <a:xfrm>
            <a:off x="647700" y="6184900"/>
            <a:ext cx="5295900" cy="152400"/>
          </a:xfrm>
          <a:prstGeom prst="rect">
            <a:avLst/>
          </a:prstGeom>
          <a:noFill/>
        </p:spPr>
        <p:txBody>
          <a:bodyPr wrap="none" anchor="t" lIns="6248" rIns="6248" tIns="6248" bIns="6248">
            <a:spAutoFit/>
          </a:bodyPr>
          <a:lstStyle/>
          <a:p>
            <a:pPr algn="l">
              <a:lnSpc>
                <a:spcPts val="1041"/>
              </a:lnSpc>
              <a:spcBef>
                <a:spcPts val="0"/>
              </a:spcBef>
              <a:spcAft>
                <a:spcPts val="0"/>
              </a:spcAft>
            </a:pPr>
            <a:r>
              <a:rPr sz="930" b="1">
                <a:solidFill>
                  <a:srgbClr val="000000"/>
                </a:solidFill>
                <a:latin typeface="Arial Narrow"/>
              </a:rPr>
              <a:t>Total Cost Reduction</a:t>
            </a:r>
          </a:p>
        </p:txBody>
      </p:sp>
      <p:sp>
        <p:nvSpPr>
          <p:cNvPr id="159" name="total_reduction"/>
          <p:cNvSpPr/>
          <p:nvPr/>
        </p:nvSpPr>
        <p:spPr>
          <a:xfrm>
            <a:off x="5943600" y="6184900"/>
            <a:ext cx="965200" cy="152400"/>
          </a:xfrm>
          <a:prstGeom prst="rect">
            <a:avLst/>
          </a:prstGeom>
          <a:solidFill>
            <a:srgbClr val="D9E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his table follows the Breakdown of Tangible Benefit Worksheet in"/>
          <p:cNvSpPr txBox="1"/>
          <p:nvPr/>
        </p:nvSpPr>
        <p:spPr>
          <a:xfrm>
            <a:off x="558800" y="6616700"/>
            <a:ext cx="6438900" cy="876300"/>
          </a:xfrm>
          <a:prstGeom prst="rect">
            <a:avLst/>
          </a:prstGeom>
          <a:noFill/>
        </p:spPr>
        <p:txBody>
          <a:bodyPr wrap="none" anchor="t" lIns="0" rIns="0" tIns="0" bIns="0">
            <a:spAutoFit/>
          </a:bodyPr>
          <a:lstStyle/>
          <a:p>
            <a:pPr algn="l">
              <a:lnSpc>
                <a:spcPts val="1232"/>
              </a:lnSpc>
              <a:spcBef>
                <a:spcPts val="0"/>
              </a:spcBef>
              <a:spcAft>
                <a:spcPts val="0"/>
              </a:spcAft>
            </a:pPr>
            <a:r>
              <a:rPr sz="1100" b="0">
                <a:solidFill>
                  <a:srgbClr val="000000"/>
                </a:solidFill>
                <a:latin typeface="Arial Narrow"/>
              </a:rPr>
              <a:t>This table follows the Breakdown of Tangible Benefit Worksheet in the supplied reference. Annual supplies cost reduction and</a:t>
            </a:r>
          </a:p>
          <a:p>
            <a:pPr algn="l">
              <a:lnSpc>
                <a:spcPts val="1232"/>
              </a:lnSpc>
              <a:spcBef>
                <a:spcPts val="0"/>
              </a:spcBef>
              <a:spcAft>
                <a:spcPts val="0"/>
              </a:spcAft>
            </a:pPr>
            <a:r>
              <a:rPr sz="1100" b="0">
                <a:solidFill>
                  <a:srgbClr val="000000"/>
                </a:solidFill>
                <a:latin typeface="Arial Narrow"/>
              </a:rPr>
              <a:t>labor cost reduction remain blank because the green company inventory table provides no supplies spending, salaries or</a:t>
            </a:r>
          </a:p>
          <a:p>
            <a:pPr algn="l">
              <a:lnSpc>
                <a:spcPts val="1232"/>
              </a:lnSpc>
              <a:spcBef>
                <a:spcPts val="0"/>
              </a:spcBef>
              <a:spcAft>
                <a:spcPts val="0"/>
              </a:spcAft>
            </a:pPr>
            <a:r>
              <a:rPr sz="1100" b="0">
                <a:solidFill>
                  <a:srgbClr val="000000"/>
                </a:solidFill>
                <a:latin typeface="Arial Narrow"/>
              </a:rPr>
              <a:t>staffing figures. A reduction in employee headcount or payroll has not been assumed.</a:t>
            </a:r>
          </a:p>
        </p:txBody>
      </p:sp>
      <p:sp>
        <p:nvSpPr>
          <p:cNvPr id="161" name="The 463 units shown as missing or without reports identify an equ"/>
          <p:cNvSpPr txBox="1"/>
          <p:nvPr/>
        </p:nvSpPr>
        <p:spPr>
          <a:xfrm>
            <a:off x="558800" y="7708900"/>
            <a:ext cx="6438900" cy="749300"/>
          </a:xfrm>
          <a:prstGeom prst="rect">
            <a:avLst/>
          </a:prstGeom>
          <a:noFill/>
        </p:spPr>
        <p:txBody>
          <a:bodyPr wrap="none" anchor="t" lIns="0" rIns="0" tIns="0" bIns="0">
            <a:spAutoFit/>
          </a:bodyPr>
          <a:lstStyle/>
          <a:p>
            <a:pPr algn="l">
              <a:lnSpc>
                <a:spcPts val="1176"/>
              </a:lnSpc>
              <a:spcBef>
                <a:spcPts val="0"/>
              </a:spcBef>
              <a:spcAft>
                <a:spcPts val="0"/>
              </a:spcAft>
            </a:pPr>
            <a:r>
              <a:rPr sz="1050" b="0">
                <a:solidFill>
                  <a:srgbClr val="000000"/>
                </a:solidFill>
                <a:latin typeface="Arial Narrow"/>
              </a:rPr>
              <a:t>The 463 units shown as missing or without reports identify an equipment reconciliation concern. Their monetary value and any</a:t>
            </a:r>
          </a:p>
          <a:p>
            <a:pPr algn="l">
              <a:lnSpc>
                <a:spcPts val="1176"/>
              </a:lnSpc>
              <a:spcBef>
                <a:spcPts val="0"/>
              </a:spcBef>
              <a:spcAft>
                <a:spcPts val="0"/>
              </a:spcAft>
            </a:pPr>
            <a:r>
              <a:rPr sz="1050" b="0">
                <a:solidFill>
                  <a:srgbClr val="000000"/>
                </a:solidFill>
                <a:latin typeface="Arial Narrow"/>
              </a:rPr>
              <a:t>equipment-related savings remain blank because replacement prices and confirmed loss or recovery records were not supplied.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81000" y="673100"/>
            <a:ext cx="6794500" cy="368300"/>
          </a:xfrm>
          <a:prstGeom prst="rect">
            <a:avLst/>
          </a:prstGeom>
          <a:solidFill>
            <a:srgbClr val="98C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AND TOOLS AND OTHERS MONITORING"/>
          <p:cNvSpPr txBox="1"/>
          <p:nvPr/>
        </p:nvSpPr>
        <p:spPr>
          <a:xfrm>
            <a:off x="381000" y="673100"/>
            <a:ext cx="6794500" cy="368300"/>
          </a:xfrm>
          <a:prstGeom prst="rect">
            <a:avLst/>
          </a:prstGeom>
          <a:noFill/>
        </p:spPr>
        <p:txBody>
          <a:bodyPr wrap="none" anchor="t" lIns="50800" rIns="50800" tIns="50800" bIns="50800">
            <a:spAutoFit/>
          </a:bodyPr>
          <a:lstStyle/>
          <a:p>
            <a:pPr algn="l">
              <a:lnSpc>
                <a:spcPts val="1680"/>
              </a:lnSpc>
              <a:spcBef>
                <a:spcPts val="0"/>
              </a:spcBef>
              <a:spcAft>
                <a:spcPts val="0"/>
              </a:spcAft>
            </a:pPr>
            <a:r>
              <a:rPr sz="1500" b="1">
                <a:solidFill>
                  <a:srgbClr val="000000"/>
                </a:solidFill>
                <a:latin typeface="Arial Narrow"/>
              </a:rPr>
              <a:t>HAND TOOLS AND OTHERS MONITORING</a:t>
            </a:r>
          </a:p>
        </p:txBody>
      </p:sp>
      <p:sp>
        <p:nvSpPr>
          <p:cNvPr id="4" name="Rectangle 3"/>
          <p:cNvSpPr/>
          <p:nvPr/>
        </p:nvSpPr>
        <p:spPr>
          <a:xfrm>
            <a:off x="381000" y="1257300"/>
            <a:ext cx="495300" cy="4445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TEM&#10;NO."/>
          <p:cNvSpPr txBox="1"/>
          <p:nvPr/>
        </p:nvSpPr>
        <p:spPr>
          <a:xfrm>
            <a:off x="381000" y="1257300"/>
            <a:ext cx="495300" cy="444500"/>
          </a:xfrm>
          <a:prstGeom prst="rect">
            <a:avLst/>
          </a:prstGeom>
          <a:noFill/>
        </p:spPr>
        <p:txBody>
          <a:bodyPr wrap="none" anchor="t" lIns="25400" rIns="25400" tIns="25400" bIns="25400">
            <a:spAutoFit/>
          </a:bodyPr>
          <a:lstStyle/>
          <a:p>
            <a:pPr algn="ctr">
              <a:lnSpc>
                <a:spcPts val="1064"/>
              </a:lnSpc>
              <a:spcBef>
                <a:spcPts val="0"/>
              </a:spcBef>
              <a:spcAft>
                <a:spcPts val="0"/>
              </a:spcAft>
            </a:pPr>
            <a:r>
              <a:rPr sz="950" b="1">
                <a:solidFill>
                  <a:srgbClr val="000000"/>
                </a:solidFill>
                <a:latin typeface="Arial Narrow"/>
              </a:rPr>
              <a:t>ITEM</a:t>
            </a:r>
          </a:p>
          <a:p>
            <a:pPr algn="ctr">
              <a:lnSpc>
                <a:spcPts val="1064"/>
              </a:lnSpc>
              <a:spcBef>
                <a:spcPts val="0"/>
              </a:spcBef>
              <a:spcAft>
                <a:spcPts val="0"/>
              </a:spcAft>
            </a:pPr>
            <a:r>
              <a:rPr sz="950" b="1">
                <a:solidFill>
                  <a:srgbClr val="000000"/>
                </a:solidFill>
                <a:latin typeface="Arial Narrow"/>
              </a:rPr>
              <a:t>NO.</a:t>
            </a:r>
          </a:p>
        </p:txBody>
      </p:sp>
      <p:sp>
        <p:nvSpPr>
          <p:cNvPr id="6" name="Rectangle 5"/>
          <p:cNvSpPr/>
          <p:nvPr/>
        </p:nvSpPr>
        <p:spPr>
          <a:xfrm>
            <a:off x="876300" y="1257300"/>
            <a:ext cx="3022600" cy="4445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OWER TOOLS"/>
          <p:cNvSpPr txBox="1"/>
          <p:nvPr/>
        </p:nvSpPr>
        <p:spPr>
          <a:xfrm>
            <a:off x="876300" y="1257300"/>
            <a:ext cx="3022600" cy="444500"/>
          </a:xfrm>
          <a:prstGeom prst="rect">
            <a:avLst/>
          </a:prstGeom>
          <a:noFill/>
        </p:spPr>
        <p:txBody>
          <a:bodyPr wrap="none" anchor="t" lIns="25400" rIns="25400" tIns="25400" bIns="25400">
            <a:spAutoFit/>
          </a:bodyPr>
          <a:lstStyle/>
          <a:p>
            <a:pPr algn="ctr">
              <a:lnSpc>
                <a:spcPts val="1064"/>
              </a:lnSpc>
              <a:spcBef>
                <a:spcPts val="0"/>
              </a:spcBef>
              <a:spcAft>
                <a:spcPts val="0"/>
              </a:spcAft>
            </a:pPr>
            <a:r>
              <a:rPr sz="950" b="1">
                <a:solidFill>
                  <a:srgbClr val="000000"/>
                </a:solidFill>
                <a:latin typeface="Arial Narrow"/>
              </a:rPr>
              <a:t>POWER TOOLS</a:t>
            </a:r>
          </a:p>
        </p:txBody>
      </p:sp>
      <p:sp>
        <p:nvSpPr>
          <p:cNvPr id="8" name="Rectangle 7"/>
          <p:cNvSpPr/>
          <p:nvPr/>
        </p:nvSpPr>
        <p:spPr>
          <a:xfrm>
            <a:off x="3898900" y="1257300"/>
            <a:ext cx="469900" cy="4445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QTY."/>
          <p:cNvSpPr txBox="1"/>
          <p:nvPr/>
        </p:nvSpPr>
        <p:spPr>
          <a:xfrm>
            <a:off x="3898900" y="1257300"/>
            <a:ext cx="469900" cy="444500"/>
          </a:xfrm>
          <a:prstGeom prst="rect">
            <a:avLst/>
          </a:prstGeom>
          <a:noFill/>
        </p:spPr>
        <p:txBody>
          <a:bodyPr wrap="none" anchor="t" lIns="25400" rIns="25400" tIns="25400" bIns="25400">
            <a:spAutoFit/>
          </a:bodyPr>
          <a:lstStyle/>
          <a:p>
            <a:pPr algn="ctr">
              <a:lnSpc>
                <a:spcPts val="1064"/>
              </a:lnSpc>
              <a:spcBef>
                <a:spcPts val="0"/>
              </a:spcBef>
              <a:spcAft>
                <a:spcPts val="0"/>
              </a:spcAft>
            </a:pPr>
            <a:r>
              <a:rPr sz="950" b="1">
                <a:solidFill>
                  <a:srgbClr val="000000"/>
                </a:solidFill>
                <a:latin typeface="Arial Narrow"/>
              </a:rPr>
              <a:t>QTY.</a:t>
            </a:r>
          </a:p>
        </p:txBody>
      </p:sp>
      <p:sp>
        <p:nvSpPr>
          <p:cNvPr id="10" name="Rectangle 9"/>
          <p:cNvSpPr/>
          <p:nvPr/>
        </p:nvSpPr>
        <p:spPr>
          <a:xfrm>
            <a:off x="4368800" y="1257300"/>
            <a:ext cx="1397000" cy="4445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EED TO COMPLY"/>
          <p:cNvSpPr txBox="1"/>
          <p:nvPr/>
        </p:nvSpPr>
        <p:spPr>
          <a:xfrm>
            <a:off x="4368800" y="1257300"/>
            <a:ext cx="1397000" cy="444500"/>
          </a:xfrm>
          <a:prstGeom prst="rect">
            <a:avLst/>
          </a:prstGeom>
          <a:noFill/>
        </p:spPr>
        <p:txBody>
          <a:bodyPr wrap="none" anchor="t" lIns="25400" rIns="25400" tIns="25400" bIns="25400">
            <a:spAutoFit/>
          </a:bodyPr>
          <a:lstStyle/>
          <a:p>
            <a:pPr algn="ctr">
              <a:lnSpc>
                <a:spcPts val="1064"/>
              </a:lnSpc>
              <a:spcBef>
                <a:spcPts val="0"/>
              </a:spcBef>
              <a:spcAft>
                <a:spcPts val="0"/>
              </a:spcAft>
            </a:pPr>
            <a:r>
              <a:rPr sz="950" b="1">
                <a:solidFill>
                  <a:srgbClr val="000000"/>
                </a:solidFill>
                <a:latin typeface="Arial Narrow"/>
              </a:rPr>
              <a:t>NEED TO COMPLY</a:t>
            </a:r>
          </a:p>
        </p:txBody>
      </p:sp>
      <p:sp>
        <p:nvSpPr>
          <p:cNvPr id="12" name="Rectangle 11"/>
          <p:cNvSpPr/>
          <p:nvPr/>
        </p:nvSpPr>
        <p:spPr>
          <a:xfrm>
            <a:off x="5765800" y="1257300"/>
            <a:ext cx="1409700" cy="4445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MISSING OR&#10;NO REPORT"/>
          <p:cNvSpPr txBox="1"/>
          <p:nvPr/>
        </p:nvSpPr>
        <p:spPr>
          <a:xfrm>
            <a:off x="5765800" y="1257300"/>
            <a:ext cx="1409700" cy="444500"/>
          </a:xfrm>
          <a:prstGeom prst="rect">
            <a:avLst/>
          </a:prstGeom>
          <a:noFill/>
        </p:spPr>
        <p:txBody>
          <a:bodyPr wrap="none" anchor="t" lIns="25400" rIns="25400" tIns="25400" bIns="25400">
            <a:spAutoFit/>
          </a:bodyPr>
          <a:lstStyle/>
          <a:p>
            <a:pPr algn="ctr">
              <a:lnSpc>
                <a:spcPts val="1064"/>
              </a:lnSpc>
              <a:spcBef>
                <a:spcPts val="0"/>
              </a:spcBef>
              <a:spcAft>
                <a:spcPts val="0"/>
              </a:spcAft>
            </a:pPr>
            <a:r>
              <a:rPr sz="950" b="1">
                <a:solidFill>
                  <a:srgbClr val="000000"/>
                </a:solidFill>
                <a:latin typeface="Arial Narrow"/>
              </a:rPr>
              <a:t>MISSING OR</a:t>
            </a:r>
          </a:p>
          <a:p>
            <a:pPr algn="ctr">
              <a:lnSpc>
                <a:spcPts val="1064"/>
              </a:lnSpc>
              <a:spcBef>
                <a:spcPts val="0"/>
              </a:spcBef>
              <a:spcAft>
                <a:spcPts val="0"/>
              </a:spcAft>
            </a:pPr>
            <a:r>
              <a:rPr sz="950" b="1">
                <a:solidFill>
                  <a:srgbClr val="000000"/>
                </a:solidFill>
                <a:latin typeface="Arial Narrow"/>
              </a:rPr>
              <a:t>NO REPORT</a:t>
            </a:r>
          </a:p>
        </p:txBody>
      </p:sp>
      <p:sp>
        <p:nvSpPr>
          <p:cNvPr id="14" name="Rectangle 13"/>
          <p:cNvSpPr/>
          <p:nvPr/>
        </p:nvSpPr>
        <p:spPr>
          <a:xfrm>
            <a:off x="381000" y="1701800"/>
            <a:ext cx="4953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1"/>
          <p:cNvSpPr txBox="1"/>
          <p:nvPr/>
        </p:nvSpPr>
        <p:spPr>
          <a:xfrm>
            <a:off x="381000" y="17018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a:t>
            </a:r>
          </a:p>
        </p:txBody>
      </p:sp>
      <p:sp>
        <p:nvSpPr>
          <p:cNvPr id="16" name="Rectangle 15"/>
          <p:cNvSpPr/>
          <p:nvPr/>
        </p:nvSpPr>
        <p:spPr>
          <a:xfrm>
            <a:off x="876300" y="1701800"/>
            <a:ext cx="30226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HOVEL (PALA, LAPAD)"/>
          <p:cNvSpPr txBox="1"/>
          <p:nvPr/>
        </p:nvSpPr>
        <p:spPr>
          <a:xfrm>
            <a:off x="876300" y="17018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SHOVEL (PALA, LAPAD)</a:t>
            </a:r>
          </a:p>
        </p:txBody>
      </p:sp>
      <p:sp>
        <p:nvSpPr>
          <p:cNvPr id="18" name="inventory_qty1"/>
          <p:cNvSpPr/>
          <p:nvPr/>
        </p:nvSpPr>
        <p:spPr>
          <a:xfrm>
            <a:off x="3898900" y="1701800"/>
            <a:ext cx="4699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nventory_qty1"/>
          <p:cNvSpPr txBox="1"/>
          <p:nvPr/>
        </p:nvSpPr>
        <p:spPr>
          <a:xfrm>
            <a:off x="3898900" y="17018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19</a:t>
            </a:r>
          </a:p>
        </p:txBody>
      </p:sp>
      <p:sp>
        <p:nvSpPr>
          <p:cNvPr id="20" name="inventory_need1"/>
          <p:cNvSpPr/>
          <p:nvPr/>
        </p:nvSpPr>
        <p:spPr>
          <a:xfrm>
            <a:off x="4368800" y="1701800"/>
            <a:ext cx="13970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nventory_gap1"/>
          <p:cNvSpPr/>
          <p:nvPr/>
        </p:nvSpPr>
        <p:spPr>
          <a:xfrm>
            <a:off x="5765800" y="1701800"/>
            <a:ext cx="14097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81000" y="1930400"/>
            <a:ext cx="4953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2"/>
          <p:cNvSpPr txBox="1"/>
          <p:nvPr/>
        </p:nvSpPr>
        <p:spPr>
          <a:xfrm>
            <a:off x="381000" y="19304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2</a:t>
            </a:r>
          </a:p>
        </p:txBody>
      </p:sp>
      <p:sp>
        <p:nvSpPr>
          <p:cNvPr id="24" name="Rectangle 23"/>
          <p:cNvSpPr/>
          <p:nvPr/>
        </p:nvSpPr>
        <p:spPr>
          <a:xfrm>
            <a:off x="876300" y="1930400"/>
            <a:ext cx="30226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HOVEL (PALA, BILOG)"/>
          <p:cNvSpPr txBox="1"/>
          <p:nvPr/>
        </p:nvSpPr>
        <p:spPr>
          <a:xfrm>
            <a:off x="876300" y="19304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SHOVEL (PALA, BILOG)</a:t>
            </a:r>
          </a:p>
        </p:txBody>
      </p:sp>
      <p:sp>
        <p:nvSpPr>
          <p:cNvPr id="26" name="inventory_qty2"/>
          <p:cNvSpPr/>
          <p:nvPr/>
        </p:nvSpPr>
        <p:spPr>
          <a:xfrm>
            <a:off x="3898900" y="1930400"/>
            <a:ext cx="4699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nventory_qty2"/>
          <p:cNvSpPr txBox="1"/>
          <p:nvPr/>
        </p:nvSpPr>
        <p:spPr>
          <a:xfrm>
            <a:off x="3898900" y="19304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23</a:t>
            </a:r>
          </a:p>
        </p:txBody>
      </p:sp>
      <p:sp>
        <p:nvSpPr>
          <p:cNvPr id="28" name="inventory_need2"/>
          <p:cNvSpPr/>
          <p:nvPr/>
        </p:nvSpPr>
        <p:spPr>
          <a:xfrm>
            <a:off x="4368800" y="1930400"/>
            <a:ext cx="13970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nventory_need2"/>
          <p:cNvSpPr txBox="1"/>
          <p:nvPr/>
        </p:nvSpPr>
        <p:spPr>
          <a:xfrm>
            <a:off x="4368800" y="1930400"/>
            <a:ext cx="13970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42</a:t>
            </a:r>
          </a:p>
        </p:txBody>
      </p:sp>
      <p:sp>
        <p:nvSpPr>
          <p:cNvPr id="30" name="inventory_gap2"/>
          <p:cNvSpPr/>
          <p:nvPr/>
        </p:nvSpPr>
        <p:spPr>
          <a:xfrm>
            <a:off x="5765800" y="1930400"/>
            <a:ext cx="14097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nventory_gap2"/>
          <p:cNvSpPr txBox="1"/>
          <p:nvPr/>
        </p:nvSpPr>
        <p:spPr>
          <a:xfrm>
            <a:off x="5765800" y="1930400"/>
            <a:ext cx="14097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19</a:t>
            </a:r>
          </a:p>
        </p:txBody>
      </p:sp>
      <p:sp>
        <p:nvSpPr>
          <p:cNvPr id="32" name="Rectangle 31"/>
          <p:cNvSpPr/>
          <p:nvPr/>
        </p:nvSpPr>
        <p:spPr>
          <a:xfrm>
            <a:off x="381000" y="2159000"/>
            <a:ext cx="4953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3"/>
          <p:cNvSpPr txBox="1"/>
          <p:nvPr/>
        </p:nvSpPr>
        <p:spPr>
          <a:xfrm>
            <a:off x="381000" y="21590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3</a:t>
            </a:r>
          </a:p>
        </p:txBody>
      </p:sp>
      <p:sp>
        <p:nvSpPr>
          <p:cNvPr id="34" name="Rectangle 33"/>
          <p:cNvSpPr/>
          <p:nvPr/>
        </p:nvSpPr>
        <p:spPr>
          <a:xfrm>
            <a:off x="876300" y="2159000"/>
            <a:ext cx="30226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RETA"/>
          <p:cNvSpPr txBox="1"/>
          <p:nvPr/>
        </p:nvSpPr>
        <p:spPr>
          <a:xfrm>
            <a:off x="876300" y="21590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BARETA</a:t>
            </a:r>
          </a:p>
        </p:txBody>
      </p:sp>
      <p:sp>
        <p:nvSpPr>
          <p:cNvPr id="36" name="inventory_qty3"/>
          <p:cNvSpPr/>
          <p:nvPr/>
        </p:nvSpPr>
        <p:spPr>
          <a:xfrm>
            <a:off x="3898900" y="2159000"/>
            <a:ext cx="4699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inventory_qty3"/>
          <p:cNvSpPr txBox="1"/>
          <p:nvPr/>
        </p:nvSpPr>
        <p:spPr>
          <a:xfrm>
            <a:off x="3898900" y="21590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13</a:t>
            </a:r>
          </a:p>
        </p:txBody>
      </p:sp>
      <p:sp>
        <p:nvSpPr>
          <p:cNvPr id="38" name="inventory_need3"/>
          <p:cNvSpPr/>
          <p:nvPr/>
        </p:nvSpPr>
        <p:spPr>
          <a:xfrm>
            <a:off x="4368800" y="2159000"/>
            <a:ext cx="13970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nventory_gap3"/>
          <p:cNvSpPr/>
          <p:nvPr/>
        </p:nvSpPr>
        <p:spPr>
          <a:xfrm>
            <a:off x="5765800" y="2159000"/>
            <a:ext cx="14097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81000" y="2387600"/>
            <a:ext cx="4953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4"/>
          <p:cNvSpPr txBox="1"/>
          <p:nvPr/>
        </p:nvSpPr>
        <p:spPr>
          <a:xfrm>
            <a:off x="381000" y="23876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4</a:t>
            </a:r>
          </a:p>
        </p:txBody>
      </p:sp>
      <p:sp>
        <p:nvSpPr>
          <p:cNvPr id="42" name="Rectangle 41"/>
          <p:cNvSpPr/>
          <p:nvPr/>
        </p:nvSpPr>
        <p:spPr>
          <a:xfrm>
            <a:off x="876300" y="2387600"/>
            <a:ext cx="30226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ITAK"/>
          <p:cNvSpPr txBox="1"/>
          <p:nvPr/>
        </p:nvSpPr>
        <p:spPr>
          <a:xfrm>
            <a:off x="876300" y="23876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ITAK</a:t>
            </a:r>
          </a:p>
        </p:txBody>
      </p:sp>
      <p:sp>
        <p:nvSpPr>
          <p:cNvPr id="44" name="inventory_qty4"/>
          <p:cNvSpPr/>
          <p:nvPr/>
        </p:nvSpPr>
        <p:spPr>
          <a:xfrm>
            <a:off x="3898900" y="2387600"/>
            <a:ext cx="4699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inventory_qty4"/>
          <p:cNvSpPr txBox="1"/>
          <p:nvPr/>
        </p:nvSpPr>
        <p:spPr>
          <a:xfrm>
            <a:off x="3898900" y="23876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4</a:t>
            </a:r>
          </a:p>
        </p:txBody>
      </p:sp>
      <p:sp>
        <p:nvSpPr>
          <p:cNvPr id="46" name="inventory_need4"/>
          <p:cNvSpPr/>
          <p:nvPr/>
        </p:nvSpPr>
        <p:spPr>
          <a:xfrm>
            <a:off x="4368800" y="2387600"/>
            <a:ext cx="13970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inventory_gap4"/>
          <p:cNvSpPr/>
          <p:nvPr/>
        </p:nvSpPr>
        <p:spPr>
          <a:xfrm>
            <a:off x="5765800" y="2387600"/>
            <a:ext cx="14097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81000" y="2616200"/>
            <a:ext cx="4953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5"/>
          <p:cNvSpPr txBox="1"/>
          <p:nvPr/>
        </p:nvSpPr>
        <p:spPr>
          <a:xfrm>
            <a:off x="381000" y="26162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5</a:t>
            </a:r>
          </a:p>
        </p:txBody>
      </p:sp>
      <p:sp>
        <p:nvSpPr>
          <p:cNvPr id="50" name="Rectangle 49"/>
          <p:cNvSpPr/>
          <p:nvPr/>
        </p:nvSpPr>
        <p:spPr>
          <a:xfrm>
            <a:off x="876300" y="2616200"/>
            <a:ext cx="30226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PIKO"/>
          <p:cNvSpPr txBox="1"/>
          <p:nvPr/>
        </p:nvSpPr>
        <p:spPr>
          <a:xfrm>
            <a:off x="876300" y="26162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PIKO</a:t>
            </a:r>
          </a:p>
        </p:txBody>
      </p:sp>
      <p:sp>
        <p:nvSpPr>
          <p:cNvPr id="52" name="inventory_qty5"/>
          <p:cNvSpPr/>
          <p:nvPr/>
        </p:nvSpPr>
        <p:spPr>
          <a:xfrm>
            <a:off x="3898900" y="2616200"/>
            <a:ext cx="4699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inventory_qty5"/>
          <p:cNvSpPr txBox="1"/>
          <p:nvPr/>
        </p:nvSpPr>
        <p:spPr>
          <a:xfrm>
            <a:off x="3898900" y="26162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4</a:t>
            </a:r>
          </a:p>
        </p:txBody>
      </p:sp>
      <p:sp>
        <p:nvSpPr>
          <p:cNvPr id="54" name="inventory_need5"/>
          <p:cNvSpPr/>
          <p:nvPr/>
        </p:nvSpPr>
        <p:spPr>
          <a:xfrm>
            <a:off x="4368800" y="2616200"/>
            <a:ext cx="13970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inventory_gap5"/>
          <p:cNvSpPr/>
          <p:nvPr/>
        </p:nvSpPr>
        <p:spPr>
          <a:xfrm>
            <a:off x="5765800" y="2616200"/>
            <a:ext cx="14097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381000" y="2844800"/>
            <a:ext cx="4953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6"/>
          <p:cNvSpPr txBox="1"/>
          <p:nvPr/>
        </p:nvSpPr>
        <p:spPr>
          <a:xfrm>
            <a:off x="381000" y="28448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6</a:t>
            </a:r>
          </a:p>
        </p:txBody>
      </p:sp>
      <p:sp>
        <p:nvSpPr>
          <p:cNvPr id="58" name="Rectangle 57"/>
          <p:cNvSpPr/>
          <p:nvPr/>
        </p:nvSpPr>
        <p:spPr>
          <a:xfrm>
            <a:off x="876300" y="2844800"/>
            <a:ext cx="30226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PLASTIC DRUM 200L"/>
          <p:cNvSpPr txBox="1"/>
          <p:nvPr/>
        </p:nvSpPr>
        <p:spPr>
          <a:xfrm>
            <a:off x="876300" y="28448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PLASTIC DRUM 200L</a:t>
            </a:r>
          </a:p>
        </p:txBody>
      </p:sp>
      <p:sp>
        <p:nvSpPr>
          <p:cNvPr id="60" name="inventory_qty6"/>
          <p:cNvSpPr/>
          <p:nvPr/>
        </p:nvSpPr>
        <p:spPr>
          <a:xfrm>
            <a:off x="3898900" y="2844800"/>
            <a:ext cx="4699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inventory_qty6"/>
          <p:cNvSpPr txBox="1"/>
          <p:nvPr/>
        </p:nvSpPr>
        <p:spPr>
          <a:xfrm>
            <a:off x="3898900" y="28448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14</a:t>
            </a:r>
          </a:p>
        </p:txBody>
      </p:sp>
      <p:sp>
        <p:nvSpPr>
          <p:cNvPr id="62" name="inventory_need6"/>
          <p:cNvSpPr/>
          <p:nvPr/>
        </p:nvSpPr>
        <p:spPr>
          <a:xfrm>
            <a:off x="4368800" y="2844800"/>
            <a:ext cx="13970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inventory_gap6"/>
          <p:cNvSpPr/>
          <p:nvPr/>
        </p:nvSpPr>
        <p:spPr>
          <a:xfrm>
            <a:off x="5765800" y="2844800"/>
            <a:ext cx="14097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381000" y="3073400"/>
            <a:ext cx="4953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7"/>
          <p:cNvSpPr txBox="1"/>
          <p:nvPr/>
        </p:nvSpPr>
        <p:spPr>
          <a:xfrm>
            <a:off x="381000" y="30734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7</a:t>
            </a:r>
          </a:p>
        </p:txBody>
      </p:sp>
      <p:sp>
        <p:nvSpPr>
          <p:cNvPr id="66" name="Rectangle 65"/>
          <p:cNvSpPr/>
          <p:nvPr/>
        </p:nvSpPr>
        <p:spPr>
          <a:xfrm>
            <a:off x="876300" y="3073400"/>
            <a:ext cx="30226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IBC WATER TANK 1000L"/>
          <p:cNvSpPr txBox="1"/>
          <p:nvPr/>
        </p:nvSpPr>
        <p:spPr>
          <a:xfrm>
            <a:off x="876300" y="30734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IBC WATER TANK 1000L</a:t>
            </a:r>
          </a:p>
        </p:txBody>
      </p:sp>
      <p:sp>
        <p:nvSpPr>
          <p:cNvPr id="68" name="inventory_qty7"/>
          <p:cNvSpPr/>
          <p:nvPr/>
        </p:nvSpPr>
        <p:spPr>
          <a:xfrm>
            <a:off x="3898900" y="3073400"/>
            <a:ext cx="4699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inventory_qty7"/>
          <p:cNvSpPr txBox="1"/>
          <p:nvPr/>
        </p:nvSpPr>
        <p:spPr>
          <a:xfrm>
            <a:off x="3898900" y="30734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5</a:t>
            </a:r>
          </a:p>
        </p:txBody>
      </p:sp>
      <p:sp>
        <p:nvSpPr>
          <p:cNvPr id="70" name="inventory_need7"/>
          <p:cNvSpPr/>
          <p:nvPr/>
        </p:nvSpPr>
        <p:spPr>
          <a:xfrm>
            <a:off x="4368800" y="3073400"/>
            <a:ext cx="13970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inventory_gap7"/>
          <p:cNvSpPr/>
          <p:nvPr/>
        </p:nvSpPr>
        <p:spPr>
          <a:xfrm>
            <a:off x="5765800" y="3073400"/>
            <a:ext cx="14097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381000" y="3302000"/>
            <a:ext cx="4953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8"/>
          <p:cNvSpPr txBox="1"/>
          <p:nvPr/>
        </p:nvSpPr>
        <p:spPr>
          <a:xfrm>
            <a:off x="381000" y="33020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8</a:t>
            </a:r>
          </a:p>
        </p:txBody>
      </p:sp>
      <p:sp>
        <p:nvSpPr>
          <p:cNvPr id="74" name="Rectangle 73"/>
          <p:cNvSpPr/>
          <p:nvPr/>
        </p:nvSpPr>
        <p:spPr>
          <a:xfrm>
            <a:off x="876300" y="3302000"/>
            <a:ext cx="30226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WHEEL BARROW"/>
          <p:cNvSpPr txBox="1"/>
          <p:nvPr/>
        </p:nvSpPr>
        <p:spPr>
          <a:xfrm>
            <a:off x="876300" y="33020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WHEEL BARROW</a:t>
            </a:r>
          </a:p>
        </p:txBody>
      </p:sp>
      <p:sp>
        <p:nvSpPr>
          <p:cNvPr id="76" name="inventory_qty8"/>
          <p:cNvSpPr/>
          <p:nvPr/>
        </p:nvSpPr>
        <p:spPr>
          <a:xfrm>
            <a:off x="3898900" y="3302000"/>
            <a:ext cx="4699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inventory_qty8"/>
          <p:cNvSpPr txBox="1"/>
          <p:nvPr/>
        </p:nvSpPr>
        <p:spPr>
          <a:xfrm>
            <a:off x="3898900" y="33020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4</a:t>
            </a:r>
          </a:p>
        </p:txBody>
      </p:sp>
      <p:sp>
        <p:nvSpPr>
          <p:cNvPr id="78" name="inventory_need8"/>
          <p:cNvSpPr/>
          <p:nvPr/>
        </p:nvSpPr>
        <p:spPr>
          <a:xfrm>
            <a:off x="4368800" y="3302000"/>
            <a:ext cx="13970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inventory_gap8"/>
          <p:cNvSpPr/>
          <p:nvPr/>
        </p:nvSpPr>
        <p:spPr>
          <a:xfrm>
            <a:off x="5765800" y="3302000"/>
            <a:ext cx="14097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381000" y="3530600"/>
            <a:ext cx="4953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9"/>
          <p:cNvSpPr txBox="1"/>
          <p:nvPr/>
        </p:nvSpPr>
        <p:spPr>
          <a:xfrm>
            <a:off x="381000" y="35306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9</a:t>
            </a:r>
          </a:p>
        </p:txBody>
      </p:sp>
      <p:sp>
        <p:nvSpPr>
          <p:cNvPr id="82" name="Rectangle 81"/>
          <p:cNvSpPr/>
          <p:nvPr/>
        </p:nvSpPr>
        <p:spPr>
          <a:xfrm>
            <a:off x="876300" y="3530600"/>
            <a:ext cx="30226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XYGEN TANK"/>
          <p:cNvSpPr txBox="1"/>
          <p:nvPr/>
        </p:nvSpPr>
        <p:spPr>
          <a:xfrm>
            <a:off x="876300" y="35306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OXYGEN TANK</a:t>
            </a:r>
          </a:p>
        </p:txBody>
      </p:sp>
      <p:sp>
        <p:nvSpPr>
          <p:cNvPr id="84" name="inventory_qty9"/>
          <p:cNvSpPr/>
          <p:nvPr/>
        </p:nvSpPr>
        <p:spPr>
          <a:xfrm>
            <a:off x="3898900" y="3530600"/>
            <a:ext cx="4699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inventory_qty9"/>
          <p:cNvSpPr txBox="1"/>
          <p:nvPr/>
        </p:nvSpPr>
        <p:spPr>
          <a:xfrm>
            <a:off x="3898900" y="35306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3</a:t>
            </a:r>
          </a:p>
        </p:txBody>
      </p:sp>
      <p:sp>
        <p:nvSpPr>
          <p:cNvPr id="86" name="inventory_need9"/>
          <p:cNvSpPr/>
          <p:nvPr/>
        </p:nvSpPr>
        <p:spPr>
          <a:xfrm>
            <a:off x="4368800" y="3530600"/>
            <a:ext cx="13970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inventory_gap9"/>
          <p:cNvSpPr/>
          <p:nvPr/>
        </p:nvSpPr>
        <p:spPr>
          <a:xfrm>
            <a:off x="5765800" y="3530600"/>
            <a:ext cx="14097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381000" y="3759200"/>
            <a:ext cx="4953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10"/>
          <p:cNvSpPr txBox="1"/>
          <p:nvPr/>
        </p:nvSpPr>
        <p:spPr>
          <a:xfrm>
            <a:off x="381000" y="37592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10</a:t>
            </a:r>
          </a:p>
        </p:txBody>
      </p:sp>
      <p:sp>
        <p:nvSpPr>
          <p:cNvPr id="90" name="Rectangle 89"/>
          <p:cNvSpPr/>
          <p:nvPr/>
        </p:nvSpPr>
        <p:spPr>
          <a:xfrm>
            <a:off x="876300" y="3759200"/>
            <a:ext cx="30226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GAS TANK"/>
          <p:cNvSpPr txBox="1"/>
          <p:nvPr/>
        </p:nvSpPr>
        <p:spPr>
          <a:xfrm>
            <a:off x="876300" y="37592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GAS TANK</a:t>
            </a:r>
          </a:p>
        </p:txBody>
      </p:sp>
      <p:sp>
        <p:nvSpPr>
          <p:cNvPr id="92" name="inventory_qty10"/>
          <p:cNvSpPr/>
          <p:nvPr/>
        </p:nvSpPr>
        <p:spPr>
          <a:xfrm>
            <a:off x="3898900" y="3759200"/>
            <a:ext cx="4699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inventory_qty10"/>
          <p:cNvSpPr txBox="1"/>
          <p:nvPr/>
        </p:nvSpPr>
        <p:spPr>
          <a:xfrm>
            <a:off x="3898900" y="37592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5</a:t>
            </a:r>
          </a:p>
        </p:txBody>
      </p:sp>
      <p:sp>
        <p:nvSpPr>
          <p:cNvPr id="94" name="inventory_need10"/>
          <p:cNvSpPr/>
          <p:nvPr/>
        </p:nvSpPr>
        <p:spPr>
          <a:xfrm>
            <a:off x="4368800" y="3759200"/>
            <a:ext cx="13970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inventory_gap10"/>
          <p:cNvSpPr/>
          <p:nvPr/>
        </p:nvSpPr>
        <p:spPr>
          <a:xfrm>
            <a:off x="5765800" y="3759200"/>
            <a:ext cx="14097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381000" y="3987800"/>
            <a:ext cx="4953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11"/>
          <p:cNvSpPr txBox="1"/>
          <p:nvPr/>
        </p:nvSpPr>
        <p:spPr>
          <a:xfrm>
            <a:off x="381000" y="39878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11</a:t>
            </a:r>
          </a:p>
        </p:txBody>
      </p:sp>
      <p:sp>
        <p:nvSpPr>
          <p:cNvPr id="98" name="Rectangle 97"/>
          <p:cNvSpPr/>
          <p:nvPr/>
        </p:nvSpPr>
        <p:spPr>
          <a:xfrm>
            <a:off x="876300" y="3987800"/>
            <a:ext cx="30226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ELECTRIC KETTLE"/>
          <p:cNvSpPr txBox="1"/>
          <p:nvPr/>
        </p:nvSpPr>
        <p:spPr>
          <a:xfrm>
            <a:off x="876300" y="39878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ELECTRIC KETTLE</a:t>
            </a:r>
          </a:p>
        </p:txBody>
      </p:sp>
      <p:sp>
        <p:nvSpPr>
          <p:cNvPr id="100" name="inventory_qty11"/>
          <p:cNvSpPr/>
          <p:nvPr/>
        </p:nvSpPr>
        <p:spPr>
          <a:xfrm>
            <a:off x="3898900" y="3987800"/>
            <a:ext cx="4699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inventory_qty11"/>
          <p:cNvSpPr txBox="1"/>
          <p:nvPr/>
        </p:nvSpPr>
        <p:spPr>
          <a:xfrm>
            <a:off x="3898900" y="39878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2</a:t>
            </a:r>
          </a:p>
        </p:txBody>
      </p:sp>
      <p:sp>
        <p:nvSpPr>
          <p:cNvPr id="102" name="inventory_need11"/>
          <p:cNvSpPr/>
          <p:nvPr/>
        </p:nvSpPr>
        <p:spPr>
          <a:xfrm>
            <a:off x="4368800" y="3987800"/>
            <a:ext cx="13970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inventory_gap11"/>
          <p:cNvSpPr/>
          <p:nvPr/>
        </p:nvSpPr>
        <p:spPr>
          <a:xfrm>
            <a:off x="5765800" y="3987800"/>
            <a:ext cx="14097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381000" y="4216400"/>
            <a:ext cx="4953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12"/>
          <p:cNvSpPr txBox="1"/>
          <p:nvPr/>
        </p:nvSpPr>
        <p:spPr>
          <a:xfrm>
            <a:off x="381000" y="42164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12</a:t>
            </a:r>
          </a:p>
        </p:txBody>
      </p:sp>
      <p:sp>
        <p:nvSpPr>
          <p:cNvPr id="106" name="Rectangle 105"/>
          <p:cNvSpPr/>
          <p:nvPr/>
        </p:nvSpPr>
        <p:spPr>
          <a:xfrm>
            <a:off x="876300" y="4216400"/>
            <a:ext cx="30226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EXTENSION"/>
          <p:cNvSpPr txBox="1"/>
          <p:nvPr/>
        </p:nvSpPr>
        <p:spPr>
          <a:xfrm>
            <a:off x="876300" y="42164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EXTENSION</a:t>
            </a:r>
          </a:p>
        </p:txBody>
      </p:sp>
      <p:sp>
        <p:nvSpPr>
          <p:cNvPr id="108" name="inventory_qty12"/>
          <p:cNvSpPr/>
          <p:nvPr/>
        </p:nvSpPr>
        <p:spPr>
          <a:xfrm>
            <a:off x="3898900" y="4216400"/>
            <a:ext cx="4699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inventory_qty12"/>
          <p:cNvSpPr txBox="1"/>
          <p:nvPr/>
        </p:nvSpPr>
        <p:spPr>
          <a:xfrm>
            <a:off x="3898900" y="42164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10</a:t>
            </a:r>
          </a:p>
        </p:txBody>
      </p:sp>
      <p:sp>
        <p:nvSpPr>
          <p:cNvPr id="110" name="inventory_need12"/>
          <p:cNvSpPr/>
          <p:nvPr/>
        </p:nvSpPr>
        <p:spPr>
          <a:xfrm>
            <a:off x="4368800" y="4216400"/>
            <a:ext cx="13970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inventory_gap12"/>
          <p:cNvSpPr/>
          <p:nvPr/>
        </p:nvSpPr>
        <p:spPr>
          <a:xfrm>
            <a:off x="5765800" y="4216400"/>
            <a:ext cx="14097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381000" y="4445000"/>
            <a:ext cx="4953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13"/>
          <p:cNvSpPr txBox="1"/>
          <p:nvPr/>
        </p:nvSpPr>
        <p:spPr>
          <a:xfrm>
            <a:off x="381000" y="44450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13</a:t>
            </a:r>
          </a:p>
        </p:txBody>
      </p:sp>
      <p:sp>
        <p:nvSpPr>
          <p:cNvPr id="114" name="Rectangle 113"/>
          <p:cNvSpPr/>
          <p:nvPr/>
        </p:nvSpPr>
        <p:spPr>
          <a:xfrm>
            <a:off x="876300" y="4445000"/>
            <a:ext cx="30226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DOUBLE BURNER STOVE"/>
          <p:cNvSpPr txBox="1"/>
          <p:nvPr/>
        </p:nvSpPr>
        <p:spPr>
          <a:xfrm>
            <a:off x="876300" y="44450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DOUBLE BURNER STOVE</a:t>
            </a:r>
          </a:p>
        </p:txBody>
      </p:sp>
      <p:sp>
        <p:nvSpPr>
          <p:cNvPr id="116" name="inventory_qty13"/>
          <p:cNvSpPr/>
          <p:nvPr/>
        </p:nvSpPr>
        <p:spPr>
          <a:xfrm>
            <a:off x="3898900" y="4445000"/>
            <a:ext cx="4699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inventory_qty13"/>
          <p:cNvSpPr txBox="1"/>
          <p:nvPr/>
        </p:nvSpPr>
        <p:spPr>
          <a:xfrm>
            <a:off x="3898900" y="44450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8</a:t>
            </a:r>
          </a:p>
        </p:txBody>
      </p:sp>
      <p:sp>
        <p:nvSpPr>
          <p:cNvPr id="118" name="inventory_need13"/>
          <p:cNvSpPr/>
          <p:nvPr/>
        </p:nvSpPr>
        <p:spPr>
          <a:xfrm>
            <a:off x="4368800" y="4445000"/>
            <a:ext cx="13970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inventory_gap13"/>
          <p:cNvSpPr/>
          <p:nvPr/>
        </p:nvSpPr>
        <p:spPr>
          <a:xfrm>
            <a:off x="5765800" y="4445000"/>
            <a:ext cx="14097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381000" y="4673600"/>
            <a:ext cx="4953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14"/>
          <p:cNvSpPr txBox="1"/>
          <p:nvPr/>
        </p:nvSpPr>
        <p:spPr>
          <a:xfrm>
            <a:off x="381000" y="46736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14</a:t>
            </a:r>
          </a:p>
        </p:txBody>
      </p:sp>
      <p:sp>
        <p:nvSpPr>
          <p:cNvPr id="122" name="Rectangle 121"/>
          <p:cNvSpPr/>
          <p:nvPr/>
        </p:nvSpPr>
        <p:spPr>
          <a:xfrm>
            <a:off x="876300" y="4673600"/>
            <a:ext cx="30226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LABABO"/>
          <p:cNvSpPr txBox="1"/>
          <p:nvPr/>
        </p:nvSpPr>
        <p:spPr>
          <a:xfrm>
            <a:off x="876300" y="46736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LABABO</a:t>
            </a:r>
          </a:p>
        </p:txBody>
      </p:sp>
      <p:sp>
        <p:nvSpPr>
          <p:cNvPr id="124" name="inventory_qty14"/>
          <p:cNvSpPr/>
          <p:nvPr/>
        </p:nvSpPr>
        <p:spPr>
          <a:xfrm>
            <a:off x="3898900" y="4673600"/>
            <a:ext cx="4699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inventory_qty14"/>
          <p:cNvSpPr txBox="1"/>
          <p:nvPr/>
        </p:nvSpPr>
        <p:spPr>
          <a:xfrm>
            <a:off x="3898900" y="46736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5</a:t>
            </a:r>
          </a:p>
        </p:txBody>
      </p:sp>
      <p:sp>
        <p:nvSpPr>
          <p:cNvPr id="126" name="inventory_need14"/>
          <p:cNvSpPr/>
          <p:nvPr/>
        </p:nvSpPr>
        <p:spPr>
          <a:xfrm>
            <a:off x="4368800" y="4673600"/>
            <a:ext cx="13970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inventory_gap14"/>
          <p:cNvSpPr/>
          <p:nvPr/>
        </p:nvSpPr>
        <p:spPr>
          <a:xfrm>
            <a:off x="5765800" y="4673600"/>
            <a:ext cx="14097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381000" y="4902200"/>
            <a:ext cx="4953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15"/>
          <p:cNvSpPr txBox="1"/>
          <p:nvPr/>
        </p:nvSpPr>
        <p:spPr>
          <a:xfrm>
            <a:off x="381000" y="49022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15</a:t>
            </a:r>
          </a:p>
        </p:txBody>
      </p:sp>
      <p:sp>
        <p:nvSpPr>
          <p:cNvPr id="130" name="Rectangle 129"/>
          <p:cNvSpPr/>
          <p:nvPr/>
        </p:nvSpPr>
        <p:spPr>
          <a:xfrm>
            <a:off x="876300" y="4902200"/>
            <a:ext cx="30226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MASO"/>
          <p:cNvSpPr txBox="1"/>
          <p:nvPr/>
        </p:nvSpPr>
        <p:spPr>
          <a:xfrm>
            <a:off x="876300" y="49022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MASO</a:t>
            </a:r>
          </a:p>
        </p:txBody>
      </p:sp>
      <p:sp>
        <p:nvSpPr>
          <p:cNvPr id="132" name="inventory_qty15"/>
          <p:cNvSpPr/>
          <p:nvPr/>
        </p:nvSpPr>
        <p:spPr>
          <a:xfrm>
            <a:off x="3898900" y="4902200"/>
            <a:ext cx="4699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inventory_qty15"/>
          <p:cNvSpPr txBox="1"/>
          <p:nvPr/>
        </p:nvSpPr>
        <p:spPr>
          <a:xfrm>
            <a:off x="3898900" y="49022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4</a:t>
            </a:r>
          </a:p>
        </p:txBody>
      </p:sp>
      <p:sp>
        <p:nvSpPr>
          <p:cNvPr id="134" name="inventory_need15"/>
          <p:cNvSpPr/>
          <p:nvPr/>
        </p:nvSpPr>
        <p:spPr>
          <a:xfrm>
            <a:off x="4368800" y="4902200"/>
            <a:ext cx="13970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inventory_gap15"/>
          <p:cNvSpPr/>
          <p:nvPr/>
        </p:nvSpPr>
        <p:spPr>
          <a:xfrm>
            <a:off x="5765800" y="4902200"/>
            <a:ext cx="14097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381000" y="5130800"/>
            <a:ext cx="4953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16"/>
          <p:cNvSpPr txBox="1"/>
          <p:nvPr/>
        </p:nvSpPr>
        <p:spPr>
          <a:xfrm>
            <a:off x="381000" y="51308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16</a:t>
            </a:r>
          </a:p>
        </p:txBody>
      </p:sp>
      <p:sp>
        <p:nvSpPr>
          <p:cNvPr id="138" name="Rectangle 137"/>
          <p:cNvSpPr/>
          <p:nvPr/>
        </p:nvSpPr>
        <p:spPr>
          <a:xfrm>
            <a:off x="876300" y="5130800"/>
            <a:ext cx="30226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GARDEN HOSE"/>
          <p:cNvSpPr txBox="1"/>
          <p:nvPr/>
        </p:nvSpPr>
        <p:spPr>
          <a:xfrm>
            <a:off x="876300" y="51308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GARDEN HOSE</a:t>
            </a:r>
          </a:p>
        </p:txBody>
      </p:sp>
      <p:sp>
        <p:nvSpPr>
          <p:cNvPr id="140" name="inventory_qty16"/>
          <p:cNvSpPr/>
          <p:nvPr/>
        </p:nvSpPr>
        <p:spPr>
          <a:xfrm>
            <a:off x="3898900" y="5130800"/>
            <a:ext cx="4699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inventory_qty16"/>
          <p:cNvSpPr txBox="1"/>
          <p:nvPr/>
        </p:nvSpPr>
        <p:spPr>
          <a:xfrm>
            <a:off x="3898900" y="51308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5</a:t>
            </a:r>
          </a:p>
        </p:txBody>
      </p:sp>
      <p:sp>
        <p:nvSpPr>
          <p:cNvPr id="142" name="inventory_need16"/>
          <p:cNvSpPr/>
          <p:nvPr/>
        </p:nvSpPr>
        <p:spPr>
          <a:xfrm>
            <a:off x="4368800" y="5130800"/>
            <a:ext cx="13970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inventory_gap16"/>
          <p:cNvSpPr/>
          <p:nvPr/>
        </p:nvSpPr>
        <p:spPr>
          <a:xfrm>
            <a:off x="5765800" y="5130800"/>
            <a:ext cx="14097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381000" y="5359400"/>
            <a:ext cx="4953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17"/>
          <p:cNvSpPr txBox="1"/>
          <p:nvPr/>
        </p:nvSpPr>
        <p:spPr>
          <a:xfrm>
            <a:off x="381000" y="53594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17</a:t>
            </a:r>
          </a:p>
        </p:txBody>
      </p:sp>
      <p:sp>
        <p:nvSpPr>
          <p:cNvPr id="146" name="Rectangle 145"/>
          <p:cNvSpPr/>
          <p:nvPr/>
        </p:nvSpPr>
        <p:spPr>
          <a:xfrm>
            <a:off x="876300" y="5359400"/>
            <a:ext cx="30226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GI PIPES"/>
          <p:cNvSpPr txBox="1"/>
          <p:nvPr/>
        </p:nvSpPr>
        <p:spPr>
          <a:xfrm>
            <a:off x="876300" y="53594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GI PIPES</a:t>
            </a:r>
          </a:p>
        </p:txBody>
      </p:sp>
      <p:sp>
        <p:nvSpPr>
          <p:cNvPr id="148" name="inventory_qty17"/>
          <p:cNvSpPr/>
          <p:nvPr/>
        </p:nvSpPr>
        <p:spPr>
          <a:xfrm>
            <a:off x="3898900" y="5359400"/>
            <a:ext cx="4699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inventory_qty17"/>
          <p:cNvSpPr txBox="1"/>
          <p:nvPr/>
        </p:nvSpPr>
        <p:spPr>
          <a:xfrm>
            <a:off x="3898900" y="53594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225</a:t>
            </a:r>
          </a:p>
        </p:txBody>
      </p:sp>
      <p:sp>
        <p:nvSpPr>
          <p:cNvPr id="150" name="inventory_need17"/>
          <p:cNvSpPr/>
          <p:nvPr/>
        </p:nvSpPr>
        <p:spPr>
          <a:xfrm>
            <a:off x="4368800" y="5359400"/>
            <a:ext cx="13970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inventory_need17"/>
          <p:cNvSpPr txBox="1"/>
          <p:nvPr/>
        </p:nvSpPr>
        <p:spPr>
          <a:xfrm>
            <a:off x="4368800" y="5359400"/>
            <a:ext cx="13970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300</a:t>
            </a:r>
          </a:p>
        </p:txBody>
      </p:sp>
      <p:sp>
        <p:nvSpPr>
          <p:cNvPr id="152" name="inventory_gap17"/>
          <p:cNvSpPr/>
          <p:nvPr/>
        </p:nvSpPr>
        <p:spPr>
          <a:xfrm>
            <a:off x="5765800" y="5359400"/>
            <a:ext cx="14097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inventory_gap17"/>
          <p:cNvSpPr txBox="1"/>
          <p:nvPr/>
        </p:nvSpPr>
        <p:spPr>
          <a:xfrm>
            <a:off x="5765800" y="5359400"/>
            <a:ext cx="14097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75</a:t>
            </a:r>
          </a:p>
        </p:txBody>
      </p:sp>
      <p:sp>
        <p:nvSpPr>
          <p:cNvPr id="154" name="Rectangle 153"/>
          <p:cNvSpPr/>
          <p:nvPr/>
        </p:nvSpPr>
        <p:spPr>
          <a:xfrm>
            <a:off x="381000" y="5588000"/>
            <a:ext cx="4953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18"/>
          <p:cNvSpPr txBox="1"/>
          <p:nvPr/>
        </p:nvSpPr>
        <p:spPr>
          <a:xfrm>
            <a:off x="381000" y="55880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18</a:t>
            </a:r>
          </a:p>
        </p:txBody>
      </p:sp>
      <p:sp>
        <p:nvSpPr>
          <p:cNvPr id="156" name="Rectangle 155"/>
          <p:cNvSpPr/>
          <p:nvPr/>
        </p:nvSpPr>
        <p:spPr>
          <a:xfrm>
            <a:off x="876300" y="5588000"/>
            <a:ext cx="30226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BASE JACK"/>
          <p:cNvSpPr txBox="1"/>
          <p:nvPr/>
        </p:nvSpPr>
        <p:spPr>
          <a:xfrm>
            <a:off x="876300" y="55880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BASE JACK</a:t>
            </a:r>
          </a:p>
        </p:txBody>
      </p:sp>
      <p:sp>
        <p:nvSpPr>
          <p:cNvPr id="158" name="inventory_qty18"/>
          <p:cNvSpPr/>
          <p:nvPr/>
        </p:nvSpPr>
        <p:spPr>
          <a:xfrm>
            <a:off x="3898900" y="5588000"/>
            <a:ext cx="4699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inventory_qty18"/>
          <p:cNvSpPr txBox="1"/>
          <p:nvPr/>
        </p:nvSpPr>
        <p:spPr>
          <a:xfrm>
            <a:off x="3898900" y="55880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27</a:t>
            </a:r>
          </a:p>
        </p:txBody>
      </p:sp>
      <p:sp>
        <p:nvSpPr>
          <p:cNvPr id="160" name="inventory_need18"/>
          <p:cNvSpPr/>
          <p:nvPr/>
        </p:nvSpPr>
        <p:spPr>
          <a:xfrm>
            <a:off x="4368800" y="5588000"/>
            <a:ext cx="13970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inventory_gap18"/>
          <p:cNvSpPr/>
          <p:nvPr/>
        </p:nvSpPr>
        <p:spPr>
          <a:xfrm>
            <a:off x="5765800" y="5588000"/>
            <a:ext cx="14097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381000" y="5816600"/>
            <a:ext cx="4953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19"/>
          <p:cNvSpPr txBox="1"/>
          <p:nvPr/>
        </p:nvSpPr>
        <p:spPr>
          <a:xfrm>
            <a:off x="381000" y="58166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19</a:t>
            </a:r>
          </a:p>
        </p:txBody>
      </p:sp>
      <p:sp>
        <p:nvSpPr>
          <p:cNvPr id="164" name="Rectangle 163"/>
          <p:cNvSpPr/>
          <p:nvPr/>
        </p:nvSpPr>
        <p:spPr>
          <a:xfrm>
            <a:off x="876300" y="5816600"/>
            <a:ext cx="30226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U-JACK"/>
          <p:cNvSpPr txBox="1"/>
          <p:nvPr/>
        </p:nvSpPr>
        <p:spPr>
          <a:xfrm>
            <a:off x="876300" y="58166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U-JACK</a:t>
            </a:r>
          </a:p>
        </p:txBody>
      </p:sp>
      <p:sp>
        <p:nvSpPr>
          <p:cNvPr id="166" name="inventory_qty19"/>
          <p:cNvSpPr/>
          <p:nvPr/>
        </p:nvSpPr>
        <p:spPr>
          <a:xfrm>
            <a:off x="3898900" y="5816600"/>
            <a:ext cx="4699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inventory_qty19"/>
          <p:cNvSpPr txBox="1"/>
          <p:nvPr/>
        </p:nvSpPr>
        <p:spPr>
          <a:xfrm>
            <a:off x="3898900" y="58166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56</a:t>
            </a:r>
          </a:p>
        </p:txBody>
      </p:sp>
      <p:sp>
        <p:nvSpPr>
          <p:cNvPr id="168" name="inventory_need19"/>
          <p:cNvSpPr/>
          <p:nvPr/>
        </p:nvSpPr>
        <p:spPr>
          <a:xfrm>
            <a:off x="4368800" y="5816600"/>
            <a:ext cx="13970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inventory_gap19"/>
          <p:cNvSpPr/>
          <p:nvPr/>
        </p:nvSpPr>
        <p:spPr>
          <a:xfrm>
            <a:off x="5765800" y="5816600"/>
            <a:ext cx="14097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381000" y="6045200"/>
            <a:ext cx="4953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20"/>
          <p:cNvSpPr txBox="1"/>
          <p:nvPr/>
        </p:nvSpPr>
        <p:spPr>
          <a:xfrm>
            <a:off x="381000" y="60452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20</a:t>
            </a:r>
          </a:p>
        </p:txBody>
      </p:sp>
      <p:sp>
        <p:nvSpPr>
          <p:cNvPr id="172" name="Rectangle 171"/>
          <p:cNvSpPr/>
          <p:nvPr/>
        </p:nvSpPr>
        <p:spPr>
          <a:xfrm>
            <a:off x="876300" y="6045200"/>
            <a:ext cx="30226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BUCKETS"/>
          <p:cNvSpPr txBox="1"/>
          <p:nvPr/>
        </p:nvSpPr>
        <p:spPr>
          <a:xfrm>
            <a:off x="876300" y="60452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BUCKETS</a:t>
            </a:r>
          </a:p>
        </p:txBody>
      </p:sp>
      <p:sp>
        <p:nvSpPr>
          <p:cNvPr id="174" name="inventory_qty20"/>
          <p:cNvSpPr/>
          <p:nvPr/>
        </p:nvSpPr>
        <p:spPr>
          <a:xfrm>
            <a:off x="3898900" y="6045200"/>
            <a:ext cx="4699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inventory_qty20"/>
          <p:cNvSpPr txBox="1"/>
          <p:nvPr/>
        </p:nvSpPr>
        <p:spPr>
          <a:xfrm>
            <a:off x="3898900" y="60452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39</a:t>
            </a:r>
          </a:p>
        </p:txBody>
      </p:sp>
      <p:sp>
        <p:nvSpPr>
          <p:cNvPr id="176" name="inventory_need20"/>
          <p:cNvSpPr/>
          <p:nvPr/>
        </p:nvSpPr>
        <p:spPr>
          <a:xfrm>
            <a:off x="4368800" y="6045200"/>
            <a:ext cx="13970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inventory_gap20"/>
          <p:cNvSpPr/>
          <p:nvPr/>
        </p:nvSpPr>
        <p:spPr>
          <a:xfrm>
            <a:off x="5765800" y="6045200"/>
            <a:ext cx="14097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381000" y="6273800"/>
            <a:ext cx="4953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21"/>
          <p:cNvSpPr txBox="1"/>
          <p:nvPr/>
        </p:nvSpPr>
        <p:spPr>
          <a:xfrm>
            <a:off x="381000" y="62738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21</a:t>
            </a:r>
          </a:p>
        </p:txBody>
      </p:sp>
      <p:sp>
        <p:nvSpPr>
          <p:cNvPr id="180" name="Rectangle 179"/>
          <p:cNvSpPr/>
          <p:nvPr/>
        </p:nvSpPr>
        <p:spPr>
          <a:xfrm>
            <a:off x="876300" y="6273800"/>
            <a:ext cx="30226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CATWALK FLATFORM SCAFFOLDING"/>
          <p:cNvSpPr txBox="1"/>
          <p:nvPr/>
        </p:nvSpPr>
        <p:spPr>
          <a:xfrm>
            <a:off x="876300" y="62738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CATWALK FLATFORM SCAFFOLDING</a:t>
            </a:r>
          </a:p>
        </p:txBody>
      </p:sp>
      <p:sp>
        <p:nvSpPr>
          <p:cNvPr id="182" name="inventory_qty21"/>
          <p:cNvSpPr/>
          <p:nvPr/>
        </p:nvSpPr>
        <p:spPr>
          <a:xfrm>
            <a:off x="3898900" y="6273800"/>
            <a:ext cx="4699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inventory_qty21"/>
          <p:cNvSpPr txBox="1"/>
          <p:nvPr/>
        </p:nvSpPr>
        <p:spPr>
          <a:xfrm>
            <a:off x="3898900" y="62738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33</a:t>
            </a:r>
          </a:p>
        </p:txBody>
      </p:sp>
      <p:sp>
        <p:nvSpPr>
          <p:cNvPr id="184" name="inventory_need21"/>
          <p:cNvSpPr/>
          <p:nvPr/>
        </p:nvSpPr>
        <p:spPr>
          <a:xfrm>
            <a:off x="4368800" y="6273800"/>
            <a:ext cx="13970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inventory_gap21"/>
          <p:cNvSpPr/>
          <p:nvPr/>
        </p:nvSpPr>
        <p:spPr>
          <a:xfrm>
            <a:off x="5765800" y="6273800"/>
            <a:ext cx="14097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381000" y="6502400"/>
            <a:ext cx="4953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22"/>
          <p:cNvSpPr txBox="1"/>
          <p:nvPr/>
        </p:nvSpPr>
        <p:spPr>
          <a:xfrm>
            <a:off x="381000" y="65024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22</a:t>
            </a:r>
          </a:p>
        </p:txBody>
      </p:sp>
      <p:sp>
        <p:nvSpPr>
          <p:cNvPr id="188" name="Rectangle 187"/>
          <p:cNvSpPr/>
          <p:nvPr/>
        </p:nvSpPr>
        <p:spPr>
          <a:xfrm>
            <a:off x="876300" y="6502400"/>
            <a:ext cx="30226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H-FRAME SCAFFOLDING"/>
          <p:cNvSpPr txBox="1"/>
          <p:nvPr/>
        </p:nvSpPr>
        <p:spPr>
          <a:xfrm>
            <a:off x="876300" y="65024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H-FRAME SCAFFOLDING</a:t>
            </a:r>
          </a:p>
        </p:txBody>
      </p:sp>
      <p:sp>
        <p:nvSpPr>
          <p:cNvPr id="190" name="inventory_qty22"/>
          <p:cNvSpPr/>
          <p:nvPr/>
        </p:nvSpPr>
        <p:spPr>
          <a:xfrm>
            <a:off x="3898900" y="6502400"/>
            <a:ext cx="4699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inventory_qty22"/>
          <p:cNvSpPr txBox="1"/>
          <p:nvPr/>
        </p:nvSpPr>
        <p:spPr>
          <a:xfrm>
            <a:off x="3898900" y="65024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64</a:t>
            </a:r>
          </a:p>
        </p:txBody>
      </p:sp>
      <p:sp>
        <p:nvSpPr>
          <p:cNvPr id="192" name="inventory_need22"/>
          <p:cNvSpPr/>
          <p:nvPr/>
        </p:nvSpPr>
        <p:spPr>
          <a:xfrm>
            <a:off x="4368800" y="6502400"/>
            <a:ext cx="13970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inventory_gap22"/>
          <p:cNvSpPr/>
          <p:nvPr/>
        </p:nvSpPr>
        <p:spPr>
          <a:xfrm>
            <a:off x="5765800" y="6502400"/>
            <a:ext cx="14097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381000" y="6731000"/>
            <a:ext cx="4953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23"/>
          <p:cNvSpPr txBox="1"/>
          <p:nvPr/>
        </p:nvSpPr>
        <p:spPr>
          <a:xfrm>
            <a:off x="381000" y="67310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23</a:t>
            </a:r>
          </a:p>
        </p:txBody>
      </p:sp>
      <p:sp>
        <p:nvSpPr>
          <p:cNvPr id="196" name="Rectangle 195"/>
          <p:cNvSpPr/>
          <p:nvPr/>
        </p:nvSpPr>
        <p:spPr>
          <a:xfrm>
            <a:off x="876300" y="6731000"/>
            <a:ext cx="30226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BRACES SCAFFOLDING"/>
          <p:cNvSpPr txBox="1"/>
          <p:nvPr/>
        </p:nvSpPr>
        <p:spPr>
          <a:xfrm>
            <a:off x="876300" y="67310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BRACES SCAFFOLDING</a:t>
            </a:r>
          </a:p>
        </p:txBody>
      </p:sp>
      <p:sp>
        <p:nvSpPr>
          <p:cNvPr id="198" name="inventory_qty23"/>
          <p:cNvSpPr/>
          <p:nvPr/>
        </p:nvSpPr>
        <p:spPr>
          <a:xfrm>
            <a:off x="3898900" y="6731000"/>
            <a:ext cx="4699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inventory_qty23"/>
          <p:cNvSpPr txBox="1"/>
          <p:nvPr/>
        </p:nvSpPr>
        <p:spPr>
          <a:xfrm>
            <a:off x="3898900" y="67310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41</a:t>
            </a:r>
          </a:p>
        </p:txBody>
      </p:sp>
      <p:sp>
        <p:nvSpPr>
          <p:cNvPr id="200" name="inventory_need23"/>
          <p:cNvSpPr/>
          <p:nvPr/>
        </p:nvSpPr>
        <p:spPr>
          <a:xfrm>
            <a:off x="4368800" y="6731000"/>
            <a:ext cx="13970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inventory_gap23"/>
          <p:cNvSpPr/>
          <p:nvPr/>
        </p:nvSpPr>
        <p:spPr>
          <a:xfrm>
            <a:off x="5765800" y="6731000"/>
            <a:ext cx="14097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381000" y="6959600"/>
            <a:ext cx="4953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24"/>
          <p:cNvSpPr txBox="1"/>
          <p:nvPr/>
        </p:nvSpPr>
        <p:spPr>
          <a:xfrm>
            <a:off x="381000" y="69596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24</a:t>
            </a:r>
          </a:p>
        </p:txBody>
      </p:sp>
      <p:sp>
        <p:nvSpPr>
          <p:cNvPr id="204" name="Rectangle 203"/>
          <p:cNvSpPr/>
          <p:nvPr/>
        </p:nvSpPr>
        <p:spPr>
          <a:xfrm>
            <a:off x="876300" y="6959600"/>
            <a:ext cx="30226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WATER-PUMP"/>
          <p:cNvSpPr txBox="1"/>
          <p:nvPr/>
        </p:nvSpPr>
        <p:spPr>
          <a:xfrm>
            <a:off x="876300" y="69596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WATER-PUMP</a:t>
            </a:r>
          </a:p>
        </p:txBody>
      </p:sp>
      <p:sp>
        <p:nvSpPr>
          <p:cNvPr id="206" name="inventory_qty24"/>
          <p:cNvSpPr/>
          <p:nvPr/>
        </p:nvSpPr>
        <p:spPr>
          <a:xfrm>
            <a:off x="3898900" y="6959600"/>
            <a:ext cx="4699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inventory_qty24"/>
          <p:cNvSpPr txBox="1"/>
          <p:nvPr/>
        </p:nvSpPr>
        <p:spPr>
          <a:xfrm>
            <a:off x="3898900" y="69596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2</a:t>
            </a:r>
          </a:p>
        </p:txBody>
      </p:sp>
      <p:sp>
        <p:nvSpPr>
          <p:cNvPr id="208" name="inventory_need24"/>
          <p:cNvSpPr/>
          <p:nvPr/>
        </p:nvSpPr>
        <p:spPr>
          <a:xfrm>
            <a:off x="4368800" y="6959600"/>
            <a:ext cx="13970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inventory_gap24"/>
          <p:cNvSpPr/>
          <p:nvPr/>
        </p:nvSpPr>
        <p:spPr>
          <a:xfrm>
            <a:off x="5765800" y="6959600"/>
            <a:ext cx="14097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381000" y="7188200"/>
            <a:ext cx="4953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25"/>
          <p:cNvSpPr txBox="1"/>
          <p:nvPr/>
        </p:nvSpPr>
        <p:spPr>
          <a:xfrm>
            <a:off x="381000" y="71882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25</a:t>
            </a:r>
          </a:p>
        </p:txBody>
      </p:sp>
      <p:sp>
        <p:nvSpPr>
          <p:cNvPr id="212" name="Rectangle 211"/>
          <p:cNvSpPr/>
          <p:nvPr/>
        </p:nvSpPr>
        <p:spPr>
          <a:xfrm>
            <a:off x="876300" y="7188200"/>
            <a:ext cx="30226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GARDEN SPRINKLER"/>
          <p:cNvSpPr txBox="1"/>
          <p:nvPr/>
        </p:nvSpPr>
        <p:spPr>
          <a:xfrm>
            <a:off x="876300" y="71882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GARDEN SPRINKLER</a:t>
            </a:r>
          </a:p>
        </p:txBody>
      </p:sp>
      <p:sp>
        <p:nvSpPr>
          <p:cNvPr id="214" name="inventory_qty25"/>
          <p:cNvSpPr/>
          <p:nvPr/>
        </p:nvSpPr>
        <p:spPr>
          <a:xfrm>
            <a:off x="3898900" y="7188200"/>
            <a:ext cx="4699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inventory_qty25"/>
          <p:cNvSpPr txBox="1"/>
          <p:nvPr/>
        </p:nvSpPr>
        <p:spPr>
          <a:xfrm>
            <a:off x="3898900" y="71882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2</a:t>
            </a:r>
          </a:p>
        </p:txBody>
      </p:sp>
      <p:sp>
        <p:nvSpPr>
          <p:cNvPr id="216" name="inventory_need25"/>
          <p:cNvSpPr/>
          <p:nvPr/>
        </p:nvSpPr>
        <p:spPr>
          <a:xfrm>
            <a:off x="4368800" y="7188200"/>
            <a:ext cx="13970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inventory_gap25"/>
          <p:cNvSpPr/>
          <p:nvPr/>
        </p:nvSpPr>
        <p:spPr>
          <a:xfrm>
            <a:off x="5765800" y="7188200"/>
            <a:ext cx="14097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ectangle 217"/>
          <p:cNvSpPr/>
          <p:nvPr/>
        </p:nvSpPr>
        <p:spPr>
          <a:xfrm>
            <a:off x="381000" y="7416800"/>
            <a:ext cx="4953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26"/>
          <p:cNvSpPr txBox="1"/>
          <p:nvPr/>
        </p:nvSpPr>
        <p:spPr>
          <a:xfrm>
            <a:off x="381000" y="74168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26</a:t>
            </a:r>
          </a:p>
        </p:txBody>
      </p:sp>
      <p:sp>
        <p:nvSpPr>
          <p:cNvPr id="220" name="Rectangle 219"/>
          <p:cNvSpPr/>
          <p:nvPr/>
        </p:nvSpPr>
        <p:spPr>
          <a:xfrm>
            <a:off x="876300" y="7416800"/>
            <a:ext cx="30226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SWIVEL CLAMP"/>
          <p:cNvSpPr txBox="1"/>
          <p:nvPr/>
        </p:nvSpPr>
        <p:spPr>
          <a:xfrm>
            <a:off x="876300" y="74168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SWIVEL CLAMP</a:t>
            </a:r>
          </a:p>
        </p:txBody>
      </p:sp>
      <p:sp>
        <p:nvSpPr>
          <p:cNvPr id="222" name="inventory_qty26"/>
          <p:cNvSpPr/>
          <p:nvPr/>
        </p:nvSpPr>
        <p:spPr>
          <a:xfrm>
            <a:off x="3898900" y="7416800"/>
            <a:ext cx="4699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inventory_qty26"/>
          <p:cNvSpPr txBox="1"/>
          <p:nvPr/>
        </p:nvSpPr>
        <p:spPr>
          <a:xfrm>
            <a:off x="3898900" y="74168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141</a:t>
            </a:r>
          </a:p>
        </p:txBody>
      </p:sp>
      <p:sp>
        <p:nvSpPr>
          <p:cNvPr id="224" name="inventory_need26"/>
          <p:cNvSpPr/>
          <p:nvPr/>
        </p:nvSpPr>
        <p:spPr>
          <a:xfrm>
            <a:off x="4368800" y="7416800"/>
            <a:ext cx="13970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inventory_need26"/>
          <p:cNvSpPr txBox="1"/>
          <p:nvPr/>
        </p:nvSpPr>
        <p:spPr>
          <a:xfrm>
            <a:off x="4368800" y="7416800"/>
            <a:ext cx="13970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510</a:t>
            </a:r>
          </a:p>
        </p:txBody>
      </p:sp>
      <p:sp>
        <p:nvSpPr>
          <p:cNvPr id="226" name="inventory_gap26"/>
          <p:cNvSpPr/>
          <p:nvPr/>
        </p:nvSpPr>
        <p:spPr>
          <a:xfrm>
            <a:off x="5765800" y="7416800"/>
            <a:ext cx="14097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inventory_gap26"/>
          <p:cNvSpPr txBox="1"/>
          <p:nvPr/>
        </p:nvSpPr>
        <p:spPr>
          <a:xfrm>
            <a:off x="5765800" y="7416800"/>
            <a:ext cx="14097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369</a:t>
            </a:r>
          </a:p>
        </p:txBody>
      </p:sp>
      <p:sp>
        <p:nvSpPr>
          <p:cNvPr id="228" name="Rectangle 227"/>
          <p:cNvSpPr/>
          <p:nvPr/>
        </p:nvSpPr>
        <p:spPr>
          <a:xfrm>
            <a:off x="381000" y="7645400"/>
            <a:ext cx="4953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27"/>
          <p:cNvSpPr txBox="1"/>
          <p:nvPr/>
        </p:nvSpPr>
        <p:spPr>
          <a:xfrm>
            <a:off x="381000" y="76454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27</a:t>
            </a:r>
          </a:p>
        </p:txBody>
      </p:sp>
      <p:sp>
        <p:nvSpPr>
          <p:cNvPr id="230" name="Rectangle 229"/>
          <p:cNvSpPr/>
          <p:nvPr/>
        </p:nvSpPr>
        <p:spPr>
          <a:xfrm>
            <a:off x="876300" y="7645400"/>
            <a:ext cx="30226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3898900" y="7645400"/>
            <a:ext cx="4699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4368800" y="7645400"/>
            <a:ext cx="13970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5765800" y="7645400"/>
            <a:ext cx="14097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SOURCE CHECK: 26 populated categories; 758 recorded units; 463 mi"/>
          <p:cNvSpPr txBox="1"/>
          <p:nvPr/>
        </p:nvSpPr>
        <p:spPr>
          <a:xfrm>
            <a:off x="381000" y="8204200"/>
            <a:ext cx="6794500" cy="228600"/>
          </a:xfrm>
          <a:prstGeom prst="rect">
            <a:avLst/>
          </a:prstGeom>
          <a:noFill/>
        </p:spPr>
        <p:txBody>
          <a:bodyPr wrap="none" anchor="t" lIns="25400" rIns="25400" tIns="25400" bIns="25400">
            <a:spAutoFit/>
          </a:bodyPr>
          <a:lstStyle/>
          <a:p>
            <a:pPr algn="l">
              <a:lnSpc>
                <a:spcPts val="1120"/>
              </a:lnSpc>
              <a:spcBef>
                <a:spcPts val="0"/>
              </a:spcBef>
              <a:spcAft>
                <a:spcPts val="0"/>
              </a:spcAft>
            </a:pPr>
            <a:r>
              <a:rPr sz="1000" b="1">
                <a:solidFill>
                  <a:srgbClr val="000000"/>
                </a:solidFill>
                <a:latin typeface="Arial Narrow"/>
              </a:rPr>
              <a:t>SOURCE CHECK: 26 populated categories; 758 recorded units; 463 missing or unreported units.</a:t>
            </a:r>
          </a:p>
        </p:txBody>
      </p:sp>
      <p:sp>
        <p:nvSpPr>
          <p:cNvPr id="235" name="Blank cells are retained as blanks. Only three categories have su"/>
          <p:cNvSpPr txBox="1"/>
          <p:nvPr/>
        </p:nvSpPr>
        <p:spPr>
          <a:xfrm>
            <a:off x="381000" y="8559800"/>
            <a:ext cx="6794500" cy="660400"/>
          </a:xfrm>
          <a:prstGeom prst="rect">
            <a:avLst/>
          </a:prstGeom>
          <a:noFill/>
        </p:spPr>
        <p:txBody>
          <a:bodyPr wrap="none" anchor="t" lIns="0" rIns="0" tIns="0" bIns="0">
            <a:spAutoFit/>
          </a:bodyPr>
          <a:lstStyle/>
          <a:p>
            <a:pPr algn="l">
              <a:lnSpc>
                <a:spcPts val="1120"/>
              </a:lnSpc>
              <a:spcBef>
                <a:spcPts val="0"/>
              </a:spcBef>
              <a:spcAft>
                <a:spcPts val="0"/>
              </a:spcAft>
            </a:pPr>
            <a:r>
              <a:rPr sz="1000" b="0">
                <a:solidFill>
                  <a:srgbClr val="000000"/>
                </a:solidFill>
                <a:latin typeface="Arial Narrow"/>
              </a:rPr>
              <a:t>Blank cells are retained as blanks. Only three categories have supplied requirements and reported gaps. The 463 units are not automatically</a:t>
            </a:r>
          </a:p>
          <a:p>
            <a:pPr algn="l">
              <a:lnSpc>
                <a:spcPts val="1120"/>
              </a:lnSpc>
              <a:spcBef>
                <a:spcPts val="0"/>
              </a:spcBef>
              <a:spcAft>
                <a:spcPts val="0"/>
              </a:spcAft>
            </a:pPr>
            <a:r>
              <a:rPr sz="1000" b="0">
                <a:solidFill>
                  <a:srgbClr val="000000"/>
                </a:solidFill>
                <a:latin typeface="Arial Narrow"/>
              </a:rPr>
              <a:t>confirmed physical losses. “CATWALK FLATFORM SCAFFOLDING” preserves the spelling in the green source image.</a:t>
            </a:r>
          </a:p>
        </p:txBody>
      </p:sp>
      <p:sp>
        <p:nvSpPr>
          <p:cNvPr id="236" name="Source: user-supplied green “HAND TOOLS AND OTHERS MONITORING” im"/>
          <p:cNvSpPr txBox="1"/>
          <p:nvPr/>
        </p:nvSpPr>
        <p:spPr>
          <a:xfrm>
            <a:off x="381000" y="9436100"/>
            <a:ext cx="6794500" cy="393700"/>
          </a:xfrm>
          <a:prstGeom prst="rect">
            <a:avLst/>
          </a:prstGeom>
          <a:noFill/>
        </p:spPr>
        <p:txBody>
          <a:bodyPr wrap="none" anchor="t" lIns="0" rIns="0" tIns="0" bIns="0">
            <a:spAutoFit/>
          </a:bodyPr>
          <a:lstStyle/>
          <a:p>
            <a:pPr algn="l">
              <a:lnSpc>
                <a:spcPts val="1064"/>
              </a:lnSpc>
              <a:spcBef>
                <a:spcPts val="0"/>
              </a:spcBef>
              <a:spcAft>
                <a:spcPts val="0"/>
              </a:spcAft>
            </a:pPr>
            <a:r>
              <a:rPr sz="950" b="0">
                <a:solidFill>
                  <a:srgbClr val="000000"/>
                </a:solidFill>
                <a:latin typeface="Arial Narrow"/>
              </a:rPr>
              <a:t>Source: user-supplied green “HAND TOOLS AND OTHERS MONITORING” image. Application records are demonstration data and are excluded.</a:t>
            </a:r>
          </a:p>
        </p:txBody>
      </p:sp>
      <p:sp>
        <p:nvSpPr>
          <p:cNvPr id="237" name="COMPANY DATA SOURCE: GREEN INVENTORY TABLE ONLY"/>
          <p:cNvSpPr txBox="1"/>
          <p:nvPr/>
        </p:nvSpPr>
        <p:spPr>
          <a:xfrm>
            <a:off x="381000" y="10172700"/>
            <a:ext cx="6223000" cy="177800"/>
          </a:xfrm>
          <a:prstGeom prst="rect">
            <a:avLst/>
          </a:prstGeom>
          <a:noFill/>
        </p:spPr>
        <p:txBody>
          <a:bodyPr wrap="none" anchor="t" lIns="24637" rIns="24637" tIns="24637" bIns="24637">
            <a:spAutoFit/>
          </a:bodyPr>
          <a:lstStyle/>
          <a:p>
            <a:pPr algn="l">
              <a:lnSpc>
                <a:spcPts val="952"/>
              </a:lnSpc>
              <a:spcBef>
                <a:spcPts val="0"/>
              </a:spcBef>
              <a:spcAft>
                <a:spcPts val="0"/>
              </a:spcAft>
            </a:pPr>
            <a:r>
              <a:rPr sz="850" b="0">
                <a:solidFill>
                  <a:srgbClr val="000000"/>
                </a:solidFill>
                <a:latin typeface="Arial Narrow"/>
              </a:rPr>
              <a:t>COMPANY DATA SOURCE: GREEN INVENTORY TABLE ONLY</a:t>
            </a:r>
          </a:p>
        </p:txBody>
      </p:sp>
      <p:sp>
        <p:nvSpPr>
          <p:cNvPr id="238" name="4"/>
          <p:cNvSpPr txBox="1"/>
          <p:nvPr/>
        </p:nvSpPr>
        <p:spPr>
          <a:xfrm>
            <a:off x="6616700" y="10172700"/>
            <a:ext cx="558800" cy="177800"/>
          </a:xfrm>
          <a:prstGeom prst="rect">
            <a:avLst/>
          </a:prstGeom>
          <a:noFill/>
        </p:spPr>
        <p:txBody>
          <a:bodyPr wrap="none" anchor="t" lIns="13969" rIns="13969" tIns="13969" bIns="13969">
            <a:spAutoFit/>
          </a:bodyPr>
          <a:lstStyle/>
          <a:p>
            <a:pPr algn="r">
              <a:lnSpc>
                <a:spcPts val="1120"/>
              </a:lnSpc>
              <a:spcBef>
                <a:spcPts val="0"/>
              </a:spcBef>
              <a:spcAft>
                <a:spcPts val="0"/>
              </a:spcAft>
            </a:pPr>
            <a:r>
              <a:rPr sz="1000" b="0">
                <a:solidFill>
                  <a:srgbClr val="000000"/>
                </a:solidFill>
                <a:latin typeface="Arial Narrow"/>
              </a:rPr>
              <a:t>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SiteTrace Cost-Benefit Worksheets — Reference Recreation</dc:title>
  <dc:subject>Three reference views and green company inventory appendix; financial amounts blank</dc:subject>
  <dc:creator>SiteTrace Academic Documentation</dc:creator>
  <cp:keywords/>
  <dc:description>generated using python-pptx</dc:description>
  <cp:lastModifiedBy>Steve Canny</cp:lastModifiedBy>
  <cp:revision>1</cp:revision>
  <dcterms:created xsi:type="dcterms:W3CDTF">2026-10-24T00:00:00Z</dcterms:created>
  <dcterms:modified xsi:type="dcterms:W3CDTF">2013-01-27T09:15:58Z</dcterms:modified>
  <cp:category/>
</cp:coreProperties>
</file>